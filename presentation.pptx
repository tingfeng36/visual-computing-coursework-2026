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_tf1.xml" ContentType="application/vnd.openxmlformats-officedocument.presentationml.notesSlide+xml"/>
  <Override PartName="/ppt/notesSlides/notesSlide2_tf1.xml" ContentType="application/vnd.openxmlformats-officedocument.presentationml.notesSlide+xml"/>
  <Override PartName="/ppt/notesSlides/notesSlide3_tf1.xml" ContentType="application/vnd.openxmlformats-officedocument.presentationml.notesSlide+xml"/>
  <Override PartName="/ppt/notesSlides/notesSlide4_tf1.xml" ContentType="application/vnd.openxmlformats-officedocument.presentationml.notesSlide+xml"/>
  <Override PartName="/ppt/notesSlides/notesSlide5_tf1.xml" ContentType="application/vnd.openxmlformats-officedocument.presentationml.notesSlide+xml"/>
  <Override PartName="/ppt/notesSlides/notesSlide6_tf1.xml" ContentType="application/vnd.openxmlformats-officedocument.presentationml.notesSlide+xml"/>
  <Override PartName="/ppt/notesSlides/notesSlide7_tf1.xml" ContentType="application/vnd.openxmlformats-officedocument.presentationml.notesSlide+xml"/>
  <Override PartName="/ppt/notesSlides/notesSlide8_tf1.xml" ContentType="application/vnd.openxmlformats-officedocument.presentationml.notesSlide+xml"/>
  <Override PartName="/ppt/notesSlides/notesSlide9_tf1.xml" ContentType="application/vnd.openxmlformats-officedocument.presentationml.notesSlide+xml"/>
  <Override PartName="/ppt/notesSlides/notesSlide10_tf1.xml" ContentType="application/vnd.openxmlformats-officedocument.presentationml.notesSlide+xml"/>
  <Override PartName="/ppt/notesSlides/notesSlide11_tf1.xml" ContentType="application/vnd.openxmlformats-officedocument.presentationml.notesSlide+xml"/>
  <Override PartName="/ppt/notesSlides/notesSlide12_tf1.xml" ContentType="application/vnd.openxmlformats-officedocument.presentationml.notesSlide+xml"/>
  <Override PartName="/ppt/notesSlides/notesSlide13_tf1.xml" ContentType="application/vnd.openxmlformats-officedocument.presentationml.notesSlide+xml"/>
  <Override PartName="/ppt/notesSlides/notesSlide14_tf1.xml" ContentType="application/vnd.openxmlformats-officedocument.presentationml.notesSlide+xml"/>
  <Override PartName="/ppt/notesSlides/notesSlide15_tf1.xml" ContentType="application/vnd.openxmlformats-officedocument.presentationml.notesSlide+xml"/>
  <Override PartName="/ppt/notesSlides/notesSlide16_tf1.xml" ContentType="application/vnd.openxmlformats-officedocument.presentationml.notesSlide+xml"/>
  <Override PartName="/ppt/notesSlides/notesSlide17_tf1.xml" ContentType="application/vnd.openxmlformats-officedocument.presentationml.notesSlide+xml"/>
  <Override PartName="/ppt/notesSlides/notesSlide18_tf1.xml" ContentType="application/vnd.openxmlformats-officedocument.presentationml.notesSlide+xml"/>
  <Override PartName="/ppt/notesSlides/notesSlide1_tf2.xml" ContentType="application/vnd.openxmlformats-officedocument.presentationml.notesSlide+xml"/>
  <Override PartName="/ppt/slides/slide1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p15="http://schemas.microsoft.com/office/powerpoint/2012/main" xmlns:r="http://schemas.openxmlformats.org/officeDocument/2006/relationships" embedTrueTypeFonts="1">
  <p:sldMasterIdLst>
    <p:sldMasterId id="2147483648" r:id="rId1"/>
  </p:sldMasterIdLst>
  <p:notesMasterIdLst>
    <p:notesMasterId r:id="rId20"/>
  </p:notesMasterIdLst>
  <p:sldIdLst>
    <p:sldId id="256" r:id="rId27"/>
    <p:sldId id="257" r:id="rId28"/>
    <p:sldId id="258" r:id="rId29"/>
    <p:sldId id="259" r:id="rId30"/>
    <p:sldId id="260" r:id="rId31"/>
    <p:sldId id="261" r:id="rId32"/>
    <p:sldId id="262" r:id="rId33"/>
    <p:sldId id="263" r:id="rId34"/>
    <p:sldId id="264" r:id="rId35"/>
    <p:sldId id="265" r:id="rId36"/>
    <p:sldId id="266" r:id="rId37"/>
    <p:sldId id="267" r:id="rId38"/>
    <p:sldId id="268" r:id="rId39"/>
    <p:sldId id="269" r:id="rId40"/>
    <p:sldId id="270" r:id="rId41"/>
    <p:sldId id="271" r:id="rId42"/>
    <p:sldId id="272" r:id="rId43"/>
    <p:sldId id="273" r:id="rId44"/>
    <p:sldId id="274" r:id="rId45"/>
  </p:sldIdLst>
  <p:sldSz cx="12192000" cy="6858000"/>
  <p:notesSz cx="6858000" cy="9144000"/>
  <p:embeddedFontLst>
    <p:embeddedFont>
      <p:font typeface="微软雅黑" panose="020B0503020204020204" pitchFamily="34" charset="-122"/>
      <p:regular r:id="rId21"/>
      <p:bold r:id="rId22"/>
    </p:embeddedFont>
  </p:embeddedFontLst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360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26" Type="http://schemas.openxmlformats.org/officeDocument/2006/relationships/tableStyles" Target="tableStyles.xml" /><Relationship Id="rId21" Type="http://schemas.openxmlformats.org/officeDocument/2006/relationships/font" Target="fonts/font1.fntdata" /><Relationship Id="rId25" Type="http://schemas.openxmlformats.org/officeDocument/2006/relationships/theme" Target="theme/theme1.xml" /><Relationship Id="rId20" Type="http://schemas.openxmlformats.org/officeDocument/2006/relationships/notesMaster" Target="notesMasters/notesMaster1.xml" /><Relationship Id="rId1" Type="http://schemas.openxmlformats.org/officeDocument/2006/relationships/slideMaster" Target="slideMasters/slideMaster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22" Type="http://schemas.openxmlformats.org/officeDocument/2006/relationships/font" Target="fonts/font2.fntdata" /><Relationship Id="rId27" Type="http://schemas.openxmlformats.org/officeDocument/2006/relationships/slide" Target="slides/slide1.xml" /><Relationship Id="rId28" Type="http://schemas.openxmlformats.org/officeDocument/2006/relationships/slide" Target="slides/slide2.xml" /><Relationship Id="rId29" Type="http://schemas.openxmlformats.org/officeDocument/2006/relationships/slide" Target="slides/slide3.xml" /><Relationship Id="rId30" Type="http://schemas.openxmlformats.org/officeDocument/2006/relationships/slide" Target="slides/slide4.xml" /><Relationship Id="rId31" Type="http://schemas.openxmlformats.org/officeDocument/2006/relationships/slide" Target="slides/slide5.xml" /><Relationship Id="rId32" Type="http://schemas.openxmlformats.org/officeDocument/2006/relationships/slide" Target="slides/slide6.xml" /><Relationship Id="rId33" Type="http://schemas.openxmlformats.org/officeDocument/2006/relationships/slide" Target="slides/slide7.xml" /><Relationship Id="rId34" Type="http://schemas.openxmlformats.org/officeDocument/2006/relationships/slide" Target="slides/slide8.xml" /><Relationship Id="rId35" Type="http://schemas.openxmlformats.org/officeDocument/2006/relationships/slide" Target="slides/slide9.xml" /><Relationship Id="rId36" Type="http://schemas.openxmlformats.org/officeDocument/2006/relationships/slide" Target="slides/slide10.xml" /><Relationship Id="rId37" Type="http://schemas.openxmlformats.org/officeDocument/2006/relationships/slide" Target="slides/slide11.xml" /><Relationship Id="rId38" Type="http://schemas.openxmlformats.org/officeDocument/2006/relationships/slide" Target="slides/slide12.xml" /><Relationship Id="rId39" Type="http://schemas.openxmlformats.org/officeDocument/2006/relationships/slide" Target="slides/slide13.xml" /><Relationship Id="rId40" Type="http://schemas.openxmlformats.org/officeDocument/2006/relationships/slide" Target="slides/slide14.xml" /><Relationship Id="rId41" Type="http://schemas.openxmlformats.org/officeDocument/2006/relationships/slide" Target="slides/slide15.xml" /><Relationship Id="rId42" Type="http://schemas.openxmlformats.org/officeDocument/2006/relationships/slide" Target="slides/slide16.xml" /><Relationship Id="rId43" Type="http://schemas.openxmlformats.org/officeDocument/2006/relationships/slide" Target="slides/slide17.xml" /><Relationship Id="rId44" Type="http://schemas.openxmlformats.org/officeDocument/2006/relationships/slide" Target="slides/slide18.xml" /><Relationship Id="rId45" Type="http://schemas.openxmlformats.org/officeDocument/2006/relationships/slide" Target="slides/slide19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1_tf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9.xml"/>
</Relationships>
</file>

<file path=ppt/notesSlides/_rels/notesSlide2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_rels/notesSlide15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5.xml"/>
</Relationships>
</file>

<file path=ppt/notesSlides/_rels/notesSlide16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6.xml"/>
</Relationships>
</file>

<file path=ppt/notesSlides/_rels/notesSlide17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7.xml"/>
</Relationships>
</file>

<file path=ppt/notesSlides/_rels/notesSlide18_tf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8.xml"/>
</Relationships>
</file>

<file path=ppt/notesSlides/notesSlide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老师好，我汇报SATR-SSM骨干的跨检测器迁移验证。SATR-SSM是大创成果，这次课程实验把它的骨干接入RF-DETR-Nano，检验跨检测器的迁移能力。</a:t>
            </a:r>
          </a:p>
        </p:txBody>
      </p:sp>
    </p:spTree>
  </p:cSld>
  <p:clrMapOvr>
    <a:masterClrMapping/>
  </p:clrMapOvr>
</p:notes>
</file>

<file path=ppt/notesSlides/notesSlide1_tf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感谢聆听。</a:t>
            </a:r>
          </a:p>
        </p:txBody>
      </p:sp>
    </p:spTree>
  </p:cSld>
  <p:clrMapOvr>
    <a:masterClrMapping/>
  </p:clrMapOvr>
</p:notes>
</file>

<file path=ppt/notesSlides/notesSlide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汇报分为论文背景、实验配置、实验结果、结果分析和总结五部分。实验主线是先复现，再建立低成本对照，最后分析两项迁移任务的表现。</a:t>
            </a:r>
          </a:p>
        </p:txBody>
      </p:sp>
    </p:spTree>
  </p:cSld>
  <p:clrMapOvr>
    <a:masterClrMapping/>
  </p:clrMapOvr>
</p:notes>
</file>

<file path=ppt/notesSlides/notesSlide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研究问题是：SATR骨干换到Transformer检测器后，能否保留检测能力？我选择ICLR 2026的RF-DETR作为接入框架，固定代码版本1.3.0。先完成COCO全量基线，再建立同源五千张配对子集，最后用COCO20和M3FD做两次检验。</a:t>
            </a:r>
          </a:p>
        </p:txBody>
      </p:sp>
    </p:spTree>
  </p:cSld>
  <p:clrMapOvr>
    <a:masterClrMapping/>
  </p:clrMapOvr>
</p:notes>
</file>

<file path=ppt/notesSlides/notesSlide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张图展示原始完整SATR-SSM检测器。MGAM增强显著响应，MTRP通过宏区域拓扑路由组织状态传播，MTCP利用跨路径门控调节特征。原体系由SATR骨干、PAN-FPN和原检测头组成；本次取P3、P4、P5三路特征，用新适配层连接RF-DETR解码器和检测头。</a:t>
            </a:r>
          </a:p>
        </p:txBody>
      </p:sp>
    </p:spTree>
  </p:cSld>
  <p:clrMapOvr>
    <a:masterClrMapping/>
  </p:clrMapOvr>
</p:notes>
</file>

<file path=ppt/notesSlides/notesSlide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需要区分两套完整模型。左边是原始SATR-SSM检测器，参数量3.72M，M3FD已有结果为0.435和0.706。右边是本次SATR骨干加新适配层及RF-DETR解码器、检测头，后面的D、F组都指右边。原模型结果作为背景参照，成对比较在各自相同任务内进行。</a:t>
            </a:r>
          </a:p>
        </p:txBody>
      </p:sp>
    </p:spTree>
  </p:cSld>
  <p:clrMapOvr>
    <a:masterClrMapping/>
  </p:clrMapOvr>
</p:notes>
</file>

<file path=ppt/notesSlides/notesSlide6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首先建立完整COCO基线。从官方COCO预训练权重继续微调二十轮，训练图像十一万八千二百八十七张，验证五千张。最佳权重重载验证得到mAP50到95为0.483，mAP50为0.674。日志训练耗时约四十八小时，因此后续需要缩短单次对照周期。</a:t>
            </a:r>
          </a:p>
        </p:txBody>
      </p:sp>
    </p:spTree>
  </p:cSld>
  <p:clrMapOvr>
    <a:masterClrMapping/>
  </p:clrMapOvr>
</p:notes>
</file>

<file path=ppt/notesSlides/notesSlide7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A保留全量八十类；B固定五千张训练图像，保留八十类；C沿用同一批图像，只保留与Pascal VOC对应的二十个类别；D在C任务上接入SATR骨干。第二条检验线采用CVPR 2022的TarDAL论文提出的M3FD。它是多场景红外与可见光配对数据，本次使用可见光分支，训练和验证各两千一百张，比较E、F两种骨干。</a:t>
            </a:r>
          </a:p>
        </p:txBody>
      </p:sp>
    </p:spTree>
  </p:cSld>
  <p:clrMapOvr>
    <a:masterClrMapping/>
  </p:clrMapOvr>
</p:notes>
</file>

<file path=ppt/notesSlides/notesSlide8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四组比较分别回答四个问题。A与B比较图像规模；B与C统一到共同二十类评价标签收缩；C与D比较COCO20上的骨干接入；E与F检验M3FD上的迁移。本来还计划G组，也就是原始完整SATR检测器在COCO20子集上的表现，由于课程时间限制未完成，列为后续优先实验。</a:t>
            </a:r>
          </a:p>
        </p:txBody>
      </p:sp>
    </p:spTree>
  </p:cSld>
  <p:clrMapOvr>
    <a:masterClrMapping/>
  </p:clrMapOvr>
</p:notes>
</file>

<file path=ppt/notesSlides/notesSlide9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入涉及骨干和投影接口共同更换。原RF-DETR把DINOv2多层特征送入预训练投影器。现在先将输入逆归一化回零到一，再提取SATR三路特征，经过一乘一卷积和GroupNorm，插值到二十四乘二十四并加权求和。输出统一为二百五十六通道，保留RF-DETR的位置编码、解码器和检测头。</a:t>
            </a:r>
          </a:p>
        </p:txBody>
      </p:sp>
    </p:spTree>
  </p:cSld>
  <p:clrMapOvr>
    <a:masterClrMapping/>
  </p:clrMapOvr>
</p:notes>
</file>

<file path=ppt/notesSlides/notesSlide10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课程实验使用单张RTX 2080 Ti和FP32。输入统一三百八十四，单步batch为二、累积八步，有效batch十六，配合梯度检查点控制显存。COCO使用主学习率一乘十的负五次方、二十轮；M3FD使用一乘十的负四次方、一百轮。前者延续COCO预训练能力，后者给目标域适配更多更新预算。</a:t>
            </a:r>
          </a:p>
        </p:txBody>
      </p:sp>
    </p:spTree>
  </p:cSld>
  <p:clrMapOvr>
    <a:masterClrMapping/>
  </p:clrMapOvr>
</p:notes>
</file>

<file path=ppt/notesSlides/notesSlide11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结构与训练参数分开说明。RF-DETR原文Nano行的三百八十四输入、patch十六、两个窗口、两层解码器和三百个查询被保留。原文batch一百二十八、学习率一乘十的负四次方；本次为适应十一GB显存采用有效batch十六。原始SATR检测器输入六百四十，本次迁移统一为三百八十四，原检测头也更换为RF-DETR体系。</a:t>
            </a:r>
          </a:p>
        </p:txBody>
      </p:sp>
    </p:spTree>
  </p:cSld>
  <p:clrMapOvr>
    <a:masterClrMapping/>
  </p:clrMapOvr>
</p:notes>
</file>

<file path=ppt/notesSlides/notesSlide12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总表列出模型与骨干、数据集、整个模型参数量，以及两项mAP。A、B的八十类AP均为0.483。C在VOC二十类上为0.544，D为0.006；E在M3FD上为0.493，F为0.315。D、F参数分别为9.577M和9.829M，比对应基线减少约百分之六十八。最后一行是原始完整SATR检测器的已有结果，单独注明原协议。</a:t>
            </a:r>
          </a:p>
        </p:txBody>
      </p:sp>
    </p:spTree>
  </p:cSld>
  <p:clrMapOvr>
    <a:masterClrMapping/>
  </p:clrMapOvr>
</p:notes>
</file>

<file path=ppt/notesSlides/notesSlide13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同任务差值。A、B的八十类AP接近，训练耗时从约四十八小时降到四点七二小时。B、C统一到共同二十类后，结果为0.543和0.544，按未舍入值计算差零点零六一个百分点。固定五千张图像承担了主要减负作用；随后C到D、E到F都出现精度下降，接下来结合训练曲线分析。</a:t>
            </a:r>
          </a:p>
        </p:txBody>
      </p:sp>
    </p:spTree>
  </p:cSld>
  <p:clrMapOvr>
    <a:masterClrMapping/>
  </p:clrMapOvr>
</p:notes>
</file>

<file path=ppt/notesSlides/notesSlide14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、B、C的最佳EMA分别在第八、第一和第二轮。三组都从已适配COCO的完整预训练模型起步，C还按类别语义抽取分类头，因此初始表现已经较高。后续训练损失下降，而验证AP总体回落，这一组合提示继续微调出现任务过适配。A的最佳在中前期，B、C则更早；子集结果接近建立在这个预训练起点上。</a:t>
            </a:r>
          </a:p>
        </p:txBody>
      </p:sp>
    </p:spTree>
  </p:cSld>
  <p:clrMapOvr>
    <a:masterClrMapping/>
  </p:clrMapOvr>
</p:notes>
</file>

<file path=ppt/notesSlides/notesSlide15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D、E、F的最佳EMA分别在第二十、第九十一和第九十八轮。D需要把M3FD来源的SATR特征跨域接入COCO，同时学习新接口，二十轮结束时仍在上升。E使用原DINOv2骨干，但也需要从COCO适配到M3FD；F则在已有M3FD骨干基础上学习新的检测接口。E、F训练一百轮，第八十一轮开始学习率衰减，后期继续改善，所以后期最佳同时涉及任务适配和优化预算。</a:t>
            </a:r>
          </a:p>
        </p:txBody>
      </p:sp>
    </p:spTree>
  </p:cSld>
  <p:clrMapOvr>
    <a:masterClrMapping/>
  </p:clrMapOvr>
</p:notes>
</file>

<file path=ppt/notesSlides/notesSlide16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口审计进一步定位了改动。D、F的新适配层初始学习率分别为一乘十的负五次方和负四次方，四百零九个编码器可训练张量都发生了变化。原来约1.445M参数的预训练投影器，变成0.133M的新模块；多层拼接和LayerNorm也变成插值、GroupNorm与加权和。这里需要同时解决映射容量、特征统计和优化节奏：后续采用独立适配学习率、预热与分阶段解冻，并比较多尺度特征蒸馏和统计对齐。</a:t>
            </a:r>
          </a:p>
        </p:txBody>
      </p:sp>
    </p:spTree>
  </p:cSld>
  <p:clrMapOvr>
    <a:masterClrMapping/>
  </p:clrMapOvr>
</p:notes>
</file>

<file path=ppt/notesSlides/notesSlide17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里把同一张M3FD图片的GT、E组和F组并排回放，预测阈值统一为0.3。图中GT十一框，E十框，F十一框，可以逐个对照重叠车辆、局部目标的位置和类别。单张框数用来定位案例，整体精度仍读取前面完整验证集的AP。</a:t>
            </a:r>
          </a:p>
        </p:txBody>
      </p:sp>
    </p:spTree>
  </p:cSld>
  <p:clrMapOvr>
    <a:masterClrMapping/>
  </p:clrMapOvr>
</p:notes>
</file>

<file path=ppt/notesSlides/notesSlide18_tf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次完成了六组真实训练，先建立全量基线，再用固定五千张配对子集控制成本。SATR骨干接入后参数减少约百分之六十八，两项迁移任务都出现精度损失，后续重点是新特征与旧解码器的衔接。下一步先补齐原始SATR在COCO20上的G组，再检验适配层优化和多尺度对齐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>
            <a:extLst>
              <a:ext uri="{FF2B5EF4-FFF2-40B4-BE49-F238E27FC236}">
                <a16:creationId xmlns:a16="http://schemas.microsoft.com/office/drawing/2014/main" id="{3BDE301B-0A0D-5917-83CA-A5E14A3DF34B}"/>
              </a:ext>
            </a:extLst>
          </p:cNvPr>
          <p:cNvSpPr>
            <a:spLocks noGrp="1"/>
          </p:cNvSpPr>
          <p:nvPr/>
        </p:nvSpPr>
        <p:spPr>
          <a:xfrm>
            <a:off x="216481" y="195852"/>
            <a:ext cx="11759038" cy="6356296"/>
          </a:xfrm>
          <a:prstGeom prst="rect">
            <a:avLst/>
          </a:prstGeom>
          <a:noFill/>
          <a:ln>
            <a:gradFill>
              <a:gsLst>
                <a:gs pos="0">
                  <a:srgbClr val="206DC5"/>
                </a:gs>
                <a:gs pos="100000">
                  <a:srgbClr val="206DC5">
                    <a:alpha val="0"/>
                  </a:srgbClr>
                </a:gs>
              </a:gsLst>
              <a:lin ang="5400000" scaled="1"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6FB8478-CFFD-634F-AFF0-06A27F7278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CB664DC-BB0B-03E8-60B2-CD1794EEFA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A4C55E-D033-7710-17F7-B322CF0424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57A7013-934C-4525-BC8C-761F5AFD285E}" type="datetimeFigureOut">
              <a:t>2026/10/20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EF02103-9F13-4AB5-F0F4-1439B2A47FD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42920-71B4-787A-1C49-5BBCE6CAF59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9ADA83D-DF77-AA76-6DA0-7A70CD7A4D20}" type="slidenum">
              <a:t>‹#›</a:t>
            </a:fld>
            <a:endParaRPr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92FF3D1-4858-91DB-57D2-A31A493D72E5}"/>
              </a:ext>
            </a:extLst>
          </p:cNvPr>
          <p:cNvSpPr>
            <a:spLocks noGrp="1"/>
          </p:cNvSpPr>
          <p:nvPr/>
        </p:nvSpPr>
        <p:spPr>
          <a:xfrm>
            <a:off x="0" y="1608326"/>
            <a:ext cx="12189975" cy="2492211"/>
          </a:xfrm>
          <a:prstGeom prst="rect">
            <a:avLst/>
          </a:prstGeom>
          <a:gradFill flip="none" rotWithShape="1">
            <a:gsLst>
              <a:gs pos="32900">
                <a:srgbClr val="1A5DB4"/>
              </a:gs>
              <a:gs pos="0">
                <a:srgbClr val="1755AC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CCFF51B-B044-4E43-AE43-1337B7DB56F2}"/>
              </a:ext>
            </a:extLst>
          </p:cNvPr>
          <p:cNvSpPr>
            <a:spLocks noGrp="1"/>
          </p:cNvSpPr>
          <p:nvPr/>
        </p:nvSpPr>
        <p:spPr>
          <a:xfrm>
            <a:off x="216481" y="4111563"/>
            <a:ext cx="11781159" cy="0"/>
          </a:xfrm>
          <a:prstGeom prst="line">
            <a:avLst/>
          </a:prstGeom>
          <a:ln w="31750">
            <a:gradFill flip="none" rotWithShape="1">
              <a:gsLst>
                <a:gs pos="0">
                  <a:schemeClr val="accent5">
                    <a:lumMod val="40000"/>
                    <a:lumOff val="60000"/>
                  </a:schemeClr>
                </a:gs>
                <a:gs pos="100000">
                  <a:srgbClr val="206DC5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8C198DB-C5B8-C3AC-49EA-9BC3D3CC2435}"/>
              </a:ext>
            </a:extLst>
          </p:cNvPr>
          <p:cNvSpPr>
            <a:spLocks noGrp="1"/>
          </p:cNvSpPr>
          <p:nvPr/>
        </p:nvSpPr>
        <p:spPr>
          <a:xfrm>
            <a:off x="-1" y="6638687"/>
            <a:ext cx="12192001" cy="232798"/>
          </a:xfrm>
          <a:custGeom>
            <a:avLst/>
            <a:gdLst/>
            <a:ahLst/>
            <a:cxnLst/>
            <a:rect l="0" t="0" r="0" b="0"/>
            <a:pathLst>
              <a:path w="12192001" h="232798">
                <a:moveTo>
                  <a:pt x="0" y="0"/>
                </a:moveTo>
                <a:lnTo>
                  <a:pt x="4750613" y="0"/>
                </a:lnTo>
                <a:cubicBezTo>
                  <a:pt x="4818835" y="0"/>
                  <a:pt x="4885339" y="22018"/>
                  <a:pt x="4940082" y="62730"/>
                </a:cubicBezTo>
                <a:lnTo>
                  <a:pt x="4975983" y="89429"/>
                </a:lnTo>
                <a:cubicBezTo>
                  <a:pt x="5030726" y="130141"/>
                  <a:pt x="5097230" y="152159"/>
                  <a:pt x="5165452" y="152159"/>
                </a:cubicBezTo>
                <a:lnTo>
                  <a:pt x="7026549" y="152159"/>
                </a:lnTo>
                <a:cubicBezTo>
                  <a:pt x="7094771" y="152159"/>
                  <a:pt x="7161275" y="130141"/>
                  <a:pt x="7216018" y="89429"/>
                </a:cubicBezTo>
                <a:lnTo>
                  <a:pt x="7251919" y="62730"/>
                </a:lnTo>
                <a:cubicBezTo>
                  <a:pt x="7306662" y="22018"/>
                  <a:pt x="7373166" y="0"/>
                  <a:pt x="7441388" y="0"/>
                </a:cubicBezTo>
                <a:lnTo>
                  <a:pt x="12192000" y="0"/>
                </a:lnTo>
                <a:lnTo>
                  <a:pt x="12192000" y="232797"/>
                </a:lnTo>
                <a:lnTo>
                  <a:pt x="0" y="23279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206DC5"/>
              </a:gs>
              <a:gs pos="100000">
                <a:srgbClr val="1755AC"/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anchor="ctr">
            <a:noAutofit/>
          </a:bodyPr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: 圆角 9">
            <a:extLst>
              <a:ext uri="{FF2B5EF4-FFF2-40B4-BE49-F238E27FC236}">
                <a16:creationId xmlns:a16="http://schemas.microsoft.com/office/drawing/2014/main" id="{715335CA-6ED5-BB03-0F74-F3134FF22D62}"/>
              </a:ext>
            </a:extLst>
          </p:cNvPr>
          <p:cNvSpPr>
            <a:spLocks noGrp="1"/>
          </p:cNvSpPr>
          <p:nvPr/>
        </p:nvSpPr>
        <p:spPr>
          <a:xfrm rot="18868327">
            <a:off x="923065" y="1271844"/>
            <a:ext cx="439584" cy="125179"/>
          </a:xfrm>
          <a:prstGeom prst="roundRect">
            <a:avLst>
              <a:gd name="adj" fmla="val 20489"/>
            </a:avLst>
          </a:prstGeom>
          <a:solidFill>
            <a:srgbClr val="1755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FA8E3777-1CBB-1546-10FA-6BBBE851124F}"/>
              </a:ext>
            </a:extLst>
          </p:cNvPr>
          <p:cNvSpPr>
            <a:spLocks noGrp="1"/>
          </p:cNvSpPr>
          <p:nvPr/>
        </p:nvSpPr>
        <p:spPr>
          <a:xfrm>
            <a:off x="964549" y="1154797"/>
            <a:ext cx="10242305" cy="4724767"/>
          </a:xfrm>
          <a:prstGeom prst="roundRect">
            <a:avLst>
              <a:gd name="adj" fmla="val 1899"/>
            </a:avLst>
          </a:prstGeom>
          <a:solidFill>
            <a:schemeClr val="bg1"/>
          </a:solidFill>
          <a:ln w="63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</a:gsLst>
              <a:lin ang="16200000" scaled="1"/>
              <a:tileRect/>
            </a:gradFill>
          </a:ln>
          <a:effectLst>
            <a:outerShdw blurRad="279400" dist="266700" dir="2700000" algn="tl" rotWithShape="0">
              <a:srgbClr val="206DC5">
                <a:alpha val="7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564D2183-6A82-2833-6C1A-8203A6240A94}"/>
              </a:ext>
            </a:extLst>
          </p:cNvPr>
          <p:cNvSpPr>
            <a:spLocks noGrp="1"/>
          </p:cNvSpPr>
          <p:nvPr/>
        </p:nvSpPr>
        <p:spPr>
          <a:xfrm rot="16200000">
            <a:off x="951938" y="1146376"/>
            <a:ext cx="312724" cy="306706"/>
          </a:xfrm>
          <a:custGeom>
            <a:avLst/>
            <a:gdLst>
              <a:gd name="connsiteX0" fmla="*/ 0 w 1371880"/>
              <a:gd name="connsiteY0" fmla="*/ 0 h 1345482"/>
              <a:gd name="connsiteX1" fmla="*/ 686109 w 1371880"/>
              <a:gd name="connsiteY1" fmla="*/ 0 h 1345482"/>
              <a:gd name="connsiteX2" fmla="*/ 820813 w 1371880"/>
              <a:gd name="connsiteY2" fmla="*/ 55796 h 1345482"/>
              <a:gd name="connsiteX3" fmla="*/ 1316085 w 1371880"/>
              <a:gd name="connsiteY3" fmla="*/ 551067 h 1345482"/>
              <a:gd name="connsiteX4" fmla="*/ 1371880 w 1371880"/>
              <a:gd name="connsiteY4" fmla="*/ 685771 h 1345482"/>
              <a:gd name="connsiteX5" fmla="*/ 1371880 w 1371880"/>
              <a:gd name="connsiteY5" fmla="*/ 1345482 h 1345482"/>
              <a:gd name="connsiteX6" fmla="*/ 1316085 w 1371880"/>
              <a:gd name="connsiteY6" fmla="*/ 1210778 h 1345482"/>
              <a:gd name="connsiteX7" fmla="*/ 820813 w 1371880"/>
              <a:gd name="connsiteY7" fmla="*/ 715507 h 1345482"/>
              <a:gd name="connsiteX8" fmla="*/ 686109 w 1371880"/>
              <a:gd name="connsiteY8" fmla="*/ 659711 h 1345482"/>
              <a:gd name="connsiteX9" fmla="*/ 683191 w 1371880"/>
              <a:gd name="connsiteY9" fmla="*/ 659711 h 1345482"/>
              <a:gd name="connsiteX10" fmla="*/ 682075 w 1371880"/>
              <a:gd name="connsiteY10" fmla="*/ 648440 h 1345482"/>
              <a:gd name="connsiteX11" fmla="*/ 629976 w 1371880"/>
              <a:gd name="connsiteY11" fmla="*/ 551067 h 1345482"/>
              <a:gd name="connsiteX12" fmla="*/ 134704 w 1371880"/>
              <a:gd name="connsiteY12" fmla="*/ 55796 h 1345482"/>
              <a:gd name="connsiteX13" fmla="*/ 0 w 1371880"/>
              <a:gd name="connsiteY13" fmla="*/ 0 h 1345482"/>
              <a:gd name="connsiteX0" fmla="*/ 0 w 1371880"/>
              <a:gd name="connsiteY0" fmla="*/ 0 h 1345482"/>
              <a:gd name="connsiteX1" fmla="*/ 686109 w 1371880"/>
              <a:gd name="connsiteY1" fmla="*/ 0 h 1345482"/>
              <a:gd name="connsiteX2" fmla="*/ 820813 w 1371880"/>
              <a:gd name="connsiteY2" fmla="*/ 55796 h 1345482"/>
              <a:gd name="connsiteX3" fmla="*/ 1316085 w 1371880"/>
              <a:gd name="connsiteY3" fmla="*/ 551067 h 1345482"/>
              <a:gd name="connsiteX4" fmla="*/ 1371880 w 1371880"/>
              <a:gd name="connsiteY4" fmla="*/ 685771 h 1345482"/>
              <a:gd name="connsiteX5" fmla="*/ 1371880 w 1371880"/>
              <a:gd name="connsiteY5" fmla="*/ 1345482 h 1345482"/>
              <a:gd name="connsiteX6" fmla="*/ 1316085 w 1371880"/>
              <a:gd name="connsiteY6" fmla="*/ 1210778 h 1345482"/>
              <a:gd name="connsiteX7" fmla="*/ 820813 w 1371880"/>
              <a:gd name="connsiteY7" fmla="*/ 715507 h 1345482"/>
              <a:gd name="connsiteX8" fmla="*/ 686109 w 1371880"/>
              <a:gd name="connsiteY8" fmla="*/ 659711 h 1345482"/>
              <a:gd name="connsiteX9" fmla="*/ 682075 w 1371880"/>
              <a:gd name="connsiteY9" fmla="*/ 648440 h 1345482"/>
              <a:gd name="connsiteX10" fmla="*/ 629976 w 1371880"/>
              <a:gd name="connsiteY10" fmla="*/ 551067 h 1345482"/>
              <a:gd name="connsiteX11" fmla="*/ 134704 w 1371880"/>
              <a:gd name="connsiteY11" fmla="*/ 55796 h 1345482"/>
              <a:gd name="connsiteX12" fmla="*/ 0 w 1371880"/>
              <a:gd name="connsiteY12" fmla="*/ 0 h 1345482"/>
              <a:gd name="connsiteX0" fmla="*/ 0 w 1371880"/>
              <a:gd name="connsiteY0" fmla="*/ 0 h 1345482"/>
              <a:gd name="connsiteX1" fmla="*/ 686109 w 1371880"/>
              <a:gd name="connsiteY1" fmla="*/ 0 h 1345482"/>
              <a:gd name="connsiteX2" fmla="*/ 820813 w 1371880"/>
              <a:gd name="connsiteY2" fmla="*/ 55796 h 1345482"/>
              <a:gd name="connsiteX3" fmla="*/ 1316085 w 1371880"/>
              <a:gd name="connsiteY3" fmla="*/ 551067 h 1345482"/>
              <a:gd name="connsiteX4" fmla="*/ 1371880 w 1371880"/>
              <a:gd name="connsiteY4" fmla="*/ 685771 h 1345482"/>
              <a:gd name="connsiteX5" fmla="*/ 1371880 w 1371880"/>
              <a:gd name="connsiteY5" fmla="*/ 1345482 h 1345482"/>
              <a:gd name="connsiteX6" fmla="*/ 1316085 w 1371880"/>
              <a:gd name="connsiteY6" fmla="*/ 1210778 h 1345482"/>
              <a:gd name="connsiteX7" fmla="*/ 820813 w 1371880"/>
              <a:gd name="connsiteY7" fmla="*/ 715507 h 1345482"/>
              <a:gd name="connsiteX8" fmla="*/ 686109 w 1371880"/>
              <a:gd name="connsiteY8" fmla="*/ 659711 h 1345482"/>
              <a:gd name="connsiteX9" fmla="*/ 629976 w 1371880"/>
              <a:gd name="connsiteY9" fmla="*/ 551067 h 1345482"/>
              <a:gd name="connsiteX10" fmla="*/ 134704 w 1371880"/>
              <a:gd name="connsiteY10" fmla="*/ 55796 h 1345482"/>
              <a:gd name="connsiteX11" fmla="*/ 0 w 1371880"/>
              <a:gd name="connsiteY11" fmla="*/ 0 h 1345482"/>
              <a:gd name="connsiteX0" fmla="*/ 0 w 1371880"/>
              <a:gd name="connsiteY0" fmla="*/ 0 h 1345482"/>
              <a:gd name="connsiteX1" fmla="*/ 686109 w 1371880"/>
              <a:gd name="connsiteY1" fmla="*/ 0 h 1345482"/>
              <a:gd name="connsiteX2" fmla="*/ 820813 w 1371880"/>
              <a:gd name="connsiteY2" fmla="*/ 55796 h 1345482"/>
              <a:gd name="connsiteX3" fmla="*/ 1316085 w 1371880"/>
              <a:gd name="connsiteY3" fmla="*/ 551067 h 1345482"/>
              <a:gd name="connsiteX4" fmla="*/ 1371880 w 1371880"/>
              <a:gd name="connsiteY4" fmla="*/ 685771 h 1345482"/>
              <a:gd name="connsiteX5" fmla="*/ 1371880 w 1371880"/>
              <a:gd name="connsiteY5" fmla="*/ 1345482 h 1345482"/>
              <a:gd name="connsiteX6" fmla="*/ 1316085 w 1371880"/>
              <a:gd name="connsiteY6" fmla="*/ 1210778 h 1345482"/>
              <a:gd name="connsiteX7" fmla="*/ 820813 w 1371880"/>
              <a:gd name="connsiteY7" fmla="*/ 715507 h 1345482"/>
              <a:gd name="connsiteX8" fmla="*/ 629976 w 1371880"/>
              <a:gd name="connsiteY8" fmla="*/ 551067 h 1345482"/>
              <a:gd name="connsiteX9" fmla="*/ 134704 w 1371880"/>
              <a:gd name="connsiteY9" fmla="*/ 55796 h 1345482"/>
              <a:gd name="connsiteX10" fmla="*/ 0 w 1371880"/>
              <a:gd name="connsiteY10" fmla="*/ 0 h 1345482"/>
              <a:gd name="connsiteX0" fmla="*/ 0 w 1371880"/>
              <a:gd name="connsiteY0" fmla="*/ 0 h 1345482"/>
              <a:gd name="connsiteX1" fmla="*/ 686109 w 1371880"/>
              <a:gd name="connsiteY1" fmla="*/ 0 h 1345482"/>
              <a:gd name="connsiteX2" fmla="*/ 820813 w 1371880"/>
              <a:gd name="connsiteY2" fmla="*/ 55796 h 1345482"/>
              <a:gd name="connsiteX3" fmla="*/ 1316085 w 1371880"/>
              <a:gd name="connsiteY3" fmla="*/ 551067 h 1345482"/>
              <a:gd name="connsiteX4" fmla="*/ 1371880 w 1371880"/>
              <a:gd name="connsiteY4" fmla="*/ 685771 h 1345482"/>
              <a:gd name="connsiteX5" fmla="*/ 1371880 w 1371880"/>
              <a:gd name="connsiteY5" fmla="*/ 1345482 h 1345482"/>
              <a:gd name="connsiteX6" fmla="*/ 1316085 w 1371880"/>
              <a:gd name="connsiteY6" fmla="*/ 1210778 h 1345482"/>
              <a:gd name="connsiteX7" fmla="*/ 629976 w 1371880"/>
              <a:gd name="connsiteY7" fmla="*/ 551067 h 1345482"/>
              <a:gd name="connsiteX8" fmla="*/ 134704 w 1371880"/>
              <a:gd name="connsiteY8" fmla="*/ 55796 h 1345482"/>
              <a:gd name="connsiteX9" fmla="*/ 0 w 1371880"/>
              <a:gd name="connsiteY9" fmla="*/ 0 h 1345482"/>
            </a:gdLst>
            <a:ahLst/>
            <a:cxnLst/>
            <a:rect l="l" t="t" r="r" b="b"/>
            <a:pathLst>
              <a:path w="1371880" h="1345482">
                <a:moveTo>
                  <a:pt x="0" y="0"/>
                </a:moveTo>
                <a:lnTo>
                  <a:pt x="686109" y="0"/>
                </a:lnTo>
                <a:cubicBezTo>
                  <a:pt x="736610" y="0"/>
                  <a:pt x="785104" y="20087"/>
                  <a:pt x="820813" y="55796"/>
                </a:cubicBezTo>
                <a:lnTo>
                  <a:pt x="1316085" y="551067"/>
                </a:lnTo>
                <a:cubicBezTo>
                  <a:pt x="1351794" y="586776"/>
                  <a:pt x="1371880" y="635270"/>
                  <a:pt x="1371880" y="685771"/>
                </a:cubicBezTo>
                <a:lnTo>
                  <a:pt x="1371880" y="1345482"/>
                </a:lnTo>
                <a:cubicBezTo>
                  <a:pt x="1371880" y="1294981"/>
                  <a:pt x="1351794" y="1246487"/>
                  <a:pt x="1316085" y="1210778"/>
                </a:cubicBezTo>
                <a:lnTo>
                  <a:pt x="629976" y="551067"/>
                </a:lnTo>
                <a:lnTo>
                  <a:pt x="134704" y="55796"/>
                </a:lnTo>
                <a:cubicBezTo>
                  <a:pt x="98995" y="20087"/>
                  <a:pt x="50501" y="0"/>
                  <a:pt x="0" y="0"/>
                </a:cubicBezTo>
                <a:close/>
              </a:path>
            </a:pathLst>
          </a:custGeom>
          <a:solidFill>
            <a:srgbClr val="206D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3A60EA-7F77-865D-F975-23E9A62124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57A7013-934C-4525-BC8C-761F5AFD285E}" type="datetimeFigureOut">
              <a:t>2026/10/20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4FC831-7241-96FB-3052-EFF2132AC35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CDCC0C-FC29-5D00-0385-D92722EE221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9ADA83D-DF77-AA76-6DA0-7A70CD7A4D20}" type="slidenum">
              <a:t>‹#›</a:t>
            </a:fld>
            <a:endParaRPr/>
          </a:p>
        </p:txBody>
      </p:sp>
      <p:sp>
        <p:nvSpPr>
          <p:cNvPr id="7" name="矩形: 圆顶角 6">
            <a:extLst>
              <a:ext uri="{FF2B5EF4-FFF2-40B4-BE49-F238E27FC236}">
                <a16:creationId xmlns:a16="http://schemas.microsoft.com/office/drawing/2014/main" id="{44604148-FCC1-D2A5-960E-2D83DB776C65}"/>
              </a:ext>
            </a:extLst>
          </p:cNvPr>
          <p:cNvSpPr>
            <a:spLocks noGrp="1"/>
          </p:cNvSpPr>
          <p:nvPr/>
        </p:nvSpPr>
        <p:spPr>
          <a:xfrm flipV="1">
            <a:off x="944215" y="5784573"/>
            <a:ext cx="10262639" cy="9498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06DC5"/>
          </a:solidFill>
          <a:ln w="63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</a:gsLst>
              <a:lin ang="16200000" scaled="1"/>
              <a:tileRect/>
            </a:gradFill>
          </a:ln>
          <a:effectLst>
            <a:outerShdw blurRad="279400" dist="266700" dir="2700000" algn="tl" rotWithShape="0">
              <a:srgbClr val="206DC5">
                <a:alpha val="7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6E43C4-9BFA-E7F8-D395-2142AF1E0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3172394-4C39-2BB9-C397-06600F4803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46AC838-27F5-D25E-2A4F-37F8E7600EB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57A7013-934C-4525-BC8C-761F5AFD285E}" type="datetimeFigureOut">
              <a:t>2026/10/20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187E797-53CD-16AB-1ED6-227B98E3E79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14FFEF3-7F18-7CFF-40CE-85CBE88A390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9ADA83D-DF77-AA76-6DA0-7A70CD7A4D2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D3D08E-C134-F501-D451-25BD36B4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5563E6-F722-BFE8-02B6-472481C790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635F66-5B60-0CA7-24AF-743BD5595C72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0FE80A7-F74C-8DA5-C471-B87836F3FA0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57A7013-934C-4525-BC8C-761F5AFD285E}" type="datetimeFigureOut">
              <a:t>2026/10/20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D42FB1F-2327-A3DE-F30C-87E65D03554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FE52A6-41EB-3B6C-8115-355A5E116F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9ADA83D-DF77-AA76-6DA0-7A70CD7A4D2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4C7DB6-477F-447A-9DB5-EA76F650AC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C71B42-90EE-8D06-08B1-6EDBB91C19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A20F9F0-5FFB-81B7-4C4E-80F113C49660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A90C686-13D9-C2BB-E882-82D51736A892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B642B75-8EAD-34EC-F4E9-44287FAFB213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FC50357-5F96-B414-DF3A-BFF4ADE4C64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57A7013-934C-4525-BC8C-761F5AFD285E}" type="datetimeFigureOut">
              <a:t>2026/10/20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AACBC6F-8263-BEDE-E427-BC4A09B6AF4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F75EA42-8BB5-8378-6EB4-D2149DC5742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9ADA83D-DF77-AA76-6DA0-7A70CD7A4D2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D7CB8D-8EDE-F2A6-6A56-895314E6D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0CEC3FF-CFB2-F097-D42C-657651968FA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57A7013-934C-4525-BC8C-761F5AFD285E}" type="datetimeFigureOut">
              <a:t>2026/10/20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589322F-F40A-5CF1-FD33-F8D7C07E9B2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C3500A-9EB9-1E7A-B8C4-6412B2123E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9ADA83D-DF77-AA76-6DA0-7A70CD7A4D20}" type="slidenum">
              <a:t>‹#›</a:t>
            </a:fld>
            <a:endParaRPr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19FE305B-F2E2-9DD7-BF18-66F1DFE3C1FC}"/>
              </a:ext>
            </a:extLst>
          </p:cNvPr>
          <p:cNvSpPr>
            <a:spLocks noGrp="1"/>
          </p:cNvSpPr>
          <p:nvPr/>
        </p:nvSpPr>
        <p:spPr>
          <a:xfrm rot="18868327">
            <a:off x="938164" y="1203741"/>
            <a:ext cx="439584" cy="125179"/>
          </a:xfrm>
          <a:prstGeom prst="roundRect">
            <a:avLst>
              <a:gd name="adj" fmla="val 20489"/>
            </a:avLst>
          </a:prstGeom>
          <a:solidFill>
            <a:srgbClr val="1755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79E4C02A-2D03-0962-EEE9-03E17ADD9289}"/>
              </a:ext>
            </a:extLst>
          </p:cNvPr>
          <p:cNvSpPr>
            <a:spLocks noGrp="1"/>
          </p:cNvSpPr>
          <p:nvPr/>
        </p:nvSpPr>
        <p:spPr>
          <a:xfrm>
            <a:off x="979648" y="1086694"/>
            <a:ext cx="10242305" cy="4724767"/>
          </a:xfrm>
          <a:prstGeom prst="roundRect">
            <a:avLst>
              <a:gd name="adj" fmla="val 1899"/>
            </a:avLst>
          </a:prstGeom>
          <a:solidFill>
            <a:schemeClr val="bg1"/>
          </a:solidFill>
          <a:ln w="63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</a:gsLst>
              <a:lin ang="16200000" scaled="1"/>
              <a:tileRect/>
            </a:gradFill>
          </a:ln>
          <a:effectLst>
            <a:outerShdw blurRad="279400" dist="266700" dir="2700000" algn="tl" rotWithShape="0">
              <a:srgbClr val="206DC5">
                <a:alpha val="7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23030B37-DFBF-A39F-6984-BF3436FFF1E9}"/>
              </a:ext>
            </a:extLst>
          </p:cNvPr>
          <p:cNvSpPr>
            <a:spLocks noGrp="1"/>
          </p:cNvSpPr>
          <p:nvPr/>
        </p:nvSpPr>
        <p:spPr>
          <a:xfrm rot="16200000">
            <a:off x="967037" y="1078273"/>
            <a:ext cx="312724" cy="306706"/>
          </a:xfrm>
          <a:custGeom>
            <a:avLst/>
            <a:gdLst>
              <a:gd name="connsiteX0" fmla="*/ 0 w 1371880"/>
              <a:gd name="connsiteY0" fmla="*/ 0 h 1345482"/>
              <a:gd name="connsiteX1" fmla="*/ 686109 w 1371880"/>
              <a:gd name="connsiteY1" fmla="*/ 0 h 1345482"/>
              <a:gd name="connsiteX2" fmla="*/ 820813 w 1371880"/>
              <a:gd name="connsiteY2" fmla="*/ 55796 h 1345482"/>
              <a:gd name="connsiteX3" fmla="*/ 1316085 w 1371880"/>
              <a:gd name="connsiteY3" fmla="*/ 551067 h 1345482"/>
              <a:gd name="connsiteX4" fmla="*/ 1371880 w 1371880"/>
              <a:gd name="connsiteY4" fmla="*/ 685771 h 1345482"/>
              <a:gd name="connsiteX5" fmla="*/ 1371880 w 1371880"/>
              <a:gd name="connsiteY5" fmla="*/ 1345482 h 1345482"/>
              <a:gd name="connsiteX6" fmla="*/ 1316085 w 1371880"/>
              <a:gd name="connsiteY6" fmla="*/ 1210778 h 1345482"/>
              <a:gd name="connsiteX7" fmla="*/ 820813 w 1371880"/>
              <a:gd name="connsiteY7" fmla="*/ 715507 h 1345482"/>
              <a:gd name="connsiteX8" fmla="*/ 686109 w 1371880"/>
              <a:gd name="connsiteY8" fmla="*/ 659711 h 1345482"/>
              <a:gd name="connsiteX9" fmla="*/ 683191 w 1371880"/>
              <a:gd name="connsiteY9" fmla="*/ 659711 h 1345482"/>
              <a:gd name="connsiteX10" fmla="*/ 682075 w 1371880"/>
              <a:gd name="connsiteY10" fmla="*/ 648440 h 1345482"/>
              <a:gd name="connsiteX11" fmla="*/ 629976 w 1371880"/>
              <a:gd name="connsiteY11" fmla="*/ 551067 h 1345482"/>
              <a:gd name="connsiteX12" fmla="*/ 134704 w 1371880"/>
              <a:gd name="connsiteY12" fmla="*/ 55796 h 1345482"/>
              <a:gd name="connsiteX13" fmla="*/ 0 w 1371880"/>
              <a:gd name="connsiteY13" fmla="*/ 0 h 1345482"/>
              <a:gd name="connsiteX0" fmla="*/ 0 w 1371880"/>
              <a:gd name="connsiteY0" fmla="*/ 0 h 1345482"/>
              <a:gd name="connsiteX1" fmla="*/ 686109 w 1371880"/>
              <a:gd name="connsiteY1" fmla="*/ 0 h 1345482"/>
              <a:gd name="connsiteX2" fmla="*/ 820813 w 1371880"/>
              <a:gd name="connsiteY2" fmla="*/ 55796 h 1345482"/>
              <a:gd name="connsiteX3" fmla="*/ 1316085 w 1371880"/>
              <a:gd name="connsiteY3" fmla="*/ 551067 h 1345482"/>
              <a:gd name="connsiteX4" fmla="*/ 1371880 w 1371880"/>
              <a:gd name="connsiteY4" fmla="*/ 685771 h 1345482"/>
              <a:gd name="connsiteX5" fmla="*/ 1371880 w 1371880"/>
              <a:gd name="connsiteY5" fmla="*/ 1345482 h 1345482"/>
              <a:gd name="connsiteX6" fmla="*/ 1316085 w 1371880"/>
              <a:gd name="connsiteY6" fmla="*/ 1210778 h 1345482"/>
              <a:gd name="connsiteX7" fmla="*/ 820813 w 1371880"/>
              <a:gd name="connsiteY7" fmla="*/ 715507 h 1345482"/>
              <a:gd name="connsiteX8" fmla="*/ 686109 w 1371880"/>
              <a:gd name="connsiteY8" fmla="*/ 659711 h 1345482"/>
              <a:gd name="connsiteX9" fmla="*/ 682075 w 1371880"/>
              <a:gd name="connsiteY9" fmla="*/ 648440 h 1345482"/>
              <a:gd name="connsiteX10" fmla="*/ 629976 w 1371880"/>
              <a:gd name="connsiteY10" fmla="*/ 551067 h 1345482"/>
              <a:gd name="connsiteX11" fmla="*/ 134704 w 1371880"/>
              <a:gd name="connsiteY11" fmla="*/ 55796 h 1345482"/>
              <a:gd name="connsiteX12" fmla="*/ 0 w 1371880"/>
              <a:gd name="connsiteY12" fmla="*/ 0 h 1345482"/>
              <a:gd name="connsiteX0" fmla="*/ 0 w 1371880"/>
              <a:gd name="connsiteY0" fmla="*/ 0 h 1345482"/>
              <a:gd name="connsiteX1" fmla="*/ 686109 w 1371880"/>
              <a:gd name="connsiteY1" fmla="*/ 0 h 1345482"/>
              <a:gd name="connsiteX2" fmla="*/ 820813 w 1371880"/>
              <a:gd name="connsiteY2" fmla="*/ 55796 h 1345482"/>
              <a:gd name="connsiteX3" fmla="*/ 1316085 w 1371880"/>
              <a:gd name="connsiteY3" fmla="*/ 551067 h 1345482"/>
              <a:gd name="connsiteX4" fmla="*/ 1371880 w 1371880"/>
              <a:gd name="connsiteY4" fmla="*/ 685771 h 1345482"/>
              <a:gd name="connsiteX5" fmla="*/ 1371880 w 1371880"/>
              <a:gd name="connsiteY5" fmla="*/ 1345482 h 1345482"/>
              <a:gd name="connsiteX6" fmla="*/ 1316085 w 1371880"/>
              <a:gd name="connsiteY6" fmla="*/ 1210778 h 1345482"/>
              <a:gd name="connsiteX7" fmla="*/ 820813 w 1371880"/>
              <a:gd name="connsiteY7" fmla="*/ 715507 h 1345482"/>
              <a:gd name="connsiteX8" fmla="*/ 686109 w 1371880"/>
              <a:gd name="connsiteY8" fmla="*/ 659711 h 1345482"/>
              <a:gd name="connsiteX9" fmla="*/ 629976 w 1371880"/>
              <a:gd name="connsiteY9" fmla="*/ 551067 h 1345482"/>
              <a:gd name="connsiteX10" fmla="*/ 134704 w 1371880"/>
              <a:gd name="connsiteY10" fmla="*/ 55796 h 1345482"/>
              <a:gd name="connsiteX11" fmla="*/ 0 w 1371880"/>
              <a:gd name="connsiteY11" fmla="*/ 0 h 1345482"/>
              <a:gd name="connsiteX0" fmla="*/ 0 w 1371880"/>
              <a:gd name="connsiteY0" fmla="*/ 0 h 1345482"/>
              <a:gd name="connsiteX1" fmla="*/ 686109 w 1371880"/>
              <a:gd name="connsiteY1" fmla="*/ 0 h 1345482"/>
              <a:gd name="connsiteX2" fmla="*/ 820813 w 1371880"/>
              <a:gd name="connsiteY2" fmla="*/ 55796 h 1345482"/>
              <a:gd name="connsiteX3" fmla="*/ 1316085 w 1371880"/>
              <a:gd name="connsiteY3" fmla="*/ 551067 h 1345482"/>
              <a:gd name="connsiteX4" fmla="*/ 1371880 w 1371880"/>
              <a:gd name="connsiteY4" fmla="*/ 685771 h 1345482"/>
              <a:gd name="connsiteX5" fmla="*/ 1371880 w 1371880"/>
              <a:gd name="connsiteY5" fmla="*/ 1345482 h 1345482"/>
              <a:gd name="connsiteX6" fmla="*/ 1316085 w 1371880"/>
              <a:gd name="connsiteY6" fmla="*/ 1210778 h 1345482"/>
              <a:gd name="connsiteX7" fmla="*/ 820813 w 1371880"/>
              <a:gd name="connsiteY7" fmla="*/ 715507 h 1345482"/>
              <a:gd name="connsiteX8" fmla="*/ 629976 w 1371880"/>
              <a:gd name="connsiteY8" fmla="*/ 551067 h 1345482"/>
              <a:gd name="connsiteX9" fmla="*/ 134704 w 1371880"/>
              <a:gd name="connsiteY9" fmla="*/ 55796 h 1345482"/>
              <a:gd name="connsiteX10" fmla="*/ 0 w 1371880"/>
              <a:gd name="connsiteY10" fmla="*/ 0 h 1345482"/>
              <a:gd name="connsiteX0" fmla="*/ 0 w 1371880"/>
              <a:gd name="connsiteY0" fmla="*/ 0 h 1345482"/>
              <a:gd name="connsiteX1" fmla="*/ 686109 w 1371880"/>
              <a:gd name="connsiteY1" fmla="*/ 0 h 1345482"/>
              <a:gd name="connsiteX2" fmla="*/ 820813 w 1371880"/>
              <a:gd name="connsiteY2" fmla="*/ 55796 h 1345482"/>
              <a:gd name="connsiteX3" fmla="*/ 1316085 w 1371880"/>
              <a:gd name="connsiteY3" fmla="*/ 551067 h 1345482"/>
              <a:gd name="connsiteX4" fmla="*/ 1371880 w 1371880"/>
              <a:gd name="connsiteY4" fmla="*/ 685771 h 1345482"/>
              <a:gd name="connsiteX5" fmla="*/ 1371880 w 1371880"/>
              <a:gd name="connsiteY5" fmla="*/ 1345482 h 1345482"/>
              <a:gd name="connsiteX6" fmla="*/ 1316085 w 1371880"/>
              <a:gd name="connsiteY6" fmla="*/ 1210778 h 1345482"/>
              <a:gd name="connsiteX7" fmla="*/ 629976 w 1371880"/>
              <a:gd name="connsiteY7" fmla="*/ 551067 h 1345482"/>
              <a:gd name="connsiteX8" fmla="*/ 134704 w 1371880"/>
              <a:gd name="connsiteY8" fmla="*/ 55796 h 1345482"/>
              <a:gd name="connsiteX9" fmla="*/ 0 w 1371880"/>
              <a:gd name="connsiteY9" fmla="*/ 0 h 1345482"/>
            </a:gdLst>
            <a:ahLst/>
            <a:cxnLst/>
            <a:rect l="l" t="t" r="r" b="b"/>
            <a:pathLst>
              <a:path w="1371880" h="1345482">
                <a:moveTo>
                  <a:pt x="0" y="0"/>
                </a:moveTo>
                <a:lnTo>
                  <a:pt x="686109" y="0"/>
                </a:lnTo>
                <a:cubicBezTo>
                  <a:pt x="736610" y="0"/>
                  <a:pt x="785104" y="20087"/>
                  <a:pt x="820813" y="55796"/>
                </a:cubicBezTo>
                <a:lnTo>
                  <a:pt x="1316085" y="551067"/>
                </a:lnTo>
                <a:cubicBezTo>
                  <a:pt x="1351794" y="586776"/>
                  <a:pt x="1371880" y="635270"/>
                  <a:pt x="1371880" y="685771"/>
                </a:cubicBezTo>
                <a:lnTo>
                  <a:pt x="1371880" y="1345482"/>
                </a:lnTo>
                <a:cubicBezTo>
                  <a:pt x="1371880" y="1294981"/>
                  <a:pt x="1351794" y="1246487"/>
                  <a:pt x="1316085" y="1210778"/>
                </a:cubicBezTo>
                <a:lnTo>
                  <a:pt x="629976" y="551067"/>
                </a:lnTo>
                <a:lnTo>
                  <a:pt x="134704" y="55796"/>
                </a:lnTo>
                <a:cubicBezTo>
                  <a:pt x="98995" y="20087"/>
                  <a:pt x="50501" y="0"/>
                  <a:pt x="0" y="0"/>
                </a:cubicBezTo>
                <a:close/>
              </a:path>
            </a:pathLst>
          </a:custGeom>
          <a:solidFill>
            <a:srgbClr val="206DC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矩形: 圆顶角 9">
            <a:extLst>
              <a:ext uri="{FF2B5EF4-FFF2-40B4-BE49-F238E27FC236}">
                <a16:creationId xmlns:a16="http://schemas.microsoft.com/office/drawing/2014/main" id="{9D7F1B42-BEFC-93D1-52B6-E4D0449D998D}"/>
              </a:ext>
            </a:extLst>
          </p:cNvPr>
          <p:cNvSpPr>
            <a:spLocks noGrp="1"/>
          </p:cNvSpPr>
          <p:nvPr/>
        </p:nvSpPr>
        <p:spPr>
          <a:xfrm flipV="1">
            <a:off x="944215" y="5784573"/>
            <a:ext cx="10262639" cy="94988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206DC5"/>
          </a:solidFill>
          <a:ln w="6350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45000"/>
                    <a:lumOff val="55000"/>
                  </a:schemeClr>
                </a:gs>
              </a:gsLst>
              <a:lin ang="16200000" scaled="1"/>
              <a:tileRect/>
            </a:gradFill>
          </a:ln>
          <a:effectLst>
            <a:outerShdw blurRad="279400" dist="266700" dir="2700000" algn="tl" rotWithShape="0">
              <a:srgbClr val="206DC5">
                <a:alpha val="7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DB9ADEB-5A44-50B7-871A-7F176F67F58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57A7013-934C-4525-BC8C-761F5AFD285E}" type="datetimeFigureOut">
              <a:t>2026/10/20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ADC4B67-4FFE-7DF1-A99C-B4CCB0442E6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8E8530C-6587-7873-0566-6F9909962DBE}"/>
              </a:ext>
            </a:extLst>
          </p:cNvPr>
          <p:cNvSpPr>
            <a:spLocks noGrp="1"/>
          </p:cNvSpPr>
          <p:nvPr/>
        </p:nvSpPr>
        <p:spPr>
          <a:xfrm>
            <a:off x="304157" y="242014"/>
            <a:ext cx="544839" cy="544841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/>
              </a:gs>
            </a:gsLst>
            <a:lin ang="5400000" scaled="1"/>
          </a:gradFill>
          <a:ln w="41275"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 sz="5400"/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82EBB448-D096-4911-8D89-64EF1E24E83E}"/>
              </a:ext>
            </a:extLst>
          </p:cNvPr>
          <p:cNvSpPr>
            <a:spLocks noGrp="1"/>
          </p:cNvSpPr>
          <p:nvPr/>
        </p:nvSpPr>
        <p:spPr>
          <a:xfrm>
            <a:off x="824933" y="780888"/>
            <a:ext cx="11055394" cy="0"/>
          </a:xfrm>
          <a:prstGeom prst="line">
            <a:avLst/>
          </a:prstGeom>
          <a:ln>
            <a:solidFill>
              <a:srgbClr val="206D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2B1ACA32-3ABA-D404-13B9-29F8CD1C1BA1}"/>
              </a:ext>
            </a:extLst>
          </p:cNvPr>
          <p:cNvSpPr>
            <a:spLocks noGrp="1"/>
          </p:cNvSpPr>
          <p:nvPr/>
        </p:nvSpPr>
        <p:spPr>
          <a:xfrm>
            <a:off x="11694961" y="6454047"/>
            <a:ext cx="455789" cy="365125"/>
          </a:xfrm>
          <a:prstGeom prst="rect">
            <a:avLst/>
          </a:prstGeom>
        </p:spPr>
        <p:txBody>
          <a:bodyPr/>
          <a:lstStyle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fld id="{69ADA83D-DF77-AA76-6DA0-7A70CD7A4D20}" type="slidenum">
              <a:rPr sz="1400"/>
              <a:t>‹#›</a:t>
            </a:fld>
            <a:endParaRPr sz="140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D4FCD9-0605-49DC-A474-FC0CC15FD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87F17DB-6D3D-AAAB-0847-53DB8D4BD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C094B54-7CF2-9917-40A1-4EDB58818C13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C59C92-6BAA-63E3-23EE-C4C8A0E51050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57A7013-934C-4525-BC8C-761F5AFD285E}" type="datetimeFigureOut">
              <a:t>2026/10/20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4A75A9B-691D-7B47-9E3E-6386DEADB12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BCB687-0E53-36C3-43E6-E9D7712613B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9ADA83D-DF77-AA76-6DA0-7A70CD7A4D2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BBD27E6-D7ED-0DB7-1931-E2248DF80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buNone/>
              <a:defRPr sz="32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3C3CDD4F-8AFA-A9AC-3DDD-92F68BB51F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5DF1797-F858-CC04-4618-D6B15C262E6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636D184-F0E4-CAE1-9C26-1E3698C95CD9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57A7013-934C-4525-BC8C-761F5AFD285E}" type="datetimeFigureOut">
              <a:t>2026/10/20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F2CB0F6-D135-8E4F-B8A6-E0705704D5A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0F7DFA-820C-7368-69E4-20D7E3DB573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9ADA83D-DF77-AA76-6DA0-7A70CD7A4D2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C118CE-572A-F534-9465-DE27537BE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D2AD493-9C43-D8A1-85BD-9AA7AFA96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C8BBD7-CD40-35EB-AFD0-9DB58F7EA73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57A7013-934C-4525-BC8C-761F5AFD285E}" type="datetimeFigureOut">
              <a:t>2026/10/20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CDCC5E0-8A2B-1C59-3E32-BA96AD29DDC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F7D1E1-291D-5863-37A0-5768ABBF3D4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9ADA83D-DF77-AA76-6DA0-7A70CD7A4D2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3AC804C-FD20-A852-83A9-0A30E5F37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4E14768-6406-4C12-5E02-4127115D7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4AE086-05ED-2580-B20E-FFE9CA90C2C6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57A7013-934C-4525-BC8C-761F5AFD285E}" type="datetimeFigureOut">
              <a:t>2026/10/20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AEF662B-D956-6136-534E-16FDF21863D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542B47F-59B6-6795-64B9-25531306DCB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69ADA83D-DF77-AA76-6DA0-7A70CD7A4D20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46085FC-C99B-5612-0E31-B35373898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7BB893-2667-C99A-DDE8-1E30AA8D5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buNone/>
            </a:pPr>
            <a:r>
              <a:t>单击此处编辑母版文本样式</a:t>
            </a:r>
          </a:p>
          <a:p>
            <a:pPr lvl="1">
              <a:buNone/>
            </a:pPr>
            <a:r>
              <a:t>二级</a:t>
            </a:r>
          </a:p>
          <a:p>
            <a:pPr lvl="2">
              <a:buNone/>
            </a:pPr>
            <a:r>
              <a:t>三级</a:t>
            </a:r>
          </a:p>
          <a:p>
            <a:pPr lvl="3">
              <a:buNone/>
            </a:pPr>
            <a:r>
              <a:t>四级</a:t>
            </a:r>
          </a:p>
          <a:p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6004DD6-92AA-2AB1-A6C7-C7811BFF1F6F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7A7013-934C-4525-BC8C-761F5AFD285E}" type="datetimeFigureOut">
              <a:t>2026/10/20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F6E108-9A28-923F-0830-3EE219661F5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EA3497-AFD6-5CB0-8B3F-FA37366F4D40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ADA83D-DF77-AA76-6DA0-7A70CD7A4D20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?>
<Relationships xmlns="http://schemas.openxmlformats.org/package/2006/relationships"><Relationship Id="rId3" Type="http://schemas.openxmlformats.org/officeDocument/2006/relationships/image" Target="../media/image1.png" /><Relationship Id="rId1" Type="http://schemas.openxmlformats.org/officeDocument/2006/relationships/slideLayout" Target="../slideLayouts/slideLayout1.xml" />  <Relationship Id="rId4" Type="http://schemas.openxmlformats.org/officeDocument/2006/relationships/notesSlide" Target="../notesSlides/notesSlide1_tf1.xml"/>
</Relationships>
</file>

<file path=ppt/slides/_rels/slide2.xml.rels><?xml version='1.0' encoding='utf-8'?>
<Relationships xmlns="http://schemas.openxmlformats.org/package/2006/relationships"><Relationship Id="rId3" Type="http://schemas.openxmlformats.org/officeDocument/2006/relationships/image" Target="../media/image1.png" /><Relationship Id="rId1" Type="http://schemas.openxmlformats.org/officeDocument/2006/relationships/slideLayout" Target="../slideLayouts/slideLayout7.xml" />  <Relationship Id="rId4" Type="http://schemas.openxmlformats.org/officeDocument/2006/relationships/notesSlide" Target="../notesSlides/notesSlide2_tf1.xml"/>
</Relationships>
</file>

<file path=ppt/slides/_rels/slide3.xml.rels><?xml version='1.0' encoding='utf-8'?>
<Relationships xmlns="http://schemas.openxmlformats.org/package/2006/relationships"><Relationship Id="rId3" Type="http://schemas.openxmlformats.org/officeDocument/2006/relationships/image" Target="../media/image1.png" /><Relationship Id="rId1" Type="http://schemas.openxmlformats.org/officeDocument/2006/relationships/slideLayout" Target="../slideLayouts/slideLayout7.xml" />  <Relationship Id="rId4" Type="http://schemas.openxmlformats.org/officeDocument/2006/relationships/notesSlide" Target="../notesSlides/notesSlide3_tf1.xml"/>
</Relationships>
</file>

<file path=ppt/slides/_rels/slide4.xml.rels><?xml version='1.0' encoding='utf-8'?>
<Relationships xmlns="http://schemas.openxmlformats.org/package/2006/relationships"><Relationship Id="rId3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2.png" />  <Relationship Id="rId5" Type="http://schemas.openxmlformats.org/officeDocument/2006/relationships/notesSlide" Target="../notesSlides/notesSlide4_tf1.xml"/>
</Relationships>
</file>

<file path=ppt/slides/_rels/slide5.xml.rels><?xml version='1.0' encoding='utf-8'?>
<Relationships xmlns="http://schemas.openxmlformats.org/package/2006/relationships"><Relationship Id="rId3" Type="http://schemas.openxmlformats.org/officeDocument/2006/relationships/image" Target="../media/image1.png" /><Relationship Id="rId1" Type="http://schemas.openxmlformats.org/officeDocument/2006/relationships/slideLayout" Target="../slideLayouts/slideLayout7.xml" />  <Relationship Id="rId4" Type="http://schemas.openxmlformats.org/officeDocument/2006/relationships/notesSlide" Target="../notesSlides/notesSlide5_tf1.xml"/>
</Relationships>
</file>

<file path=ppt/slides/_rels/slide6.xml.rels><?xml version='1.0' encoding='utf-8'?>
<Relationships xmlns="http://schemas.openxmlformats.org/package/2006/relationships"><Relationship Id="rId3" Type="http://schemas.openxmlformats.org/officeDocument/2006/relationships/image" Target="../media/image1.png" /><Relationship Id="rId1" Type="http://schemas.openxmlformats.org/officeDocument/2006/relationships/slideLayout" Target="../slideLayouts/slideLayout7.xml" />  <Relationship Id="rId4" Type="http://schemas.openxmlformats.org/officeDocument/2006/relationships/notesSlide" Target="../notesSlides/notesSlide6_tf1.xml"/>
</Relationships>
</file>

<file path=ppt/slides/_rels/slide7.xml.rels><?xml version='1.0' encoding='utf-8'?>
<Relationships xmlns="http://schemas.openxmlformats.org/package/2006/relationships"><Relationship Id="rId3" Type="http://schemas.openxmlformats.org/officeDocument/2006/relationships/image" Target="../media/image1.png" /><Relationship Id="rId1" Type="http://schemas.openxmlformats.org/officeDocument/2006/relationships/slideLayout" Target="../slideLayouts/slideLayout7.xml" />  <Relationship Id="rId4" Type="http://schemas.openxmlformats.org/officeDocument/2006/relationships/notesSlide" Target="../notesSlides/notesSlide7_tf1.xml"/>
</Relationships>
</file>

<file path=ppt/slides/_rels/slide8.xml.rels><?xml version='1.0' encoding='utf-8'?>
<Relationships xmlns="http://schemas.openxmlformats.org/package/2006/relationships"><Relationship Id="rId3" Type="http://schemas.openxmlformats.org/officeDocument/2006/relationships/image" Target="../media/image1.png" /><Relationship Id="rId1" Type="http://schemas.openxmlformats.org/officeDocument/2006/relationships/slideLayout" Target="../slideLayouts/slideLayout7.xml" />  <Relationship Id="rId4" Type="http://schemas.openxmlformats.org/officeDocument/2006/relationships/notesSlide" Target="../notesSlides/notesSlide8_tf1.xml"/>
</Relationships>
</file>

<file path=ppt/slides/_rels/slide9.xml.rels><?xml version='1.0' encoding='utf-8'?>
<Relationships xmlns="http://schemas.openxmlformats.org/package/2006/relationships"><Relationship Id="rId3" Type="http://schemas.openxmlformats.org/officeDocument/2006/relationships/image" Target="../media/image1.png" /><Relationship Id="rId1" Type="http://schemas.openxmlformats.org/officeDocument/2006/relationships/slideLayout" Target="../slideLayouts/slideLayout7.xml" />  <Relationship Id="rId4" Type="http://schemas.openxmlformats.org/officeDocument/2006/relationships/notesSlide" Target="../notesSlides/notesSlide9_tf1.xml"/>
</Relationships>
</file>

<file path=ppt/slides/_rels/slide10.xml.rels><?xml version='1.0' encoding='utf-8'?>
<Relationships xmlns="http://schemas.openxmlformats.org/package/2006/relationships"><Relationship Id="rId3" Type="http://schemas.openxmlformats.org/officeDocument/2006/relationships/image" Target="../media/image1.png" /><Relationship Id="rId1" Type="http://schemas.openxmlformats.org/officeDocument/2006/relationships/slideLayout" Target="../slideLayouts/slideLayout7.xml" />  <Relationship Id="rId4" Type="http://schemas.openxmlformats.org/officeDocument/2006/relationships/notesSlide" Target="../notesSlides/notesSlide10_tf1.xml"/>
</Relationships>
</file>

<file path=ppt/slides/_rels/slide11.xml.rels><?xml version='1.0' encoding='utf-8'?>
<Relationships xmlns="http://schemas.openxmlformats.org/package/2006/relationships"><Relationship Id="rId3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4" Type="http://schemas.openxmlformats.org/officeDocument/2006/relationships/image" Target="../media/image3.png" />  <Relationship Id="rId5" Type="http://schemas.openxmlformats.org/officeDocument/2006/relationships/notesSlide" Target="../notesSlides/notesSlide11_tf1.xml"/>
</Relationships>
</file>

<file path=ppt/slides/_rels/slide12.xml.rels><?xml version='1.0' encoding='utf-8'?>
<Relationships xmlns="http://schemas.openxmlformats.org/package/2006/relationships"><Relationship Id="rId3" Type="http://schemas.openxmlformats.org/officeDocument/2006/relationships/image" Target="../media/image1.png" /><Relationship Id="rId1" Type="http://schemas.openxmlformats.org/officeDocument/2006/relationships/slideLayout" Target="../slideLayouts/slideLayout7.xml" />  <Relationship Id="rId4" Type="http://schemas.openxmlformats.org/officeDocument/2006/relationships/notesSlide" Target="../notesSlides/notesSlide12_tf1.xml"/>
</Relationships>
</file>

<file path=ppt/slides/_rels/slide13.xml.rels><?xml version='1.0' encoding='utf-8'?>
<Relationships xmlns="http://schemas.openxmlformats.org/package/2006/relationships"><Relationship Id="rId3" Type="http://schemas.openxmlformats.org/officeDocument/2006/relationships/image" Target="../media/image1.png" /><Relationship Id="rId1" Type="http://schemas.openxmlformats.org/officeDocument/2006/relationships/slideLayout" Target="../slideLayouts/slideLayout7.xml" />  <Relationship Id="rId4" Type="http://schemas.openxmlformats.org/officeDocument/2006/relationships/notesSlide" Target="../notesSlides/notesSlide13_tf1.xml"/>
</Relationships>
</file>

<file path=ppt/slides/_rels/slide14.xml.rels><?xml version='1.0' encoding='utf-8'?>
<Relationships xmlns="http://schemas.openxmlformats.org/package/2006/relationships"><Relationship Id="rId3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6.png" /><Relationship Id="rId5" Type="http://schemas.openxmlformats.org/officeDocument/2006/relationships/image" Target="../media/image5.png" /><Relationship Id="rId4" Type="http://schemas.openxmlformats.org/officeDocument/2006/relationships/image" Target="../media/image4.png" />  <Relationship Id="rId7" Type="http://schemas.openxmlformats.org/officeDocument/2006/relationships/notesSlide" Target="../notesSlides/notesSlide14_tf1.xml"/>
</Relationships>
</file>

<file path=ppt/slides/_rels/slide15.xml.rels><?xml version='1.0' encoding='utf-8'?>
<Relationships xmlns="http://schemas.openxmlformats.org/package/2006/relationships"><Relationship Id="rId3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6" Type="http://schemas.openxmlformats.org/officeDocument/2006/relationships/image" Target="../media/image9.png" /><Relationship Id="rId5" Type="http://schemas.openxmlformats.org/officeDocument/2006/relationships/image" Target="../media/image8.png" /><Relationship Id="rId4" Type="http://schemas.openxmlformats.org/officeDocument/2006/relationships/image" Target="../media/image7.png" />  <Relationship Id="rId7" Type="http://schemas.openxmlformats.org/officeDocument/2006/relationships/notesSlide" Target="../notesSlides/notesSlide15_tf1.xml"/>
</Relationships>
</file>

<file path=ppt/slides/_rels/slide16.xml.rels><?xml version='1.0' encoding='utf-8'?>
<Relationships xmlns="http://schemas.openxmlformats.org/package/2006/relationships"><Relationship Id="rId3" Type="http://schemas.openxmlformats.org/officeDocument/2006/relationships/image" Target="../media/image1.png" /><Relationship Id="rId1" Type="http://schemas.openxmlformats.org/officeDocument/2006/relationships/slideLayout" Target="../slideLayouts/slideLayout7.xml" />  <Relationship Id="rId4" Type="http://schemas.openxmlformats.org/officeDocument/2006/relationships/notesSlide" Target="../notesSlides/notesSlide16_tf1.xml"/>
</Relationships>
</file>

<file path=ppt/slides/_rels/slide17.xml.rels><?xml version='1.0' encoding='utf-8'?>
<Relationships xmlns="http://schemas.openxmlformats.org/package/2006/relationships"><Relationship Id="rId3" Type="http://schemas.openxmlformats.org/officeDocument/2006/relationships/image" Target="../media/image1.png" /><Relationship Id="rId1" Type="http://schemas.openxmlformats.org/officeDocument/2006/relationships/slideLayout" Target="../slideLayouts/slideLayout6.xml" /><Relationship Id="rId4" Type="http://schemas.openxmlformats.org/officeDocument/2006/relationships/image" Target="../media/image10.png" />  <Relationship Id="rId5" Type="http://schemas.openxmlformats.org/officeDocument/2006/relationships/notesSlide" Target="../notesSlides/notesSlide17_tf1.xml"/>
</Relationships>
</file>

<file path=ppt/slides/_rels/slide18.xml.rels><?xml version='1.0' encoding='utf-8'?>
<Relationships xmlns="http://schemas.openxmlformats.org/package/2006/relationships"><Relationship Id="rId3" Type="http://schemas.openxmlformats.org/officeDocument/2006/relationships/image" Target="../media/image1.png" /><Relationship Id="rId1" Type="http://schemas.openxmlformats.org/officeDocument/2006/relationships/slideLayout" Target="../slideLayouts/slideLayout7.xml" /><Relationship Id="rId5" Type="http://schemas.openxmlformats.org/officeDocument/2006/relationships/hyperlink" Target="https://github.com/roboflow/rf-detr" TargetMode="External" /><Relationship Id="rId4" Type="http://schemas.openxmlformats.org/officeDocument/2006/relationships/hyperlink" Target="https://github.com/TingFeng36/SATR-SSM" TargetMode="External" />  <Relationship Id="rId6" Type="http://schemas.openxmlformats.org/officeDocument/2006/relationships/notesSlide" Target="../notesSlides/notesSlide18_tf1.xml"/>
</Relationships>
</file>

<file path=ppt/slides/_rels/slide19.xml.rels><?xml version='1.0' encoding='utf-8'?>
<Relationships xmlns="http://schemas.openxmlformats.org/package/2006/relationships"><Relationship Id="rId3" Type="http://schemas.openxmlformats.org/officeDocument/2006/relationships/image" Target="../media/image1.png" /><Relationship Id="rId1" Type="http://schemas.openxmlformats.org/officeDocument/2006/relationships/slideLayout" Target="../slideLayouts/slideLayout1.xml" />    <Relationship Id="rId4" Type="http://schemas.openxmlformats.org/officeDocument/2006/relationships/notesSlide" Target="../notesSlides/notesSlide1_tf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71">
            <a:extLst>
              <a:ext uri="{FF2B5EF4-FFF2-40B4-BE49-F238E27FC236}">
                <a16:creationId xmlns:a16="http://schemas.microsoft.com/office/drawing/2014/main" id="{A74C394D-D5C0-9486-14EB-A525FFE0CF42}"/>
              </a:ext>
            </a:extLst>
          </p:cNvPr>
          <p:cNvSpPr>
            <a:spLocks noGrp="1"/>
          </p:cNvSpPr>
          <p:nvPr/>
        </p:nvSpPr>
        <p:spPr>
          <a:xfrm rot="18852915" flipH="1">
            <a:off x="632430" y="6310717"/>
            <a:ext cx="138621" cy="139589"/>
          </a:xfrm>
          <a:custGeom>
            <a:avLst/>
            <a:gdLst>
              <a:gd name="T0" fmla="*/ 4 w 601"/>
              <a:gd name="T1" fmla="*/ 552 h 605"/>
              <a:gd name="T2" fmla="*/ 0 w 601"/>
              <a:gd name="T3" fmla="*/ 60 h 605"/>
              <a:gd name="T4" fmla="*/ 48 w 601"/>
              <a:gd name="T5" fmla="*/ 10 h 605"/>
              <a:gd name="T6" fmla="*/ 97 w 601"/>
              <a:gd name="T7" fmla="*/ 59 h 605"/>
              <a:gd name="T8" fmla="*/ 97 w 601"/>
              <a:gd name="T9" fmla="*/ 59 h 605"/>
              <a:gd name="T10" fmla="*/ 100 w 601"/>
              <a:gd name="T11" fmla="*/ 432 h 605"/>
              <a:gd name="T12" fmla="*/ 514 w 601"/>
              <a:gd name="T13" fmla="*/ 18 h 605"/>
              <a:gd name="T14" fmla="*/ 584 w 601"/>
              <a:gd name="T15" fmla="*/ 22 h 605"/>
              <a:gd name="T16" fmla="*/ 584 w 601"/>
              <a:gd name="T17" fmla="*/ 88 h 605"/>
              <a:gd name="T18" fmla="*/ 168 w 601"/>
              <a:gd name="T19" fmla="*/ 504 h 605"/>
              <a:gd name="T20" fmla="*/ 541 w 601"/>
              <a:gd name="T21" fmla="*/ 507 h 605"/>
              <a:gd name="T22" fmla="*/ 589 w 601"/>
              <a:gd name="T23" fmla="*/ 556 h 605"/>
              <a:gd name="T24" fmla="*/ 540 w 601"/>
              <a:gd name="T25" fmla="*/ 605 h 605"/>
              <a:gd name="T26" fmla="*/ 540 w 601"/>
              <a:gd name="T27" fmla="*/ 605 h 605"/>
              <a:gd name="T28" fmla="*/ 52 w 601"/>
              <a:gd name="T29" fmla="*/ 601 h 605"/>
              <a:gd name="T30" fmla="*/ 4 w 601"/>
              <a:gd name="T31" fmla="*/ 552 h 605"/>
            </a:gdLst>
            <a:ahLst/>
            <a:cxnLst/>
            <a:rect l="0" t="0" r="r" b="b"/>
            <a:pathLst>
              <a:path w="601" h="605">
                <a:moveTo>
                  <a:pt x="4" y="552"/>
                </a:moveTo>
                <a:cubicBezTo>
                  <a:pt x="0" y="60"/>
                  <a:pt x="0" y="60"/>
                  <a:pt x="0" y="60"/>
                </a:cubicBezTo>
                <a:cubicBezTo>
                  <a:pt x="0" y="33"/>
                  <a:pt x="21" y="11"/>
                  <a:pt x="48" y="10"/>
                </a:cubicBezTo>
                <a:cubicBezTo>
                  <a:pt x="75" y="10"/>
                  <a:pt x="97" y="32"/>
                  <a:pt x="97" y="59"/>
                </a:cubicBezTo>
                <a:cubicBezTo>
                  <a:pt x="97" y="59"/>
                  <a:pt x="97" y="59"/>
                  <a:pt x="97" y="59"/>
                </a:cubicBezTo>
                <a:cubicBezTo>
                  <a:pt x="100" y="432"/>
                  <a:pt x="100" y="432"/>
                  <a:pt x="100" y="432"/>
                </a:cubicBezTo>
                <a:cubicBezTo>
                  <a:pt x="514" y="18"/>
                  <a:pt x="514" y="18"/>
                  <a:pt x="514" y="18"/>
                </a:cubicBezTo>
                <a:cubicBezTo>
                  <a:pt x="534" y="0"/>
                  <a:pt x="565" y="1"/>
                  <a:pt x="584" y="22"/>
                </a:cubicBezTo>
                <a:cubicBezTo>
                  <a:pt x="601" y="41"/>
                  <a:pt x="601" y="69"/>
                  <a:pt x="584" y="88"/>
                </a:cubicBezTo>
                <a:cubicBezTo>
                  <a:pt x="168" y="504"/>
                  <a:pt x="168" y="504"/>
                  <a:pt x="168" y="504"/>
                </a:cubicBezTo>
                <a:cubicBezTo>
                  <a:pt x="541" y="507"/>
                  <a:pt x="541" y="507"/>
                  <a:pt x="541" y="507"/>
                </a:cubicBezTo>
                <a:cubicBezTo>
                  <a:pt x="567" y="507"/>
                  <a:pt x="589" y="529"/>
                  <a:pt x="589" y="556"/>
                </a:cubicBezTo>
                <a:cubicBezTo>
                  <a:pt x="588" y="583"/>
                  <a:pt x="567" y="605"/>
                  <a:pt x="540" y="605"/>
                </a:cubicBezTo>
                <a:cubicBezTo>
                  <a:pt x="540" y="605"/>
                  <a:pt x="540" y="605"/>
                  <a:pt x="540" y="605"/>
                </a:cubicBezTo>
                <a:cubicBezTo>
                  <a:pt x="52" y="601"/>
                  <a:pt x="52" y="601"/>
                  <a:pt x="52" y="601"/>
                </a:cubicBezTo>
                <a:cubicBezTo>
                  <a:pt x="25" y="601"/>
                  <a:pt x="4" y="579"/>
                  <a:pt x="4" y="5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0" i="0" u="none" strike="noStrike" kern="120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A17DE243-F9AF-5400-E7F7-7369947E8EC3}"/>
              </a:ext>
            </a:extLst>
          </p:cNvPr>
          <p:cNvSpPr>
            <a:spLocks noGrp="1"/>
          </p:cNvSpPr>
          <p:nvPr/>
        </p:nvSpPr>
        <p:spPr>
          <a:xfrm>
            <a:off x="11395087" y="6018960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06E907F5-ED2A-FF37-575A-8FF5DED1631D}"/>
              </a:ext>
            </a:extLst>
          </p:cNvPr>
          <p:cNvSpPr>
            <a:spLocks noGrp="1"/>
          </p:cNvSpPr>
          <p:nvPr/>
        </p:nvSpPr>
        <p:spPr>
          <a:xfrm>
            <a:off x="11527938" y="6018960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5779F462-CB5A-7F55-C815-67A0FC413D1C}"/>
              </a:ext>
            </a:extLst>
          </p:cNvPr>
          <p:cNvSpPr>
            <a:spLocks noGrp="1"/>
          </p:cNvSpPr>
          <p:nvPr/>
        </p:nvSpPr>
        <p:spPr>
          <a:xfrm>
            <a:off x="11660789" y="6018960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4D291E69-09CE-86E0-0C0C-61248CC98BEA}"/>
              </a:ext>
            </a:extLst>
          </p:cNvPr>
          <p:cNvSpPr>
            <a:spLocks noGrp="1"/>
          </p:cNvSpPr>
          <p:nvPr/>
        </p:nvSpPr>
        <p:spPr>
          <a:xfrm>
            <a:off x="11793640" y="6018960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2AAC0F25-FDAD-DBBD-FF3F-336592F7B479}"/>
              </a:ext>
            </a:extLst>
          </p:cNvPr>
          <p:cNvSpPr>
            <a:spLocks noGrp="1"/>
          </p:cNvSpPr>
          <p:nvPr/>
        </p:nvSpPr>
        <p:spPr>
          <a:xfrm>
            <a:off x="11395087" y="6140461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6FF5EAD5-E428-78C1-2047-F6A45E404EAC}"/>
              </a:ext>
            </a:extLst>
          </p:cNvPr>
          <p:cNvSpPr>
            <a:spLocks noGrp="1"/>
          </p:cNvSpPr>
          <p:nvPr/>
        </p:nvSpPr>
        <p:spPr>
          <a:xfrm>
            <a:off x="11527938" y="6140461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422AE7AB-3FE7-DAA9-0B2D-7A8CC76E178E}"/>
              </a:ext>
            </a:extLst>
          </p:cNvPr>
          <p:cNvSpPr>
            <a:spLocks noGrp="1"/>
          </p:cNvSpPr>
          <p:nvPr/>
        </p:nvSpPr>
        <p:spPr>
          <a:xfrm>
            <a:off x="11660789" y="6140461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B7CE0DE5-26BC-DADD-095D-D549FB11DAE3}"/>
              </a:ext>
            </a:extLst>
          </p:cNvPr>
          <p:cNvSpPr>
            <a:spLocks noGrp="1"/>
          </p:cNvSpPr>
          <p:nvPr/>
        </p:nvSpPr>
        <p:spPr>
          <a:xfrm>
            <a:off x="11793640" y="6140461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06615468-631B-84AB-D2BE-48F9105CFEA6}"/>
              </a:ext>
            </a:extLst>
          </p:cNvPr>
          <p:cNvSpPr>
            <a:spLocks noGrp="1"/>
          </p:cNvSpPr>
          <p:nvPr/>
        </p:nvSpPr>
        <p:spPr>
          <a:xfrm>
            <a:off x="11395087" y="6261961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1BEE41F0-3784-B025-74A1-D990F0E37681}"/>
              </a:ext>
            </a:extLst>
          </p:cNvPr>
          <p:cNvSpPr>
            <a:spLocks noGrp="1"/>
          </p:cNvSpPr>
          <p:nvPr/>
        </p:nvSpPr>
        <p:spPr>
          <a:xfrm>
            <a:off x="11527938" y="6261961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98FEAE93-9023-D506-107B-11B1626B62CD}"/>
              </a:ext>
            </a:extLst>
          </p:cNvPr>
          <p:cNvSpPr>
            <a:spLocks noGrp="1"/>
          </p:cNvSpPr>
          <p:nvPr/>
        </p:nvSpPr>
        <p:spPr>
          <a:xfrm>
            <a:off x="11660789" y="6261961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FE7AD484-460F-1131-2334-6D040DAD2C93}"/>
              </a:ext>
            </a:extLst>
          </p:cNvPr>
          <p:cNvSpPr>
            <a:spLocks noGrp="1"/>
          </p:cNvSpPr>
          <p:nvPr/>
        </p:nvSpPr>
        <p:spPr>
          <a:xfrm>
            <a:off x="11793640" y="6261961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0724D405-4143-4452-C16C-E6695380A2D0}"/>
              </a:ext>
            </a:extLst>
          </p:cNvPr>
          <p:cNvSpPr>
            <a:spLocks noGrp="1"/>
          </p:cNvSpPr>
          <p:nvPr/>
        </p:nvSpPr>
        <p:spPr>
          <a:xfrm>
            <a:off x="11395087" y="6383462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id="{BF7609BE-CAB1-5D3F-F78A-F4D22A8B3256}"/>
              </a:ext>
            </a:extLst>
          </p:cNvPr>
          <p:cNvSpPr>
            <a:spLocks noGrp="1"/>
          </p:cNvSpPr>
          <p:nvPr/>
        </p:nvSpPr>
        <p:spPr>
          <a:xfrm>
            <a:off x="11527938" y="6383462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id="{2F973C45-0B69-ECD8-C505-CCC7B605FEBB}"/>
              </a:ext>
            </a:extLst>
          </p:cNvPr>
          <p:cNvSpPr>
            <a:spLocks noGrp="1"/>
          </p:cNvSpPr>
          <p:nvPr/>
        </p:nvSpPr>
        <p:spPr>
          <a:xfrm>
            <a:off x="11660789" y="6383462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37AC7B3D-28FE-7154-60F5-01C933CB10BF}"/>
              </a:ext>
            </a:extLst>
          </p:cNvPr>
          <p:cNvSpPr>
            <a:spLocks noGrp="1"/>
          </p:cNvSpPr>
          <p:nvPr/>
        </p:nvSpPr>
        <p:spPr>
          <a:xfrm>
            <a:off x="11793640" y="6383462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F3C71924-8DE6-9028-E00E-2949BA7AF690}"/>
              </a:ext>
            </a:extLst>
          </p:cNvPr>
          <p:cNvSpPr>
            <a:spLocks noGrp="1"/>
          </p:cNvSpPr>
          <p:nvPr/>
        </p:nvSpPr>
        <p:spPr>
          <a:xfrm>
            <a:off x="11395087" y="6504962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椭圆 47">
            <a:extLst>
              <a:ext uri="{FF2B5EF4-FFF2-40B4-BE49-F238E27FC236}">
                <a16:creationId xmlns:a16="http://schemas.microsoft.com/office/drawing/2014/main" id="{72500D70-4811-55C6-52AC-54DED23E96F8}"/>
              </a:ext>
            </a:extLst>
          </p:cNvPr>
          <p:cNvSpPr>
            <a:spLocks noGrp="1"/>
          </p:cNvSpPr>
          <p:nvPr/>
        </p:nvSpPr>
        <p:spPr>
          <a:xfrm>
            <a:off x="11527938" y="6504962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椭圆 48">
            <a:extLst>
              <a:ext uri="{FF2B5EF4-FFF2-40B4-BE49-F238E27FC236}">
                <a16:creationId xmlns:a16="http://schemas.microsoft.com/office/drawing/2014/main" id="{822C7AAC-8DD5-2760-E026-AE5F561961A4}"/>
              </a:ext>
            </a:extLst>
          </p:cNvPr>
          <p:cNvSpPr>
            <a:spLocks noGrp="1"/>
          </p:cNvSpPr>
          <p:nvPr/>
        </p:nvSpPr>
        <p:spPr>
          <a:xfrm>
            <a:off x="11660789" y="6504962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椭圆 49">
            <a:extLst>
              <a:ext uri="{FF2B5EF4-FFF2-40B4-BE49-F238E27FC236}">
                <a16:creationId xmlns:a16="http://schemas.microsoft.com/office/drawing/2014/main" id="{4C304EB8-B998-514A-374E-1FD7711C0FE2}"/>
              </a:ext>
            </a:extLst>
          </p:cNvPr>
          <p:cNvSpPr>
            <a:spLocks noGrp="1"/>
          </p:cNvSpPr>
          <p:nvPr/>
        </p:nvSpPr>
        <p:spPr>
          <a:xfrm>
            <a:off x="11793640" y="6504962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A492E138-1CD5-7DF4-FDD8-F0E5D232B33A}"/>
              </a:ext>
            </a:extLst>
          </p:cNvPr>
          <p:cNvSpPr>
            <a:spLocks noGrp="1"/>
          </p:cNvSpPr>
          <p:nvPr/>
        </p:nvSpPr>
        <p:spPr>
          <a:xfrm flipV="1">
            <a:off x="317325" y="948032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65D901B5-658A-39C4-55F5-4BA41592A351}"/>
              </a:ext>
            </a:extLst>
          </p:cNvPr>
          <p:cNvSpPr>
            <a:spLocks noGrp="1"/>
          </p:cNvSpPr>
          <p:nvPr/>
        </p:nvSpPr>
        <p:spPr>
          <a:xfrm flipV="1">
            <a:off x="467202" y="948032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220DB08C-04FA-D230-E45C-A236E9953B36}"/>
              </a:ext>
            </a:extLst>
          </p:cNvPr>
          <p:cNvSpPr>
            <a:spLocks noGrp="1"/>
          </p:cNvSpPr>
          <p:nvPr/>
        </p:nvSpPr>
        <p:spPr>
          <a:xfrm flipV="1">
            <a:off x="617079" y="948032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2D32FDE9-62BA-BE16-1F90-2206511A87FB}"/>
              </a:ext>
            </a:extLst>
          </p:cNvPr>
          <p:cNvSpPr>
            <a:spLocks noGrp="1"/>
          </p:cNvSpPr>
          <p:nvPr/>
        </p:nvSpPr>
        <p:spPr>
          <a:xfrm flipV="1">
            <a:off x="766956" y="948032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F0D28B07-C490-5421-F267-76EB58F9807E}"/>
              </a:ext>
            </a:extLst>
          </p:cNvPr>
          <p:cNvSpPr>
            <a:spLocks noGrp="1"/>
          </p:cNvSpPr>
          <p:nvPr/>
        </p:nvSpPr>
        <p:spPr>
          <a:xfrm flipV="1">
            <a:off x="317325" y="810960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9270C405-DA3E-47C2-AE06-B0C2AC8A5721}"/>
              </a:ext>
            </a:extLst>
          </p:cNvPr>
          <p:cNvSpPr>
            <a:spLocks noGrp="1"/>
          </p:cNvSpPr>
          <p:nvPr/>
        </p:nvSpPr>
        <p:spPr>
          <a:xfrm flipV="1">
            <a:off x="467202" y="810960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D6CD6CE1-2988-F8F1-B760-6308089F40F7}"/>
              </a:ext>
            </a:extLst>
          </p:cNvPr>
          <p:cNvSpPr>
            <a:spLocks noGrp="1"/>
          </p:cNvSpPr>
          <p:nvPr/>
        </p:nvSpPr>
        <p:spPr>
          <a:xfrm flipV="1">
            <a:off x="617079" y="810960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0BA778A6-2BC6-F5C3-8907-352A69187FBD}"/>
              </a:ext>
            </a:extLst>
          </p:cNvPr>
          <p:cNvSpPr>
            <a:spLocks noGrp="1"/>
          </p:cNvSpPr>
          <p:nvPr/>
        </p:nvSpPr>
        <p:spPr>
          <a:xfrm flipV="1">
            <a:off x="766956" y="810960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2784DB5F-AC17-1EC7-792D-8279205DF436}"/>
              </a:ext>
            </a:extLst>
          </p:cNvPr>
          <p:cNvSpPr>
            <a:spLocks noGrp="1"/>
          </p:cNvSpPr>
          <p:nvPr/>
        </p:nvSpPr>
        <p:spPr>
          <a:xfrm flipV="1">
            <a:off x="317325" y="673888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720184B0-064C-BD9F-FEC8-96E4AA22C39E}"/>
              </a:ext>
            </a:extLst>
          </p:cNvPr>
          <p:cNvSpPr>
            <a:spLocks noGrp="1"/>
          </p:cNvSpPr>
          <p:nvPr/>
        </p:nvSpPr>
        <p:spPr>
          <a:xfrm flipV="1">
            <a:off x="467202" y="673888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" name="椭圆 71">
            <a:extLst>
              <a:ext uri="{FF2B5EF4-FFF2-40B4-BE49-F238E27FC236}">
                <a16:creationId xmlns:a16="http://schemas.microsoft.com/office/drawing/2014/main" id="{305FD798-F6A6-D2C4-FB05-37E8E64297EF}"/>
              </a:ext>
            </a:extLst>
          </p:cNvPr>
          <p:cNvSpPr>
            <a:spLocks noGrp="1"/>
          </p:cNvSpPr>
          <p:nvPr/>
        </p:nvSpPr>
        <p:spPr>
          <a:xfrm flipV="1">
            <a:off x="617079" y="673888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" name="椭圆 72">
            <a:extLst>
              <a:ext uri="{FF2B5EF4-FFF2-40B4-BE49-F238E27FC236}">
                <a16:creationId xmlns:a16="http://schemas.microsoft.com/office/drawing/2014/main" id="{D97300C8-A36E-7424-AD11-70D991B93B38}"/>
              </a:ext>
            </a:extLst>
          </p:cNvPr>
          <p:cNvSpPr>
            <a:spLocks noGrp="1"/>
          </p:cNvSpPr>
          <p:nvPr/>
        </p:nvSpPr>
        <p:spPr>
          <a:xfrm flipV="1">
            <a:off x="766956" y="673888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" name="椭圆 73">
            <a:extLst>
              <a:ext uri="{FF2B5EF4-FFF2-40B4-BE49-F238E27FC236}">
                <a16:creationId xmlns:a16="http://schemas.microsoft.com/office/drawing/2014/main" id="{5617327D-8631-A5A1-218B-47B1C5C6668B}"/>
              </a:ext>
            </a:extLst>
          </p:cNvPr>
          <p:cNvSpPr>
            <a:spLocks noGrp="1"/>
          </p:cNvSpPr>
          <p:nvPr/>
        </p:nvSpPr>
        <p:spPr>
          <a:xfrm flipV="1">
            <a:off x="317325" y="536816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" name="椭圆 74">
            <a:extLst>
              <a:ext uri="{FF2B5EF4-FFF2-40B4-BE49-F238E27FC236}">
                <a16:creationId xmlns:a16="http://schemas.microsoft.com/office/drawing/2014/main" id="{C6A15F9C-B52B-AFAD-7693-DA12160812AE}"/>
              </a:ext>
            </a:extLst>
          </p:cNvPr>
          <p:cNvSpPr>
            <a:spLocks noGrp="1"/>
          </p:cNvSpPr>
          <p:nvPr/>
        </p:nvSpPr>
        <p:spPr>
          <a:xfrm flipV="1">
            <a:off x="467202" y="536816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" name="椭圆 75">
            <a:extLst>
              <a:ext uri="{FF2B5EF4-FFF2-40B4-BE49-F238E27FC236}">
                <a16:creationId xmlns:a16="http://schemas.microsoft.com/office/drawing/2014/main" id="{72BD94BC-4F1D-F3F4-BA97-27FC1BC16853}"/>
              </a:ext>
            </a:extLst>
          </p:cNvPr>
          <p:cNvSpPr>
            <a:spLocks noGrp="1"/>
          </p:cNvSpPr>
          <p:nvPr/>
        </p:nvSpPr>
        <p:spPr>
          <a:xfrm flipV="1">
            <a:off x="617079" y="536816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" name="椭圆 76">
            <a:extLst>
              <a:ext uri="{FF2B5EF4-FFF2-40B4-BE49-F238E27FC236}">
                <a16:creationId xmlns:a16="http://schemas.microsoft.com/office/drawing/2014/main" id="{10B6FCD2-7E20-4486-4190-85C6FB83C2C9}"/>
              </a:ext>
            </a:extLst>
          </p:cNvPr>
          <p:cNvSpPr>
            <a:spLocks noGrp="1"/>
          </p:cNvSpPr>
          <p:nvPr/>
        </p:nvSpPr>
        <p:spPr>
          <a:xfrm flipV="1">
            <a:off x="766956" y="536816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id="{AC574729-13A3-9079-4156-613D7459E8E1}"/>
              </a:ext>
            </a:extLst>
          </p:cNvPr>
          <p:cNvSpPr>
            <a:spLocks noGrp="1"/>
          </p:cNvSpPr>
          <p:nvPr/>
        </p:nvSpPr>
        <p:spPr>
          <a:xfrm flipV="1">
            <a:off x="317325" y="399744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id="{AE8D1A68-BE58-3870-4567-FE804330FA7A}"/>
              </a:ext>
            </a:extLst>
          </p:cNvPr>
          <p:cNvSpPr>
            <a:spLocks noGrp="1"/>
          </p:cNvSpPr>
          <p:nvPr/>
        </p:nvSpPr>
        <p:spPr>
          <a:xfrm flipV="1">
            <a:off x="467202" y="399744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id="{8A7201A7-B54B-4291-A968-1F36CC477C4E}"/>
              </a:ext>
            </a:extLst>
          </p:cNvPr>
          <p:cNvSpPr>
            <a:spLocks noGrp="1"/>
          </p:cNvSpPr>
          <p:nvPr/>
        </p:nvSpPr>
        <p:spPr>
          <a:xfrm flipV="1">
            <a:off x="617079" y="399744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id="{0A6827B0-6E4D-C302-BC94-EEDFD999D13E}"/>
              </a:ext>
            </a:extLst>
          </p:cNvPr>
          <p:cNvSpPr>
            <a:spLocks noGrp="1"/>
          </p:cNvSpPr>
          <p:nvPr/>
        </p:nvSpPr>
        <p:spPr>
          <a:xfrm flipV="1">
            <a:off x="766956" y="399744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3" name="cover-title"/>
          <p:cNvSpPr/>
          <p:nvPr/>
        </p:nvSpPr>
        <p:spPr>
          <a:xfrm>
            <a:off x="812673" y="1849564"/>
            <a:ext cx="10858500" cy="2352675"/>
          </a:xfrm>
          <a:prstGeom prst="rect">
            <a:avLst/>
          </a:prstGeom>
          <a:noFill/>
          <a:ln>
            <a:noFill/>
          </a:ln>
        </p:spPr>
        <p:txBody>
          <a:bodyPr wrap="none" lIns="0" tIns="296418" rIns="291846" bIns="0" anchor="t" anchorCtr="0">
            <a:noAutofit/>
          </a:bodyPr>
          <a:lstStyle/>
          <a:p>
            <a:pPr algn="ctr">
              <a:lnSpc>
                <a:spcPts val="6675"/>
              </a:lnSpc>
            </a:pPr>
            <a:r>
              <a:rPr lang="zh-CN" sz="46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SATR-SSM 骨干的</a:t>
            </a:r>
          </a:p>
          <a:p>
            <a:pPr algn="ctr">
              <a:lnSpc>
                <a:spcPts val="6675"/>
              </a:lnSpc>
            </a:pPr>
            <a:r>
              <a:rPr lang="zh-CN" sz="5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跨检测器迁移验证</a:t>
            </a:r>
          </a:p>
        </p:txBody>
      </p:sp>
      <p:sp>
        <p:nvSpPr>
          <p:cNvPr id="84" name="cover-subtitle"/>
          <p:cNvSpPr/>
          <p:nvPr/>
        </p:nvSpPr>
        <p:spPr>
          <a:xfrm>
            <a:off x="1031843" y="4286822"/>
            <a:ext cx="9906000" cy="1200150"/>
          </a:xfrm>
          <a:prstGeom prst="rect">
            <a:avLst/>
          </a:prstGeom>
          <a:noFill/>
          <a:ln>
            <a:noFill/>
          </a:ln>
        </p:spPr>
        <p:txBody>
          <a:bodyPr wrap="none" lIns="222313" tIns="133731" rIns="0" bIns="0" anchor="t" anchorCtr="0">
            <a:noAutofit/>
          </a:bodyPr>
          <a:lstStyle/>
          <a:p>
            <a:pPr algn="ctr"/>
            <a:r>
              <a:rPr lang="zh-CN" sz="2550" b="1" dirty="0">
                <a:solidFill>
                  <a:srgbClr val="206DC5"/>
                </a:solidFill>
                <a:latin typeface="Microsoft YaHei"/>
                <a:ea typeface="Microsoft YaHei"/>
                <a:cs typeface="Microsoft YaHei"/>
              </a:rPr>
              <a:t>RF-DETR 全量复现 → COCO 配对子集 → M3FD 双场景检验</a:t>
            </a:r>
          </a:p>
        </p:txBody>
      </p:sp>
      <p:pic>
        <p:nvPicPr>
          <p:cNvPr id="4" name="图片 5">
            <a:extLst>
              <a:ext uri="{FF2B5EF4-FFF2-40B4-BE49-F238E27FC236}">
                <a16:creationId xmlns:a16="http://schemas.microsoft.com/office/drawing/2014/main" id="{A2F50BE5-D435-48F6-BD25-118BA8C3AD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59925" y="125413"/>
            <a:ext cx="2266950" cy="611187"/>
          </a:xfrm>
          <a:prstGeom prst="rect">
            <a:avLst/>
          </a:prstGeom>
          <a:ln>
            <a:noFill/>
          </a:ln>
        </p:spPr>
      </p:pic>
      <p:sp>
        <p:nvSpPr>
          <p:cNvPr id="5" name="文本框 4"/>
          <p:cNvSpPr/>
          <p:nvPr/>
        </p:nvSpPr>
        <p:spPr>
          <a:xfrm>
            <a:off x="2381250" y="5010150"/>
            <a:ext cx="7429500" cy="1000125"/>
          </a:xfrm>
          <a:prstGeom prst="rect">
            <a:avLst/>
          </a:prstGeom>
          <a:noFill/>
          <a:ln>
            <a:noFill/>
          </a:ln>
        </p:spPr>
        <p:txBody>
          <a:bodyPr wrap="none" lIns="0" tIns="117634" rIns="0" bIns="0" anchor="t" anchorCtr="0">
            <a:noAutofit/>
          </a:bodyPr>
          <a:lstStyle/>
          <a:p>
            <a:pPr algn="ctr">
              <a:lnSpc>
                <a:spcPts val="3525"/>
              </a:lnSpc>
            </a:pPr>
            <a:r>
              <a:rPr lang="zh-CN" sz="2180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视觉计算基础课程大作业 · 单人课程项目</a:t>
            </a:r>
          </a:p>
          <a:p>
            <a:pPr algn="ctr">
              <a:lnSpc>
                <a:spcPts val="3525"/>
              </a:lnSpc>
            </a:pPr>
            <a:r>
              <a:rPr lang="en-US" sz="2100" dirty="0">
                <a:solidFill>
                  <a:srgbClr val="206DC5"/>
                </a:solidFill>
                <a:latin typeface="Microsoft YaHei"/>
                <a:ea typeface="Microsoft YaHei"/>
                <a:cs typeface="Microsoft YaHei"/>
              </a:rPr>
              <a:t>RF-DETR-Nano v1.3.0 × SATR-SSM</a:t>
            </a:r>
          </a:p>
        </p:txBody>
      </p:sp>
    </p:spTree>
    <p:extLst>
      <p:ext uri="{BB962C8B-B14F-4D97-AF65-F5344CB8AC3E}">
        <p14:creationId xmlns:p14="http://schemas.microsoft.com/office/powerpoint/2010/main" val="3677688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/>
          <p:cNvSpPr/>
          <p:nvPr/>
        </p:nvSpPr>
        <p:spPr>
          <a:xfrm>
            <a:off x="1047750" y="190500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64389" rIns="0" bIns="0" anchor="t" anchorCtr="0">
            <a:noAutofit/>
          </a:bodyPr>
          <a:lstStyle/>
          <a:p>
            <a:pPr algn="l"/>
            <a:r>
              <a:rPr lang="zh-CN" sz="3300" b="1" dirty="0">
                <a:solidFill>
                  <a:srgbClr val="206DC5"/>
                </a:solidFill>
                <a:latin typeface="Microsoft YaHei"/>
                <a:ea typeface="Microsoft YaHei"/>
                <a:cs typeface="Microsoft YaHei"/>
              </a:rPr>
              <a:t>汇报目录</a:t>
            </a:r>
          </a:p>
        </p:txBody>
      </p:sp>
      <p:sp>
        <p:nvSpPr>
          <p:cNvPr id="11" name="chapter-number"/>
          <p:cNvSpPr/>
          <p:nvPr/>
        </p:nvSpPr>
        <p:spPr>
          <a:xfrm>
            <a:off x="304800" y="276225"/>
            <a:ext cx="5429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89059" rIns="0" bIns="0" anchor="t" anchorCtr="0">
            <a:noAutofit/>
          </a:bodyPr>
          <a:lstStyle/>
          <a:p>
            <a:pPr algn="ctr"/>
            <a:r>
              <a:rPr lang="zh-CN" sz="218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00</a:t>
            </a:r>
          </a:p>
        </p:txBody>
      </p:sp>
      <p:sp>
        <p:nvSpPr>
          <p:cNvPr id="12" name="course-footer"/>
          <p:cNvSpPr/>
          <p:nvPr/>
        </p:nvSpPr>
        <p:spPr>
          <a:xfrm>
            <a:off x="447675" y="6467475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41910" rIns="0" bIns="0" anchor="t" anchorCtr="0">
            <a:noAutofit/>
          </a:bodyPr>
          <a:lstStyle/>
          <a:p>
            <a:pPr algn="l"/>
            <a:r>
              <a:rPr lang="zh-CN" altLang="en-US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视觉计算基础与应用</a:t>
            </a:r>
            <a:r>
              <a:rPr lang="zh-CN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大作业</a:t>
            </a:r>
          </a:p>
        </p:txBody>
      </p:sp>
      <p:pic>
        <p:nvPicPr>
          <p:cNvPr id="3" name="图片 5">
            <a:extLst>
              <a:ext uri="{FF2B5EF4-FFF2-40B4-BE49-F238E27FC236}">
                <a16:creationId xmlns:a16="http://schemas.microsoft.com/office/drawing/2014/main" id="{D20EFCCF-0804-47D7-B992-9B42AB6AF0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59925" y="125413"/>
            <a:ext cx="2266950" cy="611187"/>
          </a:xfrm>
          <a:prstGeom prst="rect">
            <a:avLst/>
          </a:prstGeom>
          <a:ln>
            <a:noFill/>
          </a:ln>
        </p:spPr>
      </p:pic>
      <p:grpSp>
        <p:nvGrpSpPr>
          <p:cNvPr id="16" name="output-page-number"/>
          <p:cNvGrpSpPr/>
          <p:nvPr/>
        </p:nvGrpSpPr>
        <p:grpSpPr>
          <a:xfrm>
            <a:off x="11668125" y="6438900"/>
            <a:ext cx="504825" cy="381000"/>
            <a:chOff x="11668125" y="6438900"/>
            <a:chExt cx="504825" cy="381000"/>
          </a:xfrm>
        </p:grpSpPr>
        <p:sp>
          <p:nvSpPr>
            <p:cNvPr id="14" name="Rectangle 14"/>
            <p:cNvSpPr/>
            <p:nvPr/>
          </p:nvSpPr>
          <p:spPr>
            <a:xfrm>
              <a:off x="11668125" y="6438900"/>
              <a:ext cx="504825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855967" y="6508750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2</a:t>
              </a:r>
            </a:p>
          </p:txBody>
        </p:sp>
      </p:grpSp>
      <p:grpSp>
        <p:nvGrpSpPr>
          <p:cNvPr id="22" name="agenda-01"/>
          <p:cNvGrpSpPr/>
          <p:nvPr/>
        </p:nvGrpSpPr>
        <p:grpSpPr>
          <a:xfrm>
            <a:off x="1000125" y="1371600"/>
            <a:ext cx="10191750" cy="704850"/>
            <a:chOff x="1000125" y="1371600"/>
            <a:chExt cx="10191750" cy="704850"/>
          </a:xfrm>
        </p:grpSpPr>
        <p:sp>
          <p:nvSpPr>
            <p:cNvPr id="17" name="Rectangle 17"/>
            <p:cNvSpPr/>
            <p:nvPr/>
          </p:nvSpPr>
          <p:spPr>
            <a:xfrm>
              <a:off x="1000125" y="1371600"/>
              <a:ext cx="10191750" cy="7048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3E1F1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000125" y="1371600"/>
              <a:ext cx="1000125" cy="704850"/>
            </a:xfrm>
            <a:prstGeom prst="rect">
              <a:avLst/>
            </a:prstGeom>
            <a:solidFill>
              <a:srgbClr val="206DC5"/>
            </a:solidFill>
            <a:ln>
              <a:noFill/>
            </a:ln>
          </p:spPr>
        </p:sp>
        <p:sp>
          <p:nvSpPr>
            <p:cNvPr id="19" name="TextBox 19"/>
            <p:cNvSpPr/>
            <p:nvPr/>
          </p:nvSpPr>
          <p:spPr>
            <a:xfrm>
              <a:off x="1313878" y="1558957"/>
              <a:ext cx="37271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95" bIns="0" anchor="t" anchorCtr="0">
              <a:no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20" name="TextBox 20"/>
            <p:cNvSpPr/>
            <p:nvPr/>
          </p:nvSpPr>
          <p:spPr>
            <a:xfrm>
              <a:off x="2322576" y="1428750"/>
              <a:ext cx="119595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论文背景</a:t>
              </a:r>
            </a:p>
          </p:txBody>
        </p:sp>
        <p:sp>
          <p:nvSpPr>
            <p:cNvPr id="21" name="TextBox 21"/>
            <p:cNvSpPr/>
            <p:nvPr/>
          </p:nvSpPr>
          <p:spPr>
            <a:xfrm>
              <a:off x="4324731" y="1479518"/>
              <a:ext cx="380847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研究问题、SATR 方法与原论文表现</a:t>
              </a:r>
            </a:p>
          </p:txBody>
        </p:sp>
      </p:grpSp>
      <p:grpSp>
        <p:nvGrpSpPr>
          <p:cNvPr id="28" name="agenda-02"/>
          <p:cNvGrpSpPr/>
          <p:nvPr/>
        </p:nvGrpSpPr>
        <p:grpSpPr>
          <a:xfrm>
            <a:off x="1000125" y="2266950"/>
            <a:ext cx="10191750" cy="704850"/>
            <a:chOff x="1000125" y="2266950"/>
            <a:chExt cx="10191750" cy="704850"/>
          </a:xfrm>
        </p:grpSpPr>
        <p:sp>
          <p:nvSpPr>
            <p:cNvPr id="23" name="Rectangle 23"/>
            <p:cNvSpPr/>
            <p:nvPr/>
          </p:nvSpPr>
          <p:spPr>
            <a:xfrm>
              <a:off x="1000125" y="2266950"/>
              <a:ext cx="10191750" cy="7048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3E1F1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1000125" y="2266950"/>
              <a:ext cx="1000125" cy="704850"/>
            </a:xfrm>
            <a:prstGeom prst="rect">
              <a:avLst/>
            </a:prstGeom>
            <a:solidFill>
              <a:srgbClr val="206DC5"/>
            </a:solidFill>
            <a:ln>
              <a:noFill/>
            </a:ln>
          </p:spPr>
        </p:sp>
        <p:sp>
          <p:nvSpPr>
            <p:cNvPr id="25" name="TextBox 25"/>
            <p:cNvSpPr/>
            <p:nvPr/>
          </p:nvSpPr>
          <p:spPr>
            <a:xfrm>
              <a:off x="1313878" y="2454307"/>
              <a:ext cx="37271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95" bIns="0" anchor="t" anchorCtr="0">
              <a:no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26" name="TextBox 26"/>
            <p:cNvSpPr/>
            <p:nvPr/>
          </p:nvSpPr>
          <p:spPr>
            <a:xfrm>
              <a:off x="2322576" y="2324100"/>
              <a:ext cx="119595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实验配置</a:t>
              </a:r>
            </a:p>
          </p:txBody>
        </p:sp>
        <p:sp>
          <p:nvSpPr>
            <p:cNvPr id="27" name="TextBox 27"/>
            <p:cNvSpPr/>
            <p:nvPr/>
          </p:nvSpPr>
          <p:spPr>
            <a:xfrm>
              <a:off x="4324731" y="2374868"/>
              <a:ext cx="39885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RF-DETR 复现、配对子集与接入方案</a:t>
              </a:r>
            </a:p>
          </p:txBody>
        </p:sp>
      </p:grpSp>
      <p:grpSp>
        <p:nvGrpSpPr>
          <p:cNvPr id="34" name="agenda-03"/>
          <p:cNvGrpSpPr/>
          <p:nvPr/>
        </p:nvGrpSpPr>
        <p:grpSpPr>
          <a:xfrm>
            <a:off x="1000125" y="3162300"/>
            <a:ext cx="10191750" cy="704850"/>
            <a:chOff x="1000125" y="3162300"/>
            <a:chExt cx="10191750" cy="704850"/>
          </a:xfrm>
        </p:grpSpPr>
        <p:sp>
          <p:nvSpPr>
            <p:cNvPr id="29" name="Rectangle 29"/>
            <p:cNvSpPr/>
            <p:nvPr/>
          </p:nvSpPr>
          <p:spPr>
            <a:xfrm>
              <a:off x="1000125" y="3162300"/>
              <a:ext cx="10191750" cy="7048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3E1F1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1000125" y="3162300"/>
              <a:ext cx="1000125" cy="704850"/>
            </a:xfrm>
            <a:prstGeom prst="rect">
              <a:avLst/>
            </a:prstGeom>
            <a:solidFill>
              <a:srgbClr val="206DC5"/>
            </a:solidFill>
            <a:ln>
              <a:noFill/>
            </a:ln>
          </p:spPr>
        </p:sp>
        <p:sp>
          <p:nvSpPr>
            <p:cNvPr id="31" name="TextBox 31"/>
            <p:cNvSpPr/>
            <p:nvPr/>
          </p:nvSpPr>
          <p:spPr>
            <a:xfrm>
              <a:off x="1313878" y="3349657"/>
              <a:ext cx="37271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95" bIns="0" anchor="t" anchorCtr="0">
              <a:no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32" name="TextBox 32"/>
            <p:cNvSpPr/>
            <p:nvPr/>
          </p:nvSpPr>
          <p:spPr>
            <a:xfrm>
              <a:off x="2322576" y="3219450"/>
              <a:ext cx="119595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实验结果</a:t>
              </a:r>
            </a:p>
          </p:txBody>
        </p:sp>
        <p:sp>
          <p:nvSpPr>
            <p:cNvPr id="33" name="TextBox 33"/>
            <p:cNvSpPr/>
            <p:nvPr/>
          </p:nvSpPr>
          <p:spPr>
            <a:xfrm>
              <a:off x="4324731" y="3270218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参数量、精度总表与同口径比较</a:t>
              </a:r>
            </a:p>
          </p:txBody>
        </p:sp>
      </p:grpSp>
      <p:grpSp>
        <p:nvGrpSpPr>
          <p:cNvPr id="40" name="agenda-04"/>
          <p:cNvGrpSpPr/>
          <p:nvPr/>
        </p:nvGrpSpPr>
        <p:grpSpPr>
          <a:xfrm>
            <a:off x="1000125" y="3962400"/>
            <a:ext cx="10191750" cy="704850"/>
            <a:chOff x="1000125" y="3962400"/>
            <a:chExt cx="10191750" cy="704850"/>
          </a:xfrm>
        </p:grpSpPr>
        <p:sp>
          <p:nvSpPr>
            <p:cNvPr id="35" name="Rectangle 35"/>
            <p:cNvSpPr/>
            <p:nvPr/>
          </p:nvSpPr>
          <p:spPr>
            <a:xfrm>
              <a:off x="1000125" y="3962400"/>
              <a:ext cx="10191750" cy="7048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3E1F1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000125" y="3962400"/>
              <a:ext cx="1000125" cy="704850"/>
            </a:xfrm>
            <a:prstGeom prst="rect">
              <a:avLst/>
            </a:prstGeom>
            <a:solidFill>
              <a:srgbClr val="206DC5"/>
            </a:solidFill>
            <a:ln>
              <a:noFill/>
            </a:ln>
          </p:spPr>
        </p:sp>
        <p:sp>
          <p:nvSpPr>
            <p:cNvPr id="37" name="TextBox 37"/>
            <p:cNvSpPr/>
            <p:nvPr/>
          </p:nvSpPr>
          <p:spPr>
            <a:xfrm>
              <a:off x="1313878" y="4149757"/>
              <a:ext cx="37271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95" bIns="0" anchor="t" anchorCtr="0">
              <a:no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  <p:sp>
          <p:nvSpPr>
            <p:cNvPr id="38" name="TextBox 38"/>
            <p:cNvSpPr/>
            <p:nvPr/>
          </p:nvSpPr>
          <p:spPr>
            <a:xfrm>
              <a:off x="2322576" y="4019550"/>
              <a:ext cx="119595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结果分析</a:t>
              </a:r>
            </a:p>
          </p:txBody>
        </p:sp>
        <p:sp>
          <p:nvSpPr>
            <p:cNvPr id="39" name="TextBox 39"/>
            <p:cNvSpPr/>
            <p:nvPr/>
          </p:nvSpPr>
          <p:spPr>
            <a:xfrm>
              <a:off x="4324731" y="4070318"/>
              <a:ext cx="31683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80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学习率、特征接口与同图预测</a:t>
              </a:r>
            </a:p>
          </p:txBody>
        </p:sp>
      </p:grpSp>
      <p:grpSp>
        <p:nvGrpSpPr>
          <p:cNvPr id="46" name="agenda-05"/>
          <p:cNvGrpSpPr/>
          <p:nvPr/>
        </p:nvGrpSpPr>
        <p:grpSpPr>
          <a:xfrm>
            <a:off x="1000125" y="4781550"/>
            <a:ext cx="10191750" cy="704850"/>
            <a:chOff x="1000125" y="4781550"/>
            <a:chExt cx="10191750" cy="704850"/>
          </a:xfrm>
        </p:grpSpPr>
        <p:sp>
          <p:nvSpPr>
            <p:cNvPr id="41" name="Rectangle 41"/>
            <p:cNvSpPr/>
            <p:nvPr/>
          </p:nvSpPr>
          <p:spPr>
            <a:xfrm>
              <a:off x="1000125" y="4781550"/>
              <a:ext cx="10191750" cy="7048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3E1F1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000125" y="4781550"/>
              <a:ext cx="1000125" cy="704850"/>
            </a:xfrm>
            <a:prstGeom prst="rect">
              <a:avLst/>
            </a:prstGeom>
            <a:solidFill>
              <a:srgbClr val="206DC5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313836" y="496887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322576" y="4838700"/>
              <a:ext cx="60904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8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总结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324731" y="4889500"/>
              <a:ext cx="29260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迁移结论与下一组优先实验</a:t>
              </a: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613029" y="6181725"/>
            <a:ext cx="495543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汇报主线：论文基础 → 实验设计 → 结果对比 → 问题定位 → 后续方案。</a:t>
            </a:r>
          </a:p>
        </p:txBody>
      </p:sp>
      <p:grpSp>
        <p:nvGrpSpPr>
          <p:cNvPr id="57" name="page-subtitle"/>
          <p:cNvGrpSpPr/>
          <p:nvPr/>
        </p:nvGrpSpPr>
        <p:grpSpPr>
          <a:xfrm>
            <a:off x="608457" y="822325"/>
            <a:ext cx="2565654" cy="410718"/>
            <a:chOff x="608457" y="822325"/>
            <a:chExt cx="2565654" cy="410718"/>
          </a:xfrm>
        </p:grpSpPr>
        <p:sp>
          <p:nvSpPr>
            <p:cNvPr id="56" name="TextBox 56"/>
            <p:cNvSpPr txBox="1"/>
            <p:nvPr/>
          </p:nvSpPr>
          <p:spPr>
            <a:xfrm>
              <a:off x="608457" y="82232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研究路线与汇报结构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6487477"/>
      </p:ext>
    </p:extLst>
  </p:cSld>
  <p:clrMapOvr>
    <a:masterClrMapping/>
  </p:clrMapOvr>
</p:sld>
</file>

<file path=ppt/slides/slide3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/>
          <p:cNvSpPr/>
          <p:nvPr/>
        </p:nvSpPr>
        <p:spPr>
          <a:xfrm>
            <a:off x="1047750" y="190500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64389" rIns="0" bIns="0" anchor="t" anchorCtr="0">
            <a:noAutofit/>
          </a:bodyPr>
          <a:lstStyle/>
          <a:p>
            <a:pPr algn="l"/>
            <a:r>
              <a:rPr lang="zh-CN" sz="3300" b="1" dirty="0">
                <a:solidFill>
                  <a:srgbClr val="206DC5"/>
                </a:solidFill>
                <a:latin typeface="Microsoft YaHei"/>
                <a:ea typeface="Microsoft YaHei"/>
                <a:cs typeface="Microsoft YaHei"/>
              </a:rPr>
              <a:t>论文背景</a:t>
            </a:r>
          </a:p>
        </p:txBody>
      </p:sp>
      <p:sp>
        <p:nvSpPr>
          <p:cNvPr id="11" name="chapter-number"/>
          <p:cNvSpPr/>
          <p:nvPr/>
        </p:nvSpPr>
        <p:spPr>
          <a:xfrm>
            <a:off x="304800" y="276225"/>
            <a:ext cx="5429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89059" rIns="0" bIns="0" anchor="t" anchorCtr="0">
            <a:noAutofit/>
          </a:bodyPr>
          <a:lstStyle/>
          <a:p>
            <a:pPr algn="ctr"/>
            <a:r>
              <a:rPr lang="zh-CN" sz="218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course-footer"/>
          <p:cNvSpPr/>
          <p:nvPr/>
        </p:nvSpPr>
        <p:spPr>
          <a:xfrm>
            <a:off x="447675" y="6467475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41910" rIns="0" bIns="0" anchor="t" anchorCtr="0">
            <a:noAutofit/>
          </a:bodyPr>
          <a:lstStyle/>
          <a:p>
            <a:r>
              <a:rPr lang="zh-CN" altLang="en-US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视觉计算基础与应用</a:t>
            </a:r>
            <a:r>
              <a:rPr lang="zh-CN" altLang="zh-CN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大作业</a:t>
            </a:r>
          </a:p>
        </p:txBody>
      </p:sp>
      <p:pic>
        <p:nvPicPr>
          <p:cNvPr id="3" name="图片 5">
            <a:extLst>
              <a:ext uri="{FF2B5EF4-FFF2-40B4-BE49-F238E27FC236}">
                <a16:creationId id="{D20EFCCF-0804-47D7-B992-9B42AB6AF0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59925" y="125413"/>
            <a:ext cx="2266950" cy="611187"/>
          </a:xfrm>
          <a:prstGeom prst="rect">
            <a:avLst/>
          </a:prstGeom>
          <a:ln>
            <a:noFill/>
          </a:ln>
        </p:spPr>
      </p:pic>
      <p:grpSp>
        <p:nvGrpSpPr>
          <p:cNvPr id="16" name="output-page-number"/>
          <p:cNvGrpSpPr/>
          <p:nvPr/>
        </p:nvGrpSpPr>
        <p:grpSpPr>
          <a:xfrm>
            <a:off x="11668125" y="6438900"/>
            <a:ext cx="504825" cy="381000"/>
            <a:chOff x="11668125" y="6438900"/>
            <a:chExt cx="504825" cy="381000"/>
          </a:xfrm>
        </p:grpSpPr>
        <p:sp>
          <p:nvSpPr>
            <p:cNvPr id="14" name="Rectangle 14"/>
            <p:cNvSpPr/>
            <p:nvPr/>
          </p:nvSpPr>
          <p:spPr>
            <a:xfrm>
              <a:off x="11668125" y="6438900"/>
              <a:ext cx="504825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855967" y="6508750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3</a:t>
              </a:r>
            </a:p>
          </p:txBody>
        </p:sp>
      </p:grpSp>
      <p:grpSp>
        <p:nvGrpSpPr>
          <p:cNvPr id="22" name="research-question"/>
          <p:cNvGrpSpPr/>
          <p:nvPr/>
        </p:nvGrpSpPr>
        <p:grpSpPr>
          <a:xfrm>
            <a:off x="619125" y="1295400"/>
            <a:ext cx="10953750" cy="876300"/>
            <a:chOff x="619125" y="1295400"/>
            <a:chExt cx="10953750" cy="876300"/>
          </a:xfrm>
        </p:grpSpPr>
        <p:sp>
          <p:nvSpPr>
            <p:cNvPr id="20" name="Rectangle 20"/>
            <p:cNvSpPr/>
            <p:nvPr/>
          </p:nvSpPr>
          <p:spPr>
            <a:xfrm>
              <a:off x="619125" y="1295400"/>
              <a:ext cx="10953750" cy="876300"/>
            </a:xfrm>
            <a:prstGeom prst="rect">
              <a:avLst/>
            </a:prstGeom>
            <a:solidFill>
              <a:srgbClr val="F3F7FD"/>
            </a:solidFill>
            <a:ln w="9525">
              <a:solidFill>
                <a:srgbClr val="D3E1F1"/>
              </a:solidFill>
            </a:ln>
          </p:spPr>
        </p:sp>
        <p:sp>
          <p:nvSpPr>
            <p:cNvPr id="21" name="TextBox 21"/>
            <p:cNvSpPr/>
            <p:nvPr/>
          </p:nvSpPr>
          <p:spPr>
            <a:xfrm>
              <a:off x="811340" y="1517618"/>
              <a:ext cx="1056932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27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SATR 骨干迁移到 Transformer 检测器后，能否保留检测能力？</a:t>
              </a:r>
            </a:p>
          </p:txBody>
        </p:sp>
      </p:grpSp>
      <p:grpSp>
        <p:nvGrpSpPr>
          <p:cNvPr id="27" name="story-stage-65"/>
          <p:cNvGrpSpPr/>
          <p:nvPr/>
        </p:nvGrpSpPr>
        <p:grpSpPr>
          <a:xfrm>
            <a:off x="619125" y="2600325"/>
            <a:ext cx="3143250" cy="2333625"/>
            <a:chOff x="619125" y="2600325"/>
            <a:chExt cx="3143250" cy="2333625"/>
          </a:xfrm>
        </p:grpSpPr>
        <p:sp>
          <p:nvSpPr>
            <p:cNvPr id="23" name="Rectangle 23"/>
            <p:cNvSpPr/>
            <p:nvPr/>
          </p:nvSpPr>
          <p:spPr>
            <a:xfrm>
              <a:off x="619125" y="2600325"/>
              <a:ext cx="3143250" cy="233362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3E1F1"/>
              </a:solidFill>
            </a:ln>
          </p:spPr>
        </p:sp>
        <p:sp>
          <p:nvSpPr>
            <p:cNvPr id="24" name="TextBox 24"/>
            <p:cNvSpPr/>
            <p:nvPr/>
          </p:nvSpPr>
          <p:spPr>
            <a:xfrm>
              <a:off x="1414939" y="2816257"/>
              <a:ext cx="155162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232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① 完整复现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1088231" y="3463957"/>
              <a:ext cx="220513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95" bIns="0" anchor="t" anchorCtr="0">
              <a:noAutofit/>
            </a:bodyPr>
            <a:lstStyle/>
            <a:p>
              <a:pPr algn="ctr"/>
              <a:r>
                <a:rPr lang="en-US" sz="2250" b="1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RF-DETR-Nano</a:t>
              </a:r>
            </a:p>
          </p:txBody>
        </p:sp>
        <p:sp>
          <p:nvSpPr>
            <p:cNvPr id="26" name="TextBox 26"/>
            <p:cNvSpPr/>
            <p:nvPr/>
          </p:nvSpPr>
          <p:spPr>
            <a:xfrm>
              <a:off x="1175861" y="4025932"/>
              <a:ext cx="202977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2020" dirty="0">
                  <a:solidFill>
                    <a:srgbClr val="56616E"/>
                  </a:solidFill>
                  <a:latin typeface="Microsoft YaHei"/>
                  <a:ea typeface="Microsoft YaHei"/>
                  <a:cs typeface="Microsoft YaHei"/>
                </a:rPr>
                <a:t>COCO2017 全量</a:t>
              </a:r>
            </a:p>
          </p:txBody>
        </p:sp>
      </p:grpSp>
      <p:grpSp>
        <p:nvGrpSpPr>
          <p:cNvPr id="32" name="story-stage-450"/>
          <p:cNvGrpSpPr/>
          <p:nvPr/>
        </p:nvGrpSpPr>
        <p:grpSpPr>
          <a:xfrm>
            <a:off x="4286250" y="2600325"/>
            <a:ext cx="3143250" cy="2333625"/>
            <a:chOff x="4286250" y="2600325"/>
            <a:chExt cx="3143250" cy="2333625"/>
          </a:xfrm>
        </p:grpSpPr>
        <p:sp>
          <p:nvSpPr>
            <p:cNvPr id="28" name="Rectangle 28"/>
            <p:cNvSpPr/>
            <p:nvPr/>
          </p:nvSpPr>
          <p:spPr>
            <a:xfrm>
              <a:off x="4286250" y="2600325"/>
              <a:ext cx="3143250" cy="233362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3E1F1"/>
              </a:solidFill>
            </a:ln>
          </p:spPr>
        </p:sp>
        <p:sp>
          <p:nvSpPr>
            <p:cNvPr id="29" name="TextBox 29"/>
            <p:cNvSpPr/>
            <p:nvPr/>
          </p:nvSpPr>
          <p:spPr>
            <a:xfrm>
              <a:off x="4769739" y="2816257"/>
              <a:ext cx="217627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232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② 建立高效对照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4667440" y="3463957"/>
              <a:ext cx="238086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2250" b="1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同源 5k 配对子集</a:t>
              </a:r>
            </a:p>
          </p:txBody>
        </p:sp>
        <p:sp>
          <p:nvSpPr>
            <p:cNvPr id="31" name="TextBox 31"/>
            <p:cNvSpPr/>
            <p:nvPr/>
          </p:nvSpPr>
          <p:spPr>
            <a:xfrm>
              <a:off x="4848225" y="4025932"/>
              <a:ext cx="2019300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2020" dirty="0">
                  <a:solidFill>
                    <a:srgbClr val="56616E"/>
                  </a:solidFill>
                  <a:latin typeface="Microsoft YaHei"/>
                  <a:ea typeface="Microsoft YaHei"/>
                  <a:cs typeface="Microsoft YaHei"/>
                </a:rPr>
                <a:t>80类 → 共同20类</a:t>
              </a:r>
            </a:p>
          </p:txBody>
        </p:sp>
      </p:grpSp>
      <p:grpSp>
        <p:nvGrpSpPr>
          <p:cNvPr id="37" name="story-stage-835"/>
          <p:cNvGrpSpPr/>
          <p:nvPr/>
        </p:nvGrpSpPr>
        <p:grpSpPr>
          <a:xfrm>
            <a:off x="7953375" y="2600325"/>
            <a:ext cx="3143250" cy="2333625"/>
            <a:chOff x="7953375" y="2600325"/>
            <a:chExt cx="3143250" cy="2333625"/>
          </a:xfrm>
        </p:grpSpPr>
        <p:sp>
          <p:nvSpPr>
            <p:cNvPr id="33" name="Rectangle 33"/>
            <p:cNvSpPr/>
            <p:nvPr/>
          </p:nvSpPr>
          <p:spPr>
            <a:xfrm>
              <a:off x="7953375" y="2600325"/>
              <a:ext cx="3143250" cy="2333625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3E1F1"/>
              </a:solidFill>
            </a:ln>
          </p:spPr>
        </p:sp>
        <p:sp>
          <p:nvSpPr>
            <p:cNvPr id="34" name="TextBox 34"/>
            <p:cNvSpPr/>
            <p:nvPr/>
          </p:nvSpPr>
          <p:spPr>
            <a:xfrm>
              <a:off x="8436864" y="2816257"/>
              <a:ext cx="2176272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232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③ 两次迁移检验</a:t>
              </a:r>
            </a:p>
          </p:txBody>
        </p:sp>
        <p:sp>
          <p:nvSpPr>
            <p:cNvPr id="35" name="TextBox 35"/>
            <p:cNvSpPr/>
            <p:nvPr/>
          </p:nvSpPr>
          <p:spPr>
            <a:xfrm>
              <a:off x="8295418" y="3463957"/>
              <a:ext cx="245916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en-US" sz="2250" b="1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COCO20 + M3FD</a:t>
              </a:r>
            </a:p>
          </p:txBody>
        </p:sp>
        <p:sp>
          <p:nvSpPr>
            <p:cNvPr id="36" name="TextBox 36"/>
            <p:cNvSpPr/>
            <p:nvPr/>
          </p:nvSpPr>
          <p:spPr>
            <a:xfrm>
              <a:off x="8414480" y="4025932"/>
              <a:ext cx="222113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95" bIns="0" anchor="t" anchorCtr="0">
              <a:noAutofit/>
            </a:bodyPr>
            <a:lstStyle/>
            <a:p>
              <a:pPr algn="ctr"/>
              <a:r>
                <a:rPr lang="en-US" sz="2020" dirty="0">
                  <a:solidFill>
                    <a:srgbClr val="56616E"/>
                  </a:solidFill>
                  <a:latin typeface="Microsoft YaHei"/>
                  <a:ea typeface="Microsoft YaHei"/>
                  <a:cs typeface="Microsoft YaHei"/>
                </a:rPr>
                <a:t>DINOv2-S → SATR</a:t>
              </a:r>
            </a:p>
          </p:txBody>
        </p:sp>
      </p:grpSp>
      <p:sp>
        <p:nvSpPr>
          <p:cNvPr id="38" name="Line 38"/>
          <p:cNvSpPr/>
          <p:nvPr/>
        </p:nvSpPr>
        <p:spPr>
          <a:xfrm>
            <a:off x="3762375" y="3771900"/>
            <a:ext cx="409575" cy="9525"/>
          </a:xfrm>
          <a:custGeom>
            <a:avLst/>
            <a:gdLst/>
            <a:ahLst/>
            <a:cxnLst/>
            <a:rect l="l" t="t" r="r" b="b"/>
            <a:pathLst>
              <a:path w="409575" h="952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/>
          <a:ln w="23812">
            <a:solidFill>
              <a:srgbClr val="206DC5"/>
            </a:solidFill>
          </a:ln>
        </p:spPr>
      </p:sp>
      <p:sp>
        <p:nvSpPr>
          <p:cNvPr id="39" name="Polygon 39"/>
          <p:cNvSpPr/>
          <p:nvPr/>
        </p:nvSpPr>
        <p:spPr>
          <a:xfrm>
            <a:off x="4096702" y="3730847"/>
            <a:ext cx="75247" cy="82106"/>
          </a:xfrm>
          <a:custGeom>
            <a:avLst/>
            <a:gdLst/>
            <a:ahLst/>
            <a:cxnLst/>
            <a:rect l="l" t="t" r="r" b="b"/>
            <a:pathLst>
              <a:path w="75247" h="82106">
                <a:moveTo>
                  <a:pt x="75247" y="41053"/>
                </a:moveTo>
                <a:lnTo>
                  <a:pt x="0" y="82106"/>
                </a:lnTo>
                <a:lnTo>
                  <a:pt x="0" y="0"/>
                </a:lnTo>
                <a:close/>
              </a:path>
            </a:pathLst>
          </a:custGeom>
          <a:solidFill>
            <a:srgbClr val="206DC5"/>
          </a:solidFill>
          <a:ln>
            <a:noFill/>
          </a:ln>
        </p:spPr>
      </p:sp>
      <p:sp>
        <p:nvSpPr>
          <p:cNvPr id="40" name="Line 40"/>
          <p:cNvSpPr/>
          <p:nvPr/>
        </p:nvSpPr>
        <p:spPr>
          <a:xfrm>
            <a:off x="7429500" y="3771900"/>
            <a:ext cx="409575" cy="9525"/>
          </a:xfrm>
          <a:custGeom>
            <a:avLst/>
            <a:gdLst/>
            <a:ahLst/>
            <a:cxnLst/>
            <a:rect l="l" t="t" r="r" b="b"/>
            <a:pathLst>
              <a:path w="409575" h="9525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/>
          <a:ln w="23812">
            <a:solidFill>
              <a:srgbClr val="206DC5"/>
            </a:solidFill>
          </a:ln>
        </p:spPr>
      </p:sp>
      <p:sp>
        <p:nvSpPr>
          <p:cNvPr id="41" name="Polygon 41"/>
          <p:cNvSpPr/>
          <p:nvPr/>
        </p:nvSpPr>
        <p:spPr>
          <a:xfrm>
            <a:off x="7763828" y="3730847"/>
            <a:ext cx="75247" cy="82106"/>
          </a:xfrm>
          <a:custGeom>
            <a:avLst/>
            <a:gdLst/>
            <a:ahLst/>
            <a:cxnLst/>
            <a:rect l="l" t="t" r="r" b="b"/>
            <a:pathLst>
              <a:path w="75247" h="82106">
                <a:moveTo>
                  <a:pt x="75247" y="41053"/>
                </a:moveTo>
                <a:lnTo>
                  <a:pt x="0" y="82106"/>
                </a:lnTo>
                <a:lnTo>
                  <a:pt x="0" y="0"/>
                </a:lnTo>
                <a:close/>
              </a:path>
            </a:pathLst>
          </a:custGeom>
          <a:solidFill>
            <a:srgbClr val="206DC5"/>
          </a:solidFill>
          <a:ln>
            <a:noFill/>
          </a:ln>
        </p:spPr>
      </p:sp>
      <p:grpSp>
        <p:nvGrpSpPr>
          <p:cNvPr id="43" name="story-summary"/>
          <p:cNvGrpSpPr/>
          <p:nvPr/>
        </p:nvGrpSpPr>
        <p:grpSpPr>
          <a:xfrm>
            <a:off x="607695" y="5264150"/>
            <a:ext cx="7898130" cy="440055"/>
            <a:chOff x="607695" y="5264150"/>
            <a:chExt cx="7898130" cy="440055"/>
          </a:xfrm>
        </p:grpSpPr>
        <p:sp>
          <p:nvSpPr>
            <p:cNvPr id="42" name="TextBox 42"/>
            <p:cNvSpPr txBox="1"/>
            <p:nvPr/>
          </p:nvSpPr>
          <p:spPr>
            <a:xfrm>
              <a:off x="607695" y="5264150"/>
              <a:ext cx="78981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C62D35"/>
                  </a:solidFill>
                  <a:latin typeface="Microsoft YaHei"/>
                  <a:ea typeface="Microsoft YaHei"/>
                  <a:cs typeface="Microsoft YaHei"/>
                </a:rPr>
                <a:t>研究主线：先把检测器复现清楚，再评价骨干的迁移能力。</a:t>
              </a:r>
            </a:p>
          </p:txBody>
        </p:sp>
      </p:grpSp>
      <p:sp>
        <p:nvSpPr>
          <p:cNvPr id="44" name="TextBox 44"/>
          <p:cNvSpPr/>
          <p:nvPr/>
        </p:nvSpPr>
        <p:spPr>
          <a:xfrm>
            <a:off x="613029" y="6181725"/>
            <a:ext cx="109537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RF-DETR：ICLR 2026，固定v1.3.0（03aa832）；SATR-SSM：大创成果。</a:t>
            </a:r>
          </a:p>
        </p:txBody>
      </p:sp>
      <p:grpSp>
        <p:nvGrpSpPr>
          <p:cNvPr id="53" name="page-subtitle"/>
          <p:cNvGrpSpPr/>
          <p:nvPr/>
        </p:nvGrpSpPr>
        <p:grpSpPr>
          <a:xfrm>
            <a:off x="608457" y="822325"/>
            <a:ext cx="2565654" cy="410718"/>
            <a:chOff x="608457" y="822325"/>
            <a:chExt cx="2565654" cy="410718"/>
          </a:xfrm>
        </p:grpSpPr>
        <p:sp>
          <p:nvSpPr>
            <p:cNvPr id="52" name="TextBox 52"/>
            <p:cNvSpPr txBox="1"/>
            <p:nvPr/>
          </p:nvSpPr>
          <p:spPr>
            <a:xfrm>
              <a:off x="608457" y="82232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研究目标与实验主线</a:t>
              </a:r>
            </a:p>
          </p:txBody>
        </p:sp>
      </p:grpSp>
    </p:spTree>
    <p:extLst>
      <p:ext uri="{BB962C8B-B14F-4D97-AF65-F5344CB8AC3E}">
        <p14:creationId val="2096487477"/>
      </p:ext>
    </p:extLst>
  </p:cSld>
  <p:clrMapOvr>
    <a:masterClrMapping/>
  </p:clrMapOvr>
</p:sld>
</file>

<file path=ppt/slides/slide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/>
          <p:cNvSpPr/>
          <p:nvPr/>
        </p:nvSpPr>
        <p:spPr>
          <a:xfrm>
            <a:off x="1047750" y="190500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64389" rIns="0" bIns="0" anchor="t" anchorCtr="0">
            <a:noAutofit/>
          </a:bodyPr>
          <a:lstStyle/>
          <a:p>
            <a:pPr algn="l"/>
            <a:r>
              <a:rPr lang="zh-CN" sz="3300" b="1" dirty="0">
                <a:solidFill>
                  <a:srgbClr val="206DC5"/>
                </a:solidFill>
                <a:latin typeface="Microsoft YaHei"/>
                <a:ea typeface="Microsoft YaHei"/>
                <a:cs typeface="Microsoft YaHei"/>
              </a:rPr>
              <a:t>论文背景</a:t>
            </a:r>
          </a:p>
        </p:txBody>
      </p:sp>
      <p:sp>
        <p:nvSpPr>
          <p:cNvPr id="11" name="chapter-number"/>
          <p:cNvSpPr/>
          <p:nvPr/>
        </p:nvSpPr>
        <p:spPr>
          <a:xfrm>
            <a:off x="304800" y="276225"/>
            <a:ext cx="5429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89059" rIns="0" bIns="0" anchor="t" anchorCtr="0">
            <a:noAutofit/>
          </a:bodyPr>
          <a:lstStyle/>
          <a:p>
            <a:pPr algn="ctr"/>
            <a:r>
              <a:rPr lang="zh-CN" sz="218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course-footer"/>
          <p:cNvSpPr/>
          <p:nvPr/>
        </p:nvSpPr>
        <p:spPr>
          <a:xfrm>
            <a:off x="447675" y="6467475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41910" rIns="0" bIns="0" anchor="t" anchorCtr="0">
            <a:noAutofit/>
          </a:bodyPr>
          <a:lstStyle/>
          <a:p>
            <a:r>
              <a:rPr lang="zh-CN" altLang="en-US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视觉计算基础与应用</a:t>
            </a:r>
            <a:r>
              <a:rPr lang="zh-CN" altLang="zh-CN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大作业</a:t>
            </a:r>
          </a:p>
        </p:txBody>
      </p:sp>
      <p:pic>
        <p:nvPicPr>
          <p:cNvPr id="3" name="图片 5">
            <a:extLst>
              <a:ext uri="{FF2B5EF4-FFF2-40B4-BE49-F238E27FC236}">
                <a16:creationId id="{A9FC35FF-614F-4B3A-A404-207F5661FF0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59925" y="125413"/>
            <a:ext cx="2266950" cy="611187"/>
          </a:xfrm>
          <a:prstGeom prst="rect">
            <a:avLst/>
          </a:prstGeom>
          <a:ln>
            <a:noFill/>
          </a:ln>
        </p:spPr>
      </p:pic>
      <p:grpSp>
        <p:nvGrpSpPr>
          <p:cNvPr id="16" name="output-page-number"/>
          <p:cNvGrpSpPr/>
          <p:nvPr/>
        </p:nvGrpSpPr>
        <p:grpSpPr>
          <a:xfrm>
            <a:off x="11668125" y="6438900"/>
            <a:ext cx="504825" cy="381000"/>
            <a:chOff x="11668125" y="6438900"/>
            <a:chExt cx="504825" cy="381000"/>
          </a:xfrm>
        </p:grpSpPr>
        <p:sp>
          <p:nvSpPr>
            <p:cNvPr id="14" name="Rectangle 14"/>
            <p:cNvSpPr/>
            <p:nvPr/>
          </p:nvSpPr>
          <p:spPr>
            <a:xfrm>
              <a:off x="11668125" y="6438900"/>
              <a:ext cx="504825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855967" y="6508750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4</a:t>
              </a:r>
            </a:p>
          </p:txBody>
        </p:sp>
      </p:grpSp>
      <p:grpSp>
        <p:nvGrpSpPr>
          <p:cNvPr id="36" name="page-subtitle"/>
          <p:cNvGrpSpPr/>
          <p:nvPr/>
        </p:nvGrpSpPr>
        <p:grpSpPr>
          <a:xfrm>
            <a:off x="608457" y="822293"/>
            <a:ext cx="10906125" cy="410718"/>
            <a:chOff x="608457" y="822293"/>
            <a:chExt cx="10906125" cy="410718"/>
          </a:xfrm>
        </p:grpSpPr>
        <p:sp>
          <p:nvSpPr>
            <p:cNvPr id="35" name="TextBox 35"/>
            <p:cNvSpPr/>
            <p:nvPr/>
          </p:nvSpPr>
          <p:spPr>
            <a:xfrm>
              <a:off x="608457" y="822293"/>
              <a:ext cx="109061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原始完整 SATR-SSM 检测器：结构与骨干</a:t>
              </a:r>
            </a:p>
          </p:txBody>
        </p:sp>
      </p:grpSp>
      <p:pic>
        <p:nvPicPr>
          <p:cNvPr id="17" name="Image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1352550"/>
            <a:ext cx="7524750" cy="4689253"/>
          </a:xfrm>
          <a:prstGeom prst="rect">
            <a:avLst/>
          </a:prstGeom>
        </p:spPr>
      </p:pic>
      <p:grpSp>
        <p:nvGrpSpPr>
          <p:cNvPr id="19" name="new-text-frame-14"/>
          <p:cNvGrpSpPr/>
          <p:nvPr/>
        </p:nvGrpSpPr>
        <p:grpSpPr>
          <a:xfrm>
            <a:off x="8466582" y="1412875"/>
            <a:ext cx="2000250" cy="410718"/>
            <a:chOff x="8466582" y="1412875"/>
            <a:chExt cx="2000250" cy="410718"/>
          </a:xfrm>
        </p:grpSpPr>
        <p:sp>
          <p:nvSpPr>
            <p:cNvPr id="18" name="TextBox 18"/>
            <p:cNvSpPr txBox="1"/>
            <p:nvPr/>
          </p:nvSpPr>
          <p:spPr>
            <a:xfrm>
              <a:off x="8466582" y="141287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原始完整检测器</a:t>
              </a:r>
            </a:p>
          </p:txBody>
        </p:sp>
      </p:grpSp>
      <p:grpSp>
        <p:nvGrpSpPr>
          <p:cNvPr id="21" name="new-text-frame-15"/>
          <p:cNvGrpSpPr/>
          <p:nvPr/>
        </p:nvGrpSpPr>
        <p:grpSpPr>
          <a:xfrm>
            <a:off x="8468487" y="1908175"/>
            <a:ext cx="1606022" cy="337376"/>
            <a:chOff x="8468487" y="1908175"/>
            <a:chExt cx="1606022" cy="337376"/>
          </a:xfrm>
        </p:grpSpPr>
        <p:sp>
          <p:nvSpPr>
            <p:cNvPr id="20" name="TextBox 20"/>
            <p:cNvSpPr txBox="1"/>
            <p:nvPr/>
          </p:nvSpPr>
          <p:spPr>
            <a:xfrm>
              <a:off x="8468487" y="1908175"/>
              <a:ext cx="160602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SATR-SSM骨干</a:t>
              </a:r>
            </a:p>
          </p:txBody>
        </p:sp>
      </p:grpSp>
      <p:grpSp>
        <p:nvGrpSpPr>
          <p:cNvPr id="23" name="new-text-frame-16"/>
          <p:cNvGrpSpPr/>
          <p:nvPr/>
        </p:nvGrpSpPr>
        <p:grpSpPr>
          <a:xfrm>
            <a:off x="8468487" y="2308225"/>
            <a:ext cx="1167394" cy="337376"/>
            <a:chOff x="8468487" y="2308225"/>
            <a:chExt cx="1167394" cy="337376"/>
          </a:xfrm>
        </p:grpSpPr>
        <p:sp>
          <p:nvSpPr>
            <p:cNvPr id="22" name="TextBox 22"/>
            <p:cNvSpPr txBox="1"/>
            <p:nvPr/>
          </p:nvSpPr>
          <p:spPr>
            <a:xfrm>
              <a:off x="8468487" y="2308225"/>
              <a:ext cx="116739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72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+ PAN-FPN</a:t>
              </a:r>
            </a:p>
          </p:txBody>
        </p:sp>
      </p:grpSp>
      <p:grpSp>
        <p:nvGrpSpPr>
          <p:cNvPr id="25" name="new-text-frame-17"/>
          <p:cNvGrpSpPr/>
          <p:nvPr/>
        </p:nvGrpSpPr>
        <p:grpSpPr>
          <a:xfrm>
            <a:off x="8468487" y="2708275"/>
            <a:ext cx="1140526" cy="337376"/>
            <a:chOff x="8468487" y="2708275"/>
            <a:chExt cx="1140526" cy="337376"/>
          </a:xfrm>
        </p:grpSpPr>
        <p:sp>
          <p:nvSpPr>
            <p:cNvPr id="24" name="TextBox 24"/>
            <p:cNvSpPr txBox="1"/>
            <p:nvPr/>
          </p:nvSpPr>
          <p:spPr>
            <a:xfrm>
              <a:off x="8468487" y="2708275"/>
              <a:ext cx="1140526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+ 原检测头</a:t>
              </a:r>
            </a:p>
          </p:txBody>
        </p:sp>
      </p:grpSp>
      <p:grpSp>
        <p:nvGrpSpPr>
          <p:cNvPr id="27" name="new-text-frame-18"/>
          <p:cNvGrpSpPr/>
          <p:nvPr/>
        </p:nvGrpSpPr>
        <p:grpSpPr>
          <a:xfrm>
            <a:off x="8466582" y="3365500"/>
            <a:ext cx="1717548" cy="410718"/>
            <a:chOff x="8466582" y="3365500"/>
            <a:chExt cx="1717548" cy="410718"/>
          </a:xfrm>
        </p:grpSpPr>
        <p:sp>
          <p:nvSpPr>
            <p:cNvPr id="26" name="TextBox 26"/>
            <p:cNvSpPr txBox="1"/>
            <p:nvPr/>
          </p:nvSpPr>
          <p:spPr>
            <a:xfrm>
              <a:off x="8466582" y="3365500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本次迁移模型</a:t>
              </a:r>
            </a:p>
          </p:txBody>
        </p:sp>
      </p:grpSp>
      <p:grpSp>
        <p:nvGrpSpPr>
          <p:cNvPr id="29" name="new-text-frame-19"/>
          <p:cNvGrpSpPr/>
          <p:nvPr/>
        </p:nvGrpSpPr>
        <p:grpSpPr>
          <a:xfrm>
            <a:off x="8468487" y="3860800"/>
            <a:ext cx="1788638" cy="337376"/>
            <a:chOff x="8468487" y="3860800"/>
            <a:chExt cx="1788638" cy="337376"/>
          </a:xfrm>
        </p:grpSpPr>
        <p:sp>
          <p:nvSpPr>
            <p:cNvPr id="28" name="TextBox 28"/>
            <p:cNvSpPr txBox="1"/>
            <p:nvPr/>
          </p:nvSpPr>
          <p:spPr>
            <a:xfrm>
              <a:off x="8468487" y="3860800"/>
              <a:ext cx="178863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仅提取P3/P4/P5</a:t>
              </a:r>
            </a:p>
          </p:txBody>
        </p:sp>
      </p:grpSp>
      <p:grpSp>
        <p:nvGrpSpPr>
          <p:cNvPr id="31" name="new-text-frame-20"/>
          <p:cNvGrpSpPr/>
          <p:nvPr/>
        </p:nvGrpSpPr>
        <p:grpSpPr>
          <a:xfrm>
            <a:off x="8468487" y="4260850"/>
            <a:ext cx="1406804" cy="337376"/>
            <a:chOff x="8468487" y="4260850"/>
            <a:chExt cx="1406804" cy="337376"/>
          </a:xfrm>
        </p:grpSpPr>
        <p:sp>
          <p:nvSpPr>
            <p:cNvPr id="30" name="TextBox 30"/>
            <p:cNvSpPr txBox="1"/>
            <p:nvPr/>
          </p:nvSpPr>
          <p:spPr>
            <a:xfrm>
              <a:off x="8468487" y="4260850"/>
              <a:ext cx="140680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接入新适配层</a:t>
              </a:r>
            </a:p>
          </p:txBody>
        </p:sp>
      </p:grpSp>
      <p:grpSp>
        <p:nvGrpSpPr>
          <p:cNvPr id="33" name="new-text-frame-21"/>
          <p:cNvGrpSpPr/>
          <p:nvPr/>
        </p:nvGrpSpPr>
        <p:grpSpPr>
          <a:xfrm>
            <a:off x="8468487" y="4660900"/>
            <a:ext cx="2707615" cy="337376"/>
            <a:chOff x="8468487" y="4660900"/>
            <a:chExt cx="2707615" cy="337376"/>
          </a:xfrm>
        </p:grpSpPr>
        <p:sp>
          <p:nvSpPr>
            <p:cNvPr id="32" name="TextBox 32"/>
            <p:cNvSpPr txBox="1"/>
            <p:nvPr/>
          </p:nvSpPr>
          <p:spPr>
            <a:xfrm>
              <a:off x="8468487" y="4660900"/>
              <a:ext cx="2707615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72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及RF-DETR解码器/检测头</a:t>
              </a:r>
            </a:p>
          </p:txBody>
        </p:sp>
      </p:grpSp>
      <p:grpSp>
        <p:nvGrpSpPr>
          <p:cNvPr id="34" name="satr-core-modules"/>
          <p:cNvGrpSpPr/>
          <p:nvPr/>
        </p:nvGrpSpPr>
        <p:grpSpPr>
          <a:xfrm>
            <a:off x="8460105" y="5165725"/>
            <a:ext cx="1983486" cy="979170"/>
            <a:chOff x="8460105" y="5165725"/>
            <a:chExt cx="1983486" cy="979170"/>
          </a:xfrm>
        </p:grpSpPr>
        <p:sp>
          <p:nvSpPr>
            <p:cNvPr id="37" name="TextBox 28"/>
            <p:cNvSpPr txBox="1"/>
            <p:nvPr/>
          </p:nvSpPr>
          <p:spPr>
            <a:xfrm>
              <a:off x="8460105" y="5165725"/>
              <a:ext cx="1983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7202B"/>
                  </a:solidFill>
                  <a:latin typeface="Microsoft YaHei"/>
                  <a:ea typeface="Microsoft YaHei"/>
                  <a:cs typeface="Microsoft YaHei"/>
                </a:rPr>
                <a:t>MGAM：显著响应增强</a:t>
              </a:r>
            </a:p>
          </p:txBody>
        </p:sp>
        <p:sp>
          <p:nvSpPr>
            <p:cNvPr id="38" name="TextBox 30"/>
            <p:cNvSpPr txBox="1"/>
            <p:nvPr/>
          </p:nvSpPr>
          <p:spPr>
            <a:xfrm>
              <a:off x="8460105" y="5508625"/>
              <a:ext cx="19408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7202B"/>
                  </a:solidFill>
                  <a:latin typeface="Microsoft YaHei"/>
                  <a:ea typeface="Microsoft YaHei"/>
                  <a:cs typeface="Microsoft YaHei"/>
                </a:rPr>
                <a:t>MTRP：拓扑路由传播</a:t>
              </a:r>
            </a:p>
          </p:txBody>
        </p:sp>
        <p:sp>
          <p:nvSpPr>
            <p:cNvPr id="39" name="TextBox 32"/>
            <p:cNvSpPr txBox="1"/>
            <p:nvPr/>
          </p:nvSpPr>
          <p:spPr>
            <a:xfrm>
              <a:off x="8460105" y="5851525"/>
              <a:ext cx="17388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7202B"/>
                  </a:solidFill>
                  <a:latin typeface="Microsoft YaHei"/>
                  <a:ea typeface="Microsoft YaHei"/>
                  <a:cs typeface="Microsoft YaHei"/>
                </a:rPr>
                <a:t>MTCP：跨路径门控</a:t>
              </a:r>
            </a:p>
          </p:txBody>
        </p:sp>
      </p:grpSp>
    </p:spTree>
    <p:extLst>
      <p:ext uri="{BB962C8B-B14F-4D97-AF65-F5344CB8AC3E}">
        <p14:creationId val="20401182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/>
          <p:cNvSpPr/>
          <p:nvPr/>
        </p:nvSpPr>
        <p:spPr>
          <a:xfrm>
            <a:off x="1047750" y="190500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64389" rIns="0" bIns="0" anchor="t" anchorCtr="0">
            <a:noAutofit/>
          </a:bodyPr>
          <a:lstStyle/>
          <a:p>
            <a:pPr algn="l"/>
            <a:r>
              <a:rPr lang="zh-CN" sz="3300" b="1" dirty="0">
                <a:solidFill>
                  <a:srgbClr val="206DC5"/>
                </a:solidFill>
                <a:latin typeface="Microsoft YaHei"/>
                <a:ea typeface="Microsoft YaHei"/>
                <a:cs typeface="Microsoft YaHei"/>
              </a:rPr>
              <a:t>论文背景</a:t>
            </a:r>
          </a:p>
        </p:txBody>
      </p:sp>
      <p:sp>
        <p:nvSpPr>
          <p:cNvPr id="11" name="chapter-number"/>
          <p:cNvSpPr/>
          <p:nvPr/>
        </p:nvSpPr>
        <p:spPr>
          <a:xfrm>
            <a:off x="304800" y="276225"/>
            <a:ext cx="5429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89059" rIns="0" bIns="0" anchor="t" anchorCtr="0">
            <a:noAutofit/>
          </a:bodyPr>
          <a:lstStyle/>
          <a:p>
            <a:pPr algn="ctr"/>
            <a:r>
              <a:rPr lang="zh-CN" sz="218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course-footer"/>
          <p:cNvSpPr/>
          <p:nvPr/>
        </p:nvSpPr>
        <p:spPr>
          <a:xfrm>
            <a:off x="447675" y="6467475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41910" rIns="0" bIns="0" anchor="t" anchorCtr="0">
            <a:noAutofit/>
          </a:bodyPr>
          <a:lstStyle/>
          <a:p>
            <a:r>
              <a:rPr lang="zh-CN" altLang="en-US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视觉计算基础与应用</a:t>
            </a:r>
            <a:r>
              <a:rPr lang="zh-CN" altLang="zh-CN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大作业</a:t>
            </a:r>
          </a:p>
        </p:txBody>
      </p:sp>
      <p:pic>
        <p:nvPicPr>
          <p:cNvPr id="3" name="图片 5">
            <a:extLst>
              <a:ext uri="{FF2B5EF4-FFF2-40B4-BE49-F238E27FC236}">
                <a16:creationId xmlns:a16="http://schemas.microsoft.com/office/drawing/2014/main" id="{FD33FE95-7A58-495D-BA0B-4B047504CE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59925" y="125413"/>
            <a:ext cx="2266950" cy="611187"/>
          </a:xfrm>
          <a:prstGeom prst="rect">
            <a:avLst/>
          </a:prstGeom>
          <a:ln>
            <a:noFill/>
          </a:ln>
        </p:spPr>
      </p:pic>
      <p:grpSp>
        <p:nvGrpSpPr>
          <p:cNvPr id="16" name="output-page-number"/>
          <p:cNvGrpSpPr/>
          <p:nvPr/>
        </p:nvGrpSpPr>
        <p:grpSpPr>
          <a:xfrm>
            <a:off x="11668125" y="6438900"/>
            <a:ext cx="504825" cy="381000"/>
            <a:chOff x="11668125" y="6438900"/>
            <a:chExt cx="504825" cy="381000"/>
          </a:xfrm>
        </p:grpSpPr>
        <p:sp>
          <p:nvSpPr>
            <p:cNvPr id="14" name="Rectangle 14"/>
            <p:cNvSpPr/>
            <p:nvPr/>
          </p:nvSpPr>
          <p:spPr>
            <a:xfrm>
              <a:off x="11668125" y="6438900"/>
              <a:ext cx="504825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855967" y="6508750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5</a:t>
              </a:r>
            </a:p>
          </p:txBody>
        </p:sp>
      </p:grpSp>
      <p:grpSp>
        <p:nvGrpSpPr>
          <p:cNvPr id="26" name="page-subtitle"/>
          <p:cNvGrpSpPr/>
          <p:nvPr/>
        </p:nvGrpSpPr>
        <p:grpSpPr>
          <a:xfrm>
            <a:off x="608457" y="822293"/>
            <a:ext cx="4856036" cy="410718"/>
            <a:chOff x="608457" y="822293"/>
            <a:chExt cx="4856036" cy="410718"/>
          </a:xfrm>
        </p:grpSpPr>
        <p:sp>
          <p:nvSpPr>
            <p:cNvPr id="27" name="TextBox 23"/>
            <p:cNvSpPr/>
            <p:nvPr/>
          </p:nvSpPr>
          <p:spPr>
            <a:xfrm>
              <a:off x="608457" y="822293"/>
              <a:ext cx="485603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两类模型：原始检测器与跨框架迁移</a:t>
              </a:r>
            </a:p>
          </p:txBody>
        </p:sp>
      </p:grpSp>
      <p:sp>
        <p:nvSpPr>
          <p:cNvPr id="17" name="Rectangle 17"/>
          <p:cNvSpPr/>
          <p:nvPr/>
        </p:nvSpPr>
        <p:spPr>
          <a:xfrm>
            <a:off x="619125" y="1428750"/>
            <a:ext cx="5238750" cy="3857625"/>
          </a:xfrm>
          <a:prstGeom prst="rect">
            <a:avLst/>
          </a:prstGeom>
          <a:solidFill>
            <a:srgbClr val="F3F7FD"/>
          </a:solidFill>
          <a:ln w="9525">
            <a:solidFill>
              <a:srgbClr val="D3E1F1"/>
            </a:solidFill>
          </a:ln>
        </p:spPr>
      </p:sp>
      <p:grpSp>
        <p:nvGrpSpPr>
          <p:cNvPr id="19" name="new-text-frame-14"/>
          <p:cNvGrpSpPr/>
          <p:nvPr/>
        </p:nvGrpSpPr>
        <p:grpSpPr>
          <a:xfrm>
            <a:off x="837057" y="1603375"/>
            <a:ext cx="3631174" cy="410718"/>
            <a:chOff x="837057" y="1603375"/>
            <a:chExt cx="3631174" cy="410718"/>
          </a:xfrm>
        </p:grpSpPr>
        <p:sp>
          <p:nvSpPr>
            <p:cNvPr id="18" name="TextBox 18"/>
            <p:cNvSpPr txBox="1"/>
            <p:nvPr/>
          </p:nvSpPr>
          <p:spPr>
            <a:xfrm>
              <a:off x="837057" y="1603375"/>
              <a:ext cx="363117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原始完整 SATR-SSM 检测器</a:t>
              </a:r>
            </a:p>
          </p:txBody>
        </p:sp>
      </p:grpSp>
      <p:sp>
        <p:nvSpPr>
          <p:cNvPr id="20" name="Rectangle 20"/>
          <p:cNvSpPr/>
          <p:nvPr/>
        </p:nvSpPr>
        <p:spPr>
          <a:xfrm>
            <a:off x="6334125" y="1428750"/>
            <a:ext cx="5238750" cy="3857625"/>
          </a:xfrm>
          <a:prstGeom prst="rect">
            <a:avLst/>
          </a:prstGeom>
          <a:solidFill>
            <a:srgbClr val="F3F7FD"/>
          </a:solidFill>
          <a:ln w="9525">
            <a:solidFill>
              <a:srgbClr val="D3E1F1"/>
            </a:solidFill>
          </a:ln>
        </p:spPr>
      </p:sp>
      <p:grpSp>
        <p:nvGrpSpPr>
          <p:cNvPr id="22" name="new-text-frame-16"/>
          <p:cNvGrpSpPr/>
          <p:nvPr/>
        </p:nvGrpSpPr>
        <p:grpSpPr>
          <a:xfrm>
            <a:off x="6552057" y="1603375"/>
            <a:ext cx="3939458" cy="410718"/>
            <a:chOff x="6552057" y="1603375"/>
            <a:chExt cx="3939458" cy="410718"/>
          </a:xfrm>
        </p:grpSpPr>
        <p:sp>
          <p:nvSpPr>
            <p:cNvPr id="21" name="TextBox 21"/>
            <p:cNvSpPr txBox="1"/>
            <p:nvPr/>
          </p:nvSpPr>
          <p:spPr>
            <a:xfrm>
              <a:off x="6552057" y="1603375"/>
              <a:ext cx="393945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本次 RF-DETR-Nano 迁移模型</a:t>
              </a:r>
            </a:p>
          </p:txBody>
        </p:sp>
      </p:grpSp>
      <p:grpSp>
        <p:nvGrpSpPr>
          <p:cNvPr id="24" name="new-text-frame-17"/>
          <p:cNvGrpSpPr/>
          <p:nvPr/>
        </p:nvGrpSpPr>
        <p:grpSpPr>
          <a:xfrm>
            <a:off x="847725" y="2200275"/>
            <a:ext cx="3092369" cy="367665"/>
            <a:chOff x="847725" y="2200275"/>
            <a:chExt cx="3092369" cy="367665"/>
          </a:xfrm>
        </p:grpSpPr>
        <p:sp>
          <p:nvSpPr>
            <p:cNvPr id="23" name="TextBox 23"/>
            <p:cNvSpPr txBox="1"/>
            <p:nvPr/>
          </p:nvSpPr>
          <p:spPr>
            <a:xfrm>
              <a:off x="847725" y="2200275"/>
              <a:ext cx="3092369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SATR-SSM骨干 → PAN-FPN</a:t>
              </a:r>
            </a:p>
          </p:txBody>
        </p:sp>
      </p:grpSp>
      <p:grpSp>
        <p:nvGrpSpPr>
          <p:cNvPr id="28" name="new-text-frame-18"/>
          <p:cNvGrpSpPr/>
          <p:nvPr/>
        </p:nvGrpSpPr>
        <p:grpSpPr>
          <a:xfrm>
            <a:off x="847725" y="2647950"/>
            <a:ext cx="1246515" cy="367665"/>
            <a:chOff x="847725" y="2647950"/>
            <a:chExt cx="1246515" cy="367665"/>
          </a:xfrm>
        </p:grpSpPr>
        <p:sp>
          <p:nvSpPr>
            <p:cNvPr id="25" name="TextBox 25"/>
            <p:cNvSpPr txBox="1"/>
            <p:nvPr/>
          </p:nvSpPr>
          <p:spPr>
            <a:xfrm>
              <a:off x="847725" y="2647950"/>
              <a:ext cx="124651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→ 原检测头</a:t>
              </a:r>
            </a:p>
          </p:txBody>
        </p:sp>
      </p:grpSp>
      <p:grpSp>
        <p:nvGrpSpPr>
          <p:cNvPr id="30" name="new-text-frame-19"/>
          <p:cNvGrpSpPr/>
          <p:nvPr/>
        </p:nvGrpSpPr>
        <p:grpSpPr>
          <a:xfrm>
            <a:off x="847725" y="3295650"/>
            <a:ext cx="3609284" cy="367665"/>
            <a:chOff x="847725" y="3295650"/>
            <a:chExt cx="3609284" cy="367665"/>
          </a:xfrm>
        </p:grpSpPr>
        <p:sp>
          <p:nvSpPr>
            <p:cNvPr id="29" name="TextBox 29"/>
            <p:cNvSpPr txBox="1"/>
            <p:nvPr/>
          </p:nvSpPr>
          <p:spPr>
            <a:xfrm>
              <a:off x="847725" y="3295650"/>
              <a:ext cx="360928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已有M3FD结果：0.435 / 0.706</a:t>
              </a:r>
            </a:p>
          </p:txBody>
        </p:sp>
      </p:grpSp>
      <p:grpSp>
        <p:nvGrpSpPr>
          <p:cNvPr id="32" name="new-text-frame-20"/>
          <p:cNvGrpSpPr/>
          <p:nvPr/>
        </p:nvGrpSpPr>
        <p:grpSpPr>
          <a:xfrm>
            <a:off x="847725" y="3771900"/>
            <a:ext cx="2579512" cy="367665"/>
            <a:chOff x="847725" y="3771900"/>
            <a:chExt cx="2579512" cy="367665"/>
          </a:xfrm>
        </p:grpSpPr>
        <p:sp>
          <p:nvSpPr>
            <p:cNvPr id="31" name="TextBox 31"/>
            <p:cNvSpPr txBox="1"/>
            <p:nvPr/>
          </p:nvSpPr>
          <p:spPr>
            <a:xfrm>
              <a:off x="847725" y="3771900"/>
              <a:ext cx="257951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完整模型参数：3.72M</a:t>
              </a:r>
            </a:p>
          </p:txBody>
        </p:sp>
      </p:grpSp>
      <p:grpSp>
        <p:nvGrpSpPr>
          <p:cNvPr id="34" name="new-text-frame-21"/>
          <p:cNvGrpSpPr/>
          <p:nvPr/>
        </p:nvGrpSpPr>
        <p:grpSpPr>
          <a:xfrm>
            <a:off x="847725" y="4248150"/>
            <a:ext cx="2885125" cy="367665"/>
            <a:chOff x="847725" y="4248150"/>
            <a:chExt cx="2885125" cy="367665"/>
          </a:xfrm>
        </p:grpSpPr>
        <p:sp>
          <p:nvSpPr>
            <p:cNvPr id="33" name="TextBox 33"/>
            <p:cNvSpPr txBox="1"/>
            <p:nvPr/>
          </p:nvSpPr>
          <p:spPr>
            <a:xfrm>
              <a:off x="847725" y="4248150"/>
              <a:ext cx="288512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按既有SATR检测协议单列</a:t>
              </a:r>
            </a:p>
          </p:txBody>
        </p:sp>
      </p:grpSp>
      <p:grpSp>
        <p:nvGrpSpPr>
          <p:cNvPr id="36" name="new-text-frame-22"/>
          <p:cNvGrpSpPr/>
          <p:nvPr/>
        </p:nvGrpSpPr>
        <p:grpSpPr>
          <a:xfrm>
            <a:off x="6562725" y="2200275"/>
            <a:ext cx="3058704" cy="367665"/>
            <a:chOff x="6562725" y="2200275"/>
            <a:chExt cx="3058704" cy="367665"/>
          </a:xfrm>
        </p:grpSpPr>
        <p:sp>
          <p:nvSpPr>
            <p:cNvPr id="35" name="TextBox 35"/>
            <p:cNvSpPr txBox="1"/>
            <p:nvPr/>
          </p:nvSpPr>
          <p:spPr>
            <a:xfrm>
              <a:off x="6562725" y="2200275"/>
              <a:ext cx="305870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SATR-SSM骨干 → 新适配层</a:t>
              </a:r>
            </a:p>
          </p:txBody>
        </p:sp>
      </p:grpSp>
      <p:grpSp>
        <p:nvGrpSpPr>
          <p:cNvPr id="38" name="new-text-frame-23"/>
          <p:cNvGrpSpPr/>
          <p:nvPr/>
        </p:nvGrpSpPr>
        <p:grpSpPr>
          <a:xfrm>
            <a:off x="6562725" y="2647950"/>
            <a:ext cx="3047482" cy="367665"/>
            <a:chOff x="6562725" y="2647950"/>
            <a:chExt cx="3047482" cy="367665"/>
          </a:xfrm>
        </p:grpSpPr>
        <p:sp>
          <p:nvSpPr>
            <p:cNvPr id="37" name="TextBox 37"/>
            <p:cNvSpPr txBox="1"/>
            <p:nvPr/>
          </p:nvSpPr>
          <p:spPr>
            <a:xfrm>
              <a:off x="6562725" y="2647950"/>
              <a:ext cx="304748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→ RF-DETR解码器与检测头</a:t>
              </a:r>
            </a:p>
          </p:txBody>
        </p:sp>
      </p:grpSp>
      <p:grpSp>
        <p:nvGrpSpPr>
          <p:cNvPr id="40" name="new-text-frame-24"/>
          <p:cNvGrpSpPr/>
          <p:nvPr/>
        </p:nvGrpSpPr>
        <p:grpSpPr>
          <a:xfrm>
            <a:off x="6562725" y="3295650"/>
            <a:ext cx="3888824" cy="367665"/>
            <a:chOff x="6562725" y="3295650"/>
            <a:chExt cx="3888824" cy="367665"/>
          </a:xfrm>
        </p:grpSpPr>
        <p:sp>
          <p:nvSpPr>
            <p:cNvPr id="39" name="TextBox 39"/>
            <p:cNvSpPr txBox="1"/>
            <p:nvPr/>
          </p:nvSpPr>
          <p:spPr>
            <a:xfrm>
              <a:off x="6562725" y="3295650"/>
              <a:ext cx="388882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D：COCO20/5k；F：M3FD可见光</a:t>
              </a:r>
            </a:p>
          </p:txBody>
        </p:sp>
      </p:grpSp>
      <p:grpSp>
        <p:nvGrpSpPr>
          <p:cNvPr id="42" name="new-text-frame-25"/>
          <p:cNvGrpSpPr/>
          <p:nvPr/>
        </p:nvGrpSpPr>
        <p:grpSpPr>
          <a:xfrm>
            <a:off x="6562725" y="3771900"/>
            <a:ext cx="3398937" cy="367665"/>
            <a:chOff x="6562725" y="3771900"/>
            <a:chExt cx="3398937" cy="367665"/>
          </a:xfrm>
        </p:grpSpPr>
        <p:sp>
          <p:nvSpPr>
            <p:cNvPr id="41" name="TextBox 41"/>
            <p:cNvSpPr txBox="1"/>
            <p:nvPr/>
          </p:nvSpPr>
          <p:spPr>
            <a:xfrm>
              <a:off x="6562725" y="3771900"/>
              <a:ext cx="3398937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D/F参数：9.577M / 9.829M</a:t>
              </a:r>
            </a:p>
          </p:txBody>
        </p:sp>
      </p:grpSp>
      <p:grpSp>
        <p:nvGrpSpPr>
          <p:cNvPr id="44" name="new-text-frame-26"/>
          <p:cNvGrpSpPr/>
          <p:nvPr/>
        </p:nvGrpSpPr>
        <p:grpSpPr>
          <a:xfrm>
            <a:off x="6562725" y="4248150"/>
            <a:ext cx="3562248" cy="367665"/>
            <a:chOff x="6562725" y="4248150"/>
            <a:chExt cx="3562248" cy="367665"/>
          </a:xfrm>
        </p:grpSpPr>
        <p:sp>
          <p:nvSpPr>
            <p:cNvPr id="43" name="TextBox 43"/>
            <p:cNvSpPr txBox="1"/>
            <p:nvPr/>
          </p:nvSpPr>
          <p:spPr>
            <a:xfrm>
              <a:off x="6562725" y="4248150"/>
              <a:ext cx="356224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本次验证骨干跨检测器迁移能力</a:t>
              </a:r>
            </a:p>
          </p:txBody>
        </p:sp>
      </p:grpSp>
      <p:grpSp>
        <p:nvGrpSpPr>
          <p:cNvPr id="46" name="new-text-frame-27"/>
          <p:cNvGrpSpPr/>
          <p:nvPr/>
        </p:nvGrpSpPr>
        <p:grpSpPr>
          <a:xfrm>
            <a:off x="608838" y="5568950"/>
            <a:ext cx="7906614" cy="396050"/>
            <a:chOff x="608838" y="5568950"/>
            <a:chExt cx="7906614" cy="396050"/>
          </a:xfrm>
        </p:grpSpPr>
        <p:sp>
          <p:nvSpPr>
            <p:cNvPr id="45" name="TextBox 45"/>
            <p:cNvSpPr txBox="1"/>
            <p:nvPr/>
          </p:nvSpPr>
          <p:spPr>
            <a:xfrm>
              <a:off x="608838" y="5568950"/>
              <a:ext cx="7906614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b="1" dirty="0">
                  <a:solidFill>
                    <a:srgbClr val="C62D35"/>
                  </a:solidFill>
                  <a:latin typeface="Microsoft YaHei"/>
                  <a:ea typeface="Microsoft YaHei"/>
                  <a:cs typeface="Microsoft YaHei"/>
                </a:rPr>
                <a:t>原始完整检测器与骨干迁移模型，分别对应不同的完整检测架构。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5398926"/>
      </p:ext>
    </p:extLst>
  </p:cSld>
  <p:clrMapOvr>
    <a:masterClrMapping/>
  </p:clrMapOvr>
</p:sld>
</file>

<file path=ppt/slides/slide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/>
          <p:cNvSpPr/>
          <p:nvPr/>
        </p:nvSpPr>
        <p:spPr>
          <a:xfrm>
            <a:off x="1047750" y="190500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64389" rIns="0" bIns="0" anchor="t" anchorCtr="0">
            <a:noAutofit/>
          </a:bodyPr>
          <a:lstStyle/>
          <a:p>
            <a:pPr algn="l"/>
            <a:r>
              <a:rPr lang="zh-CN" sz="3300" b="1" dirty="0">
                <a:solidFill>
                  <a:srgbClr val="206DC5"/>
                </a:solidFill>
                <a:latin typeface="Microsoft YaHei"/>
                <a:ea typeface="Microsoft YaHei"/>
                <a:cs typeface="Microsoft YaHei"/>
              </a:rPr>
              <a:t>实验配置</a:t>
            </a:r>
          </a:p>
        </p:txBody>
      </p:sp>
      <p:sp>
        <p:nvSpPr>
          <p:cNvPr id="2" name="chapter-number"/>
          <p:cNvSpPr/>
          <p:nvPr/>
        </p:nvSpPr>
        <p:spPr>
          <a:xfrm>
            <a:off x="304800" y="276225"/>
            <a:ext cx="5429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89059" rIns="0" bIns="0" anchor="t" anchorCtr="0">
            <a:noAutofit/>
          </a:bodyPr>
          <a:lstStyle/>
          <a:p>
            <a:pPr algn="ctr"/>
            <a:r>
              <a:rPr lang="zh-CN" sz="218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course-footer"/>
          <p:cNvSpPr/>
          <p:nvPr/>
        </p:nvSpPr>
        <p:spPr>
          <a:xfrm>
            <a:off x="447675" y="6467475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41910" rIns="0" bIns="0" anchor="t" anchorCtr="0">
            <a:noAutofit/>
          </a:bodyPr>
          <a:lstStyle/>
          <a:p>
            <a:r>
              <a:rPr lang="zh-CN" altLang="en-US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视觉计算基础与应用</a:t>
            </a:r>
            <a:r>
              <a:rPr lang="zh-CN" altLang="zh-CN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大作业</a:t>
            </a:r>
          </a:p>
        </p:txBody>
      </p:sp>
      <p:pic>
        <p:nvPicPr>
          <p:cNvPr id="9" name="图片 5">
            <a:extLst>
              <a:ext uri="{FF2B5EF4-FFF2-40B4-BE49-F238E27FC236}">
                <a16:creationId id="{746F2C71-A194-4BC3-8B47-7BC4ED2B53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59925" y="125413"/>
            <a:ext cx="2266950" cy="611187"/>
          </a:xfrm>
          <a:prstGeom prst="rect">
            <a:avLst/>
          </a:prstGeom>
          <a:ln>
            <a:noFill/>
          </a:ln>
        </p:spPr>
      </p:pic>
      <p:grpSp>
        <p:nvGrpSpPr>
          <p:cNvPr id="12" name="output-page-number"/>
          <p:cNvGrpSpPr/>
          <p:nvPr/>
        </p:nvGrpSpPr>
        <p:grpSpPr>
          <a:xfrm>
            <a:off x="11668125" y="6438900"/>
            <a:ext cx="504825" cy="381000"/>
            <a:chOff x="11668125" y="6438900"/>
            <a:chExt cx="504825" cy="381000"/>
          </a:xfrm>
        </p:grpSpPr>
        <p:sp>
          <p:nvSpPr>
            <p:cNvPr id="10" name="Rectangle 10"/>
            <p:cNvSpPr/>
            <p:nvPr/>
          </p:nvSpPr>
          <p:spPr>
            <a:xfrm>
              <a:off x="11668125" y="6438900"/>
              <a:ext cx="504825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855967" y="6508750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6</a:t>
              </a:r>
            </a:p>
          </p:txBody>
        </p:sp>
      </p:grpSp>
      <p:grpSp>
        <p:nvGrpSpPr>
          <p:cNvPr id="22" name="full-coco-spec"/>
          <p:cNvGrpSpPr/>
          <p:nvPr/>
        </p:nvGrpSpPr>
        <p:grpSpPr>
          <a:xfrm>
            <a:off x="607314" y="1444657"/>
            <a:ext cx="4762500" cy="3379279"/>
            <a:chOff x="607314" y="1444657"/>
            <a:chExt cx="4762500" cy="3379279"/>
          </a:xfrm>
        </p:grpSpPr>
        <p:sp>
          <p:nvSpPr>
            <p:cNvPr id="16" name="TextBox 16"/>
            <p:cNvSpPr/>
            <p:nvPr/>
          </p:nvSpPr>
          <p:spPr>
            <a:xfrm>
              <a:off x="607314" y="1444657"/>
              <a:ext cx="4762500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232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复现对象 · ICLR 2026</a:t>
              </a:r>
            </a:p>
          </p:txBody>
        </p:sp>
        <p:sp>
          <p:nvSpPr>
            <p:cNvPr id="17" name="TextBox 17"/>
            <p:cNvSpPr/>
            <p:nvPr/>
          </p:nvSpPr>
          <p:spPr>
            <a:xfrm>
              <a:off x="608076" y="2000250"/>
              <a:ext cx="372389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21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RF-DETR-Nano + DINOv2-S</a:t>
              </a:r>
            </a:p>
          </p:txBody>
        </p:sp>
        <p:sp>
          <p:nvSpPr>
            <p:cNvPr id="18" name="TextBox 18"/>
            <p:cNvSpPr/>
            <p:nvPr/>
          </p:nvSpPr>
          <p:spPr>
            <a:xfrm>
              <a:off x="608076" y="2524125"/>
              <a:ext cx="2982849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COCO2017 全量 80 类</a:t>
              </a:r>
            </a:p>
          </p:txBody>
        </p:sp>
        <p:sp>
          <p:nvSpPr>
            <p:cNvPr id="19" name="TextBox 19"/>
            <p:cNvSpPr/>
            <p:nvPr/>
          </p:nvSpPr>
          <p:spPr>
            <a:xfrm>
              <a:off x="608076" y="3048000"/>
              <a:ext cx="4409504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训练 118,287 张 / 验证 5,000 张</a:t>
              </a:r>
            </a:p>
          </p:txBody>
        </p:sp>
        <p:sp>
          <p:nvSpPr>
            <p:cNvPr id="20" name="TextBox 20"/>
            <p:cNvSpPr/>
            <p:nvPr/>
          </p:nvSpPr>
          <p:spPr>
            <a:xfrm>
              <a:off x="608076" y="3571875"/>
              <a:ext cx="4084701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en-US" sz="21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20 epochs · 384 × 384 · FP32</a:t>
              </a:r>
            </a:p>
          </p:txBody>
        </p:sp>
        <p:sp>
          <p:nvSpPr>
            <p:cNvPr id="21" name="TextBox 21"/>
            <p:cNvSpPr/>
            <p:nvPr/>
          </p:nvSpPr>
          <p:spPr>
            <a:xfrm>
              <a:off x="608457" y="4413218"/>
              <a:ext cx="296570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56616E"/>
                  </a:solidFill>
                  <a:latin typeface="Microsoft YaHei"/>
                  <a:ea typeface="Microsoft YaHei"/>
                  <a:cs typeface="Microsoft YaHei"/>
                </a:rPr>
                <a:t>训练 → 最佳权重 → 验证</a:t>
              </a:r>
            </a:p>
          </p:txBody>
        </p:sp>
      </p:grpSp>
      <p:grpSp>
        <p:nvGrpSpPr>
          <p:cNvPr id="32" name="full-coco-metrics"/>
          <p:cNvGrpSpPr/>
          <p:nvPr/>
        </p:nvGrpSpPr>
        <p:grpSpPr>
          <a:xfrm>
            <a:off x="5953125" y="1333500"/>
            <a:ext cx="5619750" cy="3905250"/>
            <a:chOff x="5953125" y="1333500"/>
            <a:chExt cx="5619750" cy="3905250"/>
          </a:xfrm>
        </p:grpSpPr>
        <p:sp>
          <p:nvSpPr>
            <p:cNvPr id="23" name="Rectangle 23"/>
            <p:cNvSpPr/>
            <p:nvPr/>
          </p:nvSpPr>
          <p:spPr>
            <a:xfrm>
              <a:off x="5953125" y="1333500"/>
              <a:ext cx="5619750" cy="3905250"/>
            </a:xfrm>
            <a:prstGeom prst="rect">
              <a:avLst/>
            </a:prstGeom>
            <a:solidFill>
              <a:srgbClr val="F3F7FD"/>
            </a:solidFill>
            <a:ln w="9525">
              <a:solidFill>
                <a:srgbClr val="D3E1F1"/>
              </a:solidFill>
            </a:ln>
          </p:spPr>
        </p:sp>
        <p:sp>
          <p:nvSpPr>
            <p:cNvPr id="24" name="TextBox 24"/>
            <p:cNvSpPr/>
            <p:nvPr/>
          </p:nvSpPr>
          <p:spPr>
            <a:xfrm>
              <a:off x="7748873" y="1524000"/>
              <a:ext cx="2028254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248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完整复现结果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6186964" y="2231993"/>
              <a:ext cx="1818418" cy="891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95" bIns="0" anchor="t" anchorCtr="0">
              <a:noAutofit/>
            </a:bodyPr>
            <a:lstStyle/>
            <a:p>
              <a:pPr algn="ctr"/>
              <a:r>
                <a:rPr lang="zh-CN" sz="4580" b="1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0.483</a:t>
              </a:r>
            </a:p>
          </p:txBody>
        </p:sp>
        <p:sp>
          <p:nvSpPr>
            <p:cNvPr id="26" name="TextBox 26"/>
            <p:cNvSpPr/>
            <p:nvPr/>
          </p:nvSpPr>
          <p:spPr>
            <a:xfrm>
              <a:off x="6508623" y="3003518"/>
              <a:ext cx="117500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en-US" sz="1800" dirty="0">
                  <a:solidFill>
                    <a:srgbClr val="56616E"/>
                  </a:solidFill>
                  <a:latin typeface="Microsoft YaHei"/>
                  <a:ea typeface="Microsoft YaHei"/>
                  <a:cs typeface="Microsoft YaHei"/>
                </a:rPr>
                <a:t>mAP50:95</a:t>
              </a:r>
            </a:p>
          </p:txBody>
        </p:sp>
        <p:sp>
          <p:nvSpPr>
            <p:cNvPr id="27" name="TextBox 27"/>
            <p:cNvSpPr/>
            <p:nvPr/>
          </p:nvSpPr>
          <p:spPr>
            <a:xfrm>
              <a:off x="9473089" y="2231993"/>
              <a:ext cx="1818418" cy="8915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95" bIns="0" anchor="t" anchorCtr="0">
              <a:noAutofit/>
            </a:bodyPr>
            <a:lstStyle/>
            <a:p>
              <a:pPr algn="ctr"/>
              <a:r>
                <a:rPr lang="zh-CN" sz="4580" b="1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0.674</a:t>
              </a:r>
            </a:p>
          </p:txBody>
        </p:sp>
        <p:sp>
          <p:nvSpPr>
            <p:cNvPr id="28" name="TextBox 28"/>
            <p:cNvSpPr/>
            <p:nvPr/>
          </p:nvSpPr>
          <p:spPr>
            <a:xfrm>
              <a:off x="10002202" y="3003518"/>
              <a:ext cx="7600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en-US" sz="1800" dirty="0">
                  <a:solidFill>
                    <a:srgbClr val="56616E"/>
                  </a:solidFill>
                  <a:latin typeface="Microsoft YaHei"/>
                  <a:ea typeface="Microsoft YaHei"/>
                  <a:cs typeface="Microsoft YaHei"/>
                </a:rPr>
                <a:t>mAP50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8763000" y="2124075"/>
              <a:ext cx="9525" cy="1333500"/>
            </a:xfrm>
            <a:custGeom>
              <a:avLst/>
              <a:gdLst/>
              <a:ahLst/>
              <a:cxnLst/>
              <a:rect l="l" t="t" r="r" b="b"/>
              <a:pathLst>
                <a:path w="9525" h="1333500">
                  <a:moveTo>
                    <a:pt x="0" y="0"/>
                  </a:moveTo>
                  <a:lnTo>
                    <a:pt x="0" y="1333500"/>
                  </a:lnTo>
                </a:path>
              </a:pathLst>
            </a:custGeom>
            <a:noFill/>
            <a:ln w="19050">
              <a:solidFill>
                <a:srgbClr val="D3E1F1"/>
              </a:solidFill>
            </a:ln>
          </p:spPr>
        </p:sp>
        <p:sp>
          <p:nvSpPr>
            <p:cNvPr id="30" name="TextBox 30"/>
            <p:cNvSpPr/>
            <p:nvPr/>
          </p:nvSpPr>
          <p:spPr>
            <a:xfrm>
              <a:off x="7298531" y="3641693"/>
              <a:ext cx="2928938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3300" b="1" dirty="0">
                  <a:solidFill>
                    <a:srgbClr val="C62D35"/>
                  </a:solidFill>
                  <a:latin typeface="Microsoft YaHei"/>
                  <a:ea typeface="Microsoft YaHei"/>
                  <a:cs typeface="Microsoft YaHei"/>
                </a:rPr>
                <a:t>约 48.00 小时</a:t>
              </a:r>
            </a:p>
          </p:txBody>
        </p:sp>
        <p:sp>
          <p:nvSpPr>
            <p:cNvPr id="31" name="TextBox 31"/>
            <p:cNvSpPr/>
            <p:nvPr/>
          </p:nvSpPr>
          <p:spPr>
            <a:xfrm>
              <a:off x="7994237" y="4238625"/>
              <a:ext cx="153752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880" dirty="0">
                  <a:solidFill>
                    <a:srgbClr val="56616E"/>
                  </a:solidFill>
                  <a:latin typeface="Microsoft YaHei"/>
                  <a:ea typeface="Microsoft YaHei"/>
                  <a:cs typeface="Microsoft YaHei"/>
                </a:rPr>
                <a:t>日志训练耗时</a:t>
              </a:r>
            </a:p>
          </p:txBody>
        </p:sp>
      </p:grpSp>
      <p:grpSp>
        <p:nvGrpSpPr>
          <p:cNvPr id="34" name="full-coco-decision"/>
          <p:cNvGrpSpPr/>
          <p:nvPr/>
        </p:nvGrpSpPr>
        <p:grpSpPr>
          <a:xfrm>
            <a:off x="607314" y="5378450"/>
            <a:ext cx="7452115" cy="454724"/>
            <a:chOff x="607314" y="5378450"/>
            <a:chExt cx="7452115" cy="454724"/>
          </a:xfrm>
        </p:grpSpPr>
        <p:sp>
          <p:nvSpPr>
            <p:cNvPr id="33" name="TextBox 33"/>
            <p:cNvSpPr txBox="1"/>
            <p:nvPr/>
          </p:nvSpPr>
          <p:spPr>
            <a:xfrm>
              <a:off x="607314" y="5378450"/>
              <a:ext cx="7452115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32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完整链路复现完成，后续对照转入固定 5k 配对子集。</a:t>
              </a:r>
            </a:p>
          </p:txBody>
        </p:sp>
      </p:grpSp>
      <p:sp>
        <p:nvSpPr>
          <p:cNvPr id="35" name="TextBox 35"/>
          <p:cNvSpPr/>
          <p:nvPr/>
        </p:nvSpPr>
        <p:spPr>
          <a:xfrm>
            <a:off x="613029" y="6181725"/>
            <a:ext cx="109537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来源：RF-DETR，ICLR 2026；A组从官方COCO权重微调20轮，耗时取train.log。</a:t>
            </a:r>
          </a:p>
        </p:txBody>
      </p:sp>
      <p:grpSp>
        <p:nvGrpSpPr>
          <p:cNvPr id="47" name="page-subtitle"/>
          <p:cNvGrpSpPr/>
          <p:nvPr/>
        </p:nvGrpSpPr>
        <p:grpSpPr>
          <a:xfrm>
            <a:off x="608457" y="822325"/>
            <a:ext cx="3584555" cy="410718"/>
            <a:chOff x="608457" y="822325"/>
            <a:chExt cx="3584555" cy="410718"/>
          </a:xfrm>
        </p:grpSpPr>
        <p:sp>
          <p:nvSpPr>
            <p:cNvPr id="46" name="TextBox 46"/>
            <p:cNvSpPr txBox="1"/>
            <p:nvPr/>
          </p:nvSpPr>
          <p:spPr>
            <a:xfrm>
              <a:off x="608457" y="822325"/>
              <a:ext cx="35845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第一步：完整复现 RF-DETR</a:t>
              </a:r>
            </a:p>
          </p:txBody>
        </p:sp>
      </p:grpSp>
    </p:spTree>
    <p:extLst>
      <p:ext uri="{BB962C8B-B14F-4D97-AF65-F5344CB8AC3E}">
        <p14:creationId val="1440867509"/>
      </p:ext>
    </p:extLst>
  </p:cSld>
  <p:clrMapOvr>
    <a:masterClrMapping/>
  </p:clrMapOvr>
</p:sld>
</file>

<file path=ppt/slides/slide7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/>
          <p:cNvSpPr/>
          <p:nvPr/>
        </p:nvSpPr>
        <p:spPr>
          <a:xfrm>
            <a:off x="1047750" y="190500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64389" rIns="0" bIns="0" anchor="t" anchorCtr="0">
            <a:noAutofit/>
          </a:bodyPr>
          <a:lstStyle/>
          <a:p>
            <a:pPr algn="l"/>
            <a:r>
              <a:rPr lang="zh-CN" sz="3300" b="1" dirty="0">
                <a:solidFill>
                  <a:srgbClr val="206DC5"/>
                </a:solidFill>
                <a:latin typeface="Microsoft YaHei"/>
                <a:ea typeface="Microsoft YaHei"/>
                <a:cs typeface="Microsoft YaHei"/>
              </a:rPr>
              <a:t>实验配置</a:t>
            </a:r>
          </a:p>
        </p:txBody>
      </p:sp>
      <p:sp>
        <p:nvSpPr>
          <p:cNvPr id="2" name="chapter-number"/>
          <p:cNvSpPr/>
          <p:nvPr/>
        </p:nvSpPr>
        <p:spPr>
          <a:xfrm>
            <a:off x="304800" y="276225"/>
            <a:ext cx="5429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89059" rIns="0" bIns="0" anchor="t" anchorCtr="0">
            <a:noAutofit/>
          </a:bodyPr>
          <a:lstStyle/>
          <a:p>
            <a:pPr algn="ctr"/>
            <a:r>
              <a:rPr lang="zh-CN" sz="218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3" name="course-footer"/>
          <p:cNvSpPr/>
          <p:nvPr/>
        </p:nvSpPr>
        <p:spPr>
          <a:xfrm>
            <a:off x="447675" y="6467475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41910" rIns="0" bIns="0" anchor="t" anchorCtr="0">
            <a:noAutofit/>
          </a:bodyPr>
          <a:lstStyle/>
          <a:p>
            <a:r>
              <a:rPr lang="zh-CN" altLang="en-US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视觉计算基础与应用</a:t>
            </a:r>
            <a:r>
              <a:rPr lang="zh-CN" altLang="zh-CN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大作业</a:t>
            </a:r>
          </a:p>
        </p:txBody>
      </p:sp>
      <p:pic>
        <p:nvPicPr>
          <p:cNvPr id="9" name="图片 5">
            <a:extLst>
              <a:ext uri="{FF2B5EF4-FFF2-40B4-BE49-F238E27FC236}">
                <a16:creationId id="{746F2C71-A194-4BC3-8B47-7BC4ED2B53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59925" y="125413"/>
            <a:ext cx="2266950" cy="611187"/>
          </a:xfrm>
          <a:prstGeom prst="rect">
            <a:avLst/>
          </a:prstGeom>
          <a:ln>
            <a:noFill/>
          </a:ln>
        </p:spPr>
      </p:pic>
      <p:grpSp>
        <p:nvGrpSpPr>
          <p:cNvPr id="12" name="output-page-number"/>
          <p:cNvGrpSpPr/>
          <p:nvPr/>
        </p:nvGrpSpPr>
        <p:grpSpPr>
          <a:xfrm>
            <a:off x="11668125" y="6438900"/>
            <a:ext cx="504825" cy="381000"/>
            <a:chOff x="11668125" y="6438900"/>
            <a:chExt cx="504825" cy="381000"/>
          </a:xfrm>
        </p:grpSpPr>
        <p:sp>
          <p:nvSpPr>
            <p:cNvPr id="10" name="Rectangle 10"/>
            <p:cNvSpPr/>
            <p:nvPr/>
          </p:nvSpPr>
          <p:spPr>
            <a:xfrm>
              <a:off x="11668125" y="6438900"/>
              <a:ext cx="504825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855967" y="6508750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7</a:t>
              </a:r>
            </a:p>
          </p:txBody>
        </p:sp>
      </p:grpSp>
      <p:grpSp>
        <p:nvGrpSpPr>
          <p:cNvPr id="43" name="coco-subset-flow"/>
          <p:cNvGrpSpPr/>
          <p:nvPr/>
        </p:nvGrpSpPr>
        <p:grpSpPr>
          <a:xfrm>
            <a:off x="607314" y="1368457"/>
            <a:ext cx="10498836" cy="2226659"/>
            <a:chOff x="607314" y="1368457"/>
            <a:chExt cx="10498836" cy="2226659"/>
          </a:xfrm>
        </p:grpSpPr>
        <p:sp>
          <p:nvSpPr>
            <p:cNvPr id="16" name="TextBox 16"/>
            <p:cNvSpPr/>
            <p:nvPr/>
          </p:nvSpPr>
          <p:spPr>
            <a:xfrm>
              <a:off x="607314" y="1368457"/>
              <a:ext cx="508863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232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COCO 主线：同源图像逐步收缩任务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19125" y="2314575"/>
              <a:ext cx="2143125" cy="1257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3E1F1"/>
              </a:solidFill>
            </a:ln>
          </p:spPr>
        </p:sp>
        <p:sp>
          <p:nvSpPr>
            <p:cNvPr id="18" name="TextBox 18"/>
            <p:cNvSpPr/>
            <p:nvPr/>
          </p:nvSpPr>
          <p:spPr>
            <a:xfrm>
              <a:off x="854964" y="2397157"/>
              <a:ext cx="214217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en-US" sz="232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A</a:t>
              </a:r>
            </a:p>
          </p:txBody>
        </p:sp>
        <p:sp>
          <p:nvSpPr>
            <p:cNvPr id="19" name="TextBox 19"/>
            <p:cNvSpPr/>
            <p:nvPr/>
          </p:nvSpPr>
          <p:spPr>
            <a:xfrm>
              <a:off x="1056894" y="2727293"/>
              <a:ext cx="125806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1720" b="1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118,287 张</a:t>
              </a:r>
            </a:p>
          </p:txBody>
        </p:sp>
        <p:sp>
          <p:nvSpPr>
            <p:cNvPr id="20" name="TextBox 20"/>
            <p:cNvSpPr/>
            <p:nvPr/>
          </p:nvSpPr>
          <p:spPr>
            <a:xfrm>
              <a:off x="1411033" y="3025807"/>
              <a:ext cx="5498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95" bIns="0" anchor="t" anchorCtr="0">
              <a:noAutofit/>
            </a:bodyPr>
            <a:lstStyle/>
            <a:p>
              <a:pPr algn="ctr"/>
              <a:r>
                <a:rPr lang="zh-CN" sz="1650" dirty="0">
                  <a:solidFill>
                    <a:srgbClr val="56616E"/>
                  </a:solidFill>
                  <a:latin typeface="Microsoft YaHei"/>
                  <a:ea typeface="Microsoft YaHei"/>
                  <a:cs typeface="Microsoft YaHei"/>
                </a:rPr>
                <a:t>80 类</a:t>
              </a:r>
            </a:p>
          </p:txBody>
        </p:sp>
        <p:sp>
          <p:nvSpPr>
            <p:cNvPr id="21" name="TextBox 21"/>
            <p:cNvSpPr/>
            <p:nvPr/>
          </p:nvSpPr>
          <p:spPr>
            <a:xfrm>
              <a:off x="1252538" y="3286125"/>
              <a:ext cx="86677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58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完整复现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400425" y="2314575"/>
              <a:ext cx="2143125" cy="1257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3E1F1"/>
              </a:solidFill>
            </a:ln>
          </p:spPr>
        </p:sp>
        <p:sp>
          <p:nvSpPr>
            <p:cNvPr id="23" name="TextBox 23"/>
            <p:cNvSpPr/>
            <p:nvPr/>
          </p:nvSpPr>
          <p:spPr>
            <a:xfrm>
              <a:off x="3636264" y="2397157"/>
              <a:ext cx="214217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en-US" sz="232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B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3703892" y="2727293"/>
              <a:ext cx="15266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1720" b="1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固定 5,000 张</a:t>
              </a:r>
            </a:p>
          </p:txBody>
        </p:sp>
        <p:sp>
          <p:nvSpPr>
            <p:cNvPr id="25" name="TextBox 25"/>
            <p:cNvSpPr/>
            <p:nvPr/>
          </p:nvSpPr>
          <p:spPr>
            <a:xfrm>
              <a:off x="4192334" y="3025807"/>
              <a:ext cx="5498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95" bIns="0" anchor="t" anchorCtr="0">
              <a:noAutofit/>
            </a:bodyPr>
            <a:lstStyle/>
            <a:p>
              <a:pPr algn="ctr"/>
              <a:r>
                <a:rPr lang="zh-CN" sz="1650" dirty="0">
                  <a:solidFill>
                    <a:srgbClr val="56616E"/>
                  </a:solidFill>
                  <a:latin typeface="Microsoft YaHei"/>
                  <a:ea typeface="Microsoft YaHei"/>
                  <a:cs typeface="Microsoft YaHei"/>
                </a:rPr>
                <a:t>80 类</a:t>
              </a:r>
            </a:p>
          </p:txBody>
        </p:sp>
        <p:sp>
          <p:nvSpPr>
            <p:cNvPr id="26" name="TextBox 26"/>
            <p:cNvSpPr/>
            <p:nvPr/>
          </p:nvSpPr>
          <p:spPr>
            <a:xfrm>
              <a:off x="4033838" y="3286125"/>
              <a:ext cx="86677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58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子集基线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181725" y="2314575"/>
              <a:ext cx="2143125" cy="1257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3E1F1"/>
              </a:solidFill>
            </a:ln>
          </p:spPr>
        </p:sp>
        <p:sp>
          <p:nvSpPr>
            <p:cNvPr id="28" name="TextBox 28"/>
            <p:cNvSpPr/>
            <p:nvPr/>
          </p:nvSpPr>
          <p:spPr>
            <a:xfrm>
              <a:off x="6417564" y="2397157"/>
              <a:ext cx="214217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en-US" sz="232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C</a:t>
              </a:r>
            </a:p>
          </p:txBody>
        </p:sp>
        <p:sp>
          <p:nvSpPr>
            <p:cNvPr id="29" name="TextBox 29"/>
            <p:cNvSpPr/>
            <p:nvPr/>
          </p:nvSpPr>
          <p:spPr>
            <a:xfrm>
              <a:off x="6369463" y="2727293"/>
              <a:ext cx="175822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95" bIns="0" anchor="t" anchorCtr="0">
              <a:noAutofit/>
            </a:bodyPr>
            <a:lstStyle/>
            <a:p>
              <a:pPr algn="ctr"/>
              <a:r>
                <a:rPr lang="zh-CN" sz="1720" b="1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同一批 5,000 张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6532531" y="3025807"/>
              <a:ext cx="14320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95" bIns="0" anchor="t" anchorCtr="0">
              <a:noAutofit/>
            </a:bodyPr>
            <a:lstStyle/>
            <a:p>
              <a:pPr algn="ctr"/>
              <a:r>
                <a:rPr lang="zh-CN" sz="1650" dirty="0">
                  <a:solidFill>
                    <a:srgbClr val="56616E"/>
                  </a:solidFill>
                  <a:latin typeface="Microsoft YaHei"/>
                  <a:ea typeface="Microsoft YaHei"/>
                  <a:cs typeface="Microsoft YaHei"/>
                </a:rPr>
                <a:t>VOC 对应20类</a:t>
              </a:r>
            </a:p>
          </p:txBody>
        </p:sp>
        <p:sp>
          <p:nvSpPr>
            <p:cNvPr id="31" name="TextBox 31"/>
            <p:cNvSpPr/>
            <p:nvPr/>
          </p:nvSpPr>
          <p:spPr>
            <a:xfrm>
              <a:off x="6815138" y="3286125"/>
              <a:ext cx="866775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58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标签收缩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963025" y="2314575"/>
              <a:ext cx="2143125" cy="12573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3E1F1"/>
              </a:solidFill>
            </a:ln>
          </p:spPr>
        </p:sp>
        <p:sp>
          <p:nvSpPr>
            <p:cNvPr id="33" name="TextBox 33"/>
            <p:cNvSpPr/>
            <p:nvPr/>
          </p:nvSpPr>
          <p:spPr>
            <a:xfrm>
              <a:off x="9198864" y="2397157"/>
              <a:ext cx="214217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en-US" sz="2320" b="1" dirty="0">
                  <a:solidFill>
                    <a:srgbClr val="C62D35"/>
                  </a:solidFill>
                  <a:latin typeface="Microsoft YaHei"/>
                  <a:ea typeface="Microsoft YaHei"/>
                  <a:cs typeface="Microsoft YaHei"/>
                </a:rPr>
                <a:t>D</a:t>
              </a:r>
            </a:p>
          </p:txBody>
        </p:sp>
        <p:sp>
          <p:nvSpPr>
            <p:cNvPr id="34" name="TextBox 34"/>
            <p:cNvSpPr/>
            <p:nvPr/>
          </p:nvSpPr>
          <p:spPr>
            <a:xfrm>
              <a:off x="9294495" y="2727293"/>
              <a:ext cx="147066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1720" b="1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与 C 完全相同</a:t>
              </a:r>
            </a:p>
          </p:txBody>
        </p:sp>
        <p:sp>
          <p:nvSpPr>
            <p:cNvPr id="35" name="TextBox 35"/>
            <p:cNvSpPr/>
            <p:nvPr/>
          </p:nvSpPr>
          <p:spPr>
            <a:xfrm>
              <a:off x="9313831" y="3025807"/>
              <a:ext cx="143208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95" bIns="0" anchor="t" anchorCtr="0">
              <a:noAutofit/>
            </a:bodyPr>
            <a:lstStyle/>
            <a:p>
              <a:pPr algn="ctr"/>
              <a:r>
                <a:rPr lang="zh-CN" sz="1650" dirty="0">
                  <a:solidFill>
                    <a:srgbClr val="56616E"/>
                  </a:solidFill>
                  <a:latin typeface="Microsoft YaHei"/>
                  <a:ea typeface="Microsoft YaHei"/>
                  <a:cs typeface="Microsoft YaHei"/>
                </a:rPr>
                <a:t>VOC 对应20类</a:t>
              </a:r>
            </a:p>
          </p:txBody>
        </p:sp>
        <p:sp>
          <p:nvSpPr>
            <p:cNvPr id="36" name="TextBox 36"/>
            <p:cNvSpPr/>
            <p:nvPr/>
          </p:nvSpPr>
          <p:spPr>
            <a:xfrm>
              <a:off x="9372410" y="3286125"/>
              <a:ext cx="131483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580" b="1" dirty="0">
                  <a:solidFill>
                    <a:srgbClr val="C62D35"/>
                  </a:solidFill>
                  <a:latin typeface="Microsoft YaHei"/>
                  <a:ea typeface="Microsoft YaHei"/>
                  <a:cs typeface="Microsoft YaHei"/>
                </a:rPr>
                <a:t>换 SATR 骨干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2762250" y="2943225"/>
              <a:ext cx="561975" cy="9525"/>
            </a:xfrm>
            <a:custGeom>
              <a:avLst/>
              <a:gdLst/>
              <a:ahLst/>
              <a:cxnLst/>
              <a:rect l="l" t="t" r="r" b="b"/>
              <a:pathLst>
                <a:path w="561975" h="952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noFill/>
            <a:ln w="23812">
              <a:solidFill>
                <a:srgbClr val="206DC5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3248978" y="2902172"/>
              <a:ext cx="75247" cy="82106"/>
            </a:xfrm>
            <a:custGeom>
              <a:avLst/>
              <a:gdLst/>
              <a:ahLst/>
              <a:cxnLst/>
              <a:rect l="l" t="t" r="r" b="b"/>
              <a:pathLst>
                <a:path w="75247" h="82106">
                  <a:moveTo>
                    <a:pt x="75247" y="41053"/>
                  </a:moveTo>
                  <a:lnTo>
                    <a:pt x="0" y="821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6DC5"/>
            </a:solidFill>
            <a:ln>
              <a:noFill/>
            </a:ln>
          </p:spPr>
        </p:sp>
        <p:sp>
          <p:nvSpPr>
            <p:cNvPr id="39" name="Line 39"/>
            <p:cNvSpPr/>
            <p:nvPr/>
          </p:nvSpPr>
          <p:spPr>
            <a:xfrm>
              <a:off x="5543550" y="2943225"/>
              <a:ext cx="561975" cy="9525"/>
            </a:xfrm>
            <a:custGeom>
              <a:avLst/>
              <a:gdLst/>
              <a:ahLst/>
              <a:cxnLst/>
              <a:rect l="l" t="t" r="r" b="b"/>
              <a:pathLst>
                <a:path w="561975" h="952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noFill/>
            <a:ln w="23812">
              <a:solidFill>
                <a:srgbClr val="206DC5"/>
              </a:solidFill>
            </a:ln>
          </p:spPr>
        </p:sp>
        <p:sp>
          <p:nvSpPr>
            <p:cNvPr id="40" name="Polygon 40"/>
            <p:cNvSpPr/>
            <p:nvPr/>
          </p:nvSpPr>
          <p:spPr>
            <a:xfrm>
              <a:off x="6030278" y="2902172"/>
              <a:ext cx="75247" cy="82106"/>
            </a:xfrm>
            <a:custGeom>
              <a:avLst/>
              <a:gdLst/>
              <a:ahLst/>
              <a:cxnLst/>
              <a:rect l="l" t="t" r="r" b="b"/>
              <a:pathLst>
                <a:path w="75247" h="82106">
                  <a:moveTo>
                    <a:pt x="75247" y="41053"/>
                  </a:moveTo>
                  <a:lnTo>
                    <a:pt x="0" y="821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6DC5"/>
            </a:solidFill>
            <a:ln>
              <a:noFill/>
            </a:ln>
          </p:spPr>
        </p:sp>
        <p:sp>
          <p:nvSpPr>
            <p:cNvPr id="41" name="Line 41"/>
            <p:cNvSpPr/>
            <p:nvPr/>
          </p:nvSpPr>
          <p:spPr>
            <a:xfrm>
              <a:off x="8324850" y="2943225"/>
              <a:ext cx="561975" cy="9525"/>
            </a:xfrm>
            <a:custGeom>
              <a:avLst/>
              <a:gdLst/>
              <a:ahLst/>
              <a:cxnLst/>
              <a:rect l="l" t="t" r="r" b="b"/>
              <a:pathLst>
                <a:path w="561975" h="9525">
                  <a:moveTo>
                    <a:pt x="0" y="0"/>
                  </a:moveTo>
                  <a:lnTo>
                    <a:pt x="561975" y="0"/>
                  </a:lnTo>
                </a:path>
              </a:pathLst>
            </a:custGeom>
            <a:noFill/>
            <a:ln w="23812">
              <a:solidFill>
                <a:srgbClr val="206DC5"/>
              </a:solidFill>
            </a:ln>
          </p:spPr>
        </p:sp>
        <p:sp>
          <p:nvSpPr>
            <p:cNvPr id="42" name="Polygon 42"/>
            <p:cNvSpPr/>
            <p:nvPr/>
          </p:nvSpPr>
          <p:spPr>
            <a:xfrm>
              <a:off x="8811578" y="2902172"/>
              <a:ext cx="75247" cy="82106"/>
            </a:xfrm>
            <a:custGeom>
              <a:avLst/>
              <a:gdLst/>
              <a:ahLst/>
              <a:cxnLst/>
              <a:rect l="l" t="t" r="r" b="b"/>
              <a:pathLst>
                <a:path w="75247" h="82106">
                  <a:moveTo>
                    <a:pt x="75247" y="41053"/>
                  </a:moveTo>
                  <a:lnTo>
                    <a:pt x="0" y="821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6DC5"/>
            </a:solidFill>
            <a:ln>
              <a:noFill/>
            </a:ln>
          </p:spPr>
        </p:sp>
      </p:grpSp>
      <p:grpSp>
        <p:nvGrpSpPr>
          <p:cNvPr id="53" name="m3fd-pair"/>
          <p:cNvGrpSpPr/>
          <p:nvPr/>
        </p:nvGrpSpPr>
        <p:grpSpPr>
          <a:xfrm>
            <a:off x="607314" y="4283107"/>
            <a:ext cx="9755886" cy="1069943"/>
            <a:chOff x="607314" y="4283107"/>
            <a:chExt cx="9755886" cy="1069943"/>
          </a:xfrm>
        </p:grpSpPr>
        <p:sp>
          <p:nvSpPr>
            <p:cNvPr id="44" name="TextBox 44"/>
            <p:cNvSpPr/>
            <p:nvPr/>
          </p:nvSpPr>
          <p:spPr>
            <a:xfrm>
              <a:off x="607314" y="4283107"/>
              <a:ext cx="283311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232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M3FD 第二条检验线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3476625" y="4362450"/>
              <a:ext cx="2857500" cy="9906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3E1F1"/>
              </a:solidFill>
            </a:ln>
          </p:spPr>
        </p:sp>
        <p:sp>
          <p:nvSpPr>
            <p:cNvPr id="46" name="TextBox 46"/>
            <p:cNvSpPr/>
            <p:nvPr/>
          </p:nvSpPr>
          <p:spPr>
            <a:xfrm>
              <a:off x="3385280" y="4533900"/>
              <a:ext cx="304019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ctr"/>
              <a:r>
                <a:rPr lang="zh-CN" sz="1880" b="1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E｜RF-DETR + DINOv2-S</a:t>
              </a:r>
            </a:p>
          </p:txBody>
        </p:sp>
        <p:sp>
          <p:nvSpPr>
            <p:cNvPr id="47" name="TextBox 47"/>
            <p:cNvSpPr/>
            <p:nvPr/>
          </p:nvSpPr>
          <p:spPr>
            <a:xfrm>
              <a:off x="4219004" y="4870418"/>
              <a:ext cx="1372743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1720" dirty="0">
                  <a:solidFill>
                    <a:srgbClr val="56616E"/>
                  </a:solidFill>
                  <a:latin typeface="Microsoft YaHei"/>
                  <a:ea typeface="Microsoft YaHei"/>
                  <a:cs typeface="Microsoft YaHei"/>
                </a:rPr>
                <a:t>M3FD 可见光</a:t>
              </a:r>
            </a:p>
          </p:txBody>
        </p:sp>
        <p:sp>
          <p:nvSpPr>
            <p:cNvPr id="48" name="Line 48"/>
            <p:cNvSpPr/>
            <p:nvPr/>
          </p:nvSpPr>
          <p:spPr>
            <a:xfrm>
              <a:off x="6524625" y="4857750"/>
              <a:ext cx="790575" cy="9525"/>
            </a:xfrm>
            <a:custGeom>
              <a:avLst/>
              <a:gdLst/>
              <a:ahLst/>
              <a:cxnLst/>
              <a:rect l="l" t="t" r="r" b="b"/>
              <a:pathLst>
                <a:path w="790575" h="9525">
                  <a:moveTo>
                    <a:pt x="0" y="0"/>
                  </a:moveTo>
                  <a:lnTo>
                    <a:pt x="790575" y="0"/>
                  </a:lnTo>
                </a:path>
              </a:pathLst>
            </a:custGeom>
            <a:noFill/>
            <a:ln w="23812">
              <a:solidFill>
                <a:srgbClr val="C62D35"/>
              </a:solidFill>
            </a:ln>
          </p:spPr>
        </p:sp>
        <p:sp>
          <p:nvSpPr>
            <p:cNvPr id="49" name="Polygon 49"/>
            <p:cNvSpPr/>
            <p:nvPr/>
          </p:nvSpPr>
          <p:spPr>
            <a:xfrm>
              <a:off x="7239952" y="4816697"/>
              <a:ext cx="75247" cy="82105"/>
            </a:xfrm>
            <a:custGeom>
              <a:avLst/>
              <a:gdLst/>
              <a:ahLst/>
              <a:cxnLst/>
              <a:rect l="l" t="t" r="r" b="b"/>
              <a:pathLst>
                <a:path w="75247" h="82105">
                  <a:moveTo>
                    <a:pt x="75247" y="41053"/>
                  </a:moveTo>
                  <a:lnTo>
                    <a:pt x="0" y="8210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2D35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7505700" y="4362450"/>
              <a:ext cx="2857500" cy="9906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3E1F1"/>
              </a:solidFill>
            </a:ln>
          </p:spPr>
        </p:sp>
        <p:sp>
          <p:nvSpPr>
            <p:cNvPr id="51" name="TextBox 51"/>
            <p:cNvSpPr/>
            <p:nvPr/>
          </p:nvSpPr>
          <p:spPr>
            <a:xfrm>
              <a:off x="7710392" y="4533900"/>
              <a:ext cx="2448211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95" bIns="0" anchor="t" anchorCtr="0">
              <a:noAutofit/>
            </a:bodyPr>
            <a:lstStyle/>
            <a:p>
              <a:pPr algn="ctr"/>
              <a:r>
                <a:rPr lang="zh-CN" sz="1880" b="1" dirty="0">
                  <a:solidFill>
                    <a:srgbClr val="C62D35"/>
                  </a:solidFill>
                  <a:latin typeface="Microsoft YaHei"/>
                  <a:ea typeface="Microsoft YaHei"/>
                  <a:cs typeface="Microsoft YaHei"/>
                </a:rPr>
                <a:t>F｜RF-DETR + SATR</a:t>
              </a:r>
            </a:p>
          </p:txBody>
        </p:sp>
        <p:sp>
          <p:nvSpPr>
            <p:cNvPr id="52" name="TextBox 52"/>
            <p:cNvSpPr/>
            <p:nvPr/>
          </p:nvSpPr>
          <p:spPr>
            <a:xfrm>
              <a:off x="8095583" y="4870418"/>
              <a:ext cx="1677638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32" rIns="0" bIns="0" anchor="t" anchorCtr="0">
              <a:noAutofit/>
            </a:bodyPr>
            <a:lstStyle/>
            <a:p>
              <a:pPr algn="ctr"/>
              <a:r>
                <a:rPr lang="zh-CN" sz="1720" dirty="0">
                  <a:solidFill>
                    <a:srgbClr val="56616E"/>
                  </a:solidFill>
                  <a:latin typeface="Microsoft YaHei"/>
                  <a:ea typeface="Microsoft YaHei"/>
                  <a:cs typeface="Microsoft YaHei"/>
                </a:rPr>
                <a:t>同一 M3FD 划分</a:t>
              </a:r>
            </a:p>
          </p:txBody>
        </p:sp>
      </p:grpSp>
      <p:grpSp>
        <p:nvGrpSpPr>
          <p:cNvPr id="55" name="subset-purpose"/>
          <p:cNvGrpSpPr/>
          <p:nvPr/>
        </p:nvGrpSpPr>
        <p:grpSpPr>
          <a:xfrm>
            <a:off x="608076" y="5572125"/>
            <a:ext cx="10953750" cy="426339"/>
            <a:chOff x="608076" y="5572125"/>
            <a:chExt cx="10953750" cy="426339"/>
          </a:xfrm>
        </p:grpSpPr>
        <p:sp>
          <p:nvSpPr>
            <p:cNvPr id="54" name="TextBox 54"/>
            <p:cNvSpPr/>
            <p:nvPr/>
          </p:nvSpPr>
          <p:spPr>
            <a:xfrm>
              <a:off x="608076" y="5572125"/>
              <a:ext cx="10953750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M3FD（CVPR 2022）：可见光训练 / 验证各 2,100 张</a:t>
              </a:r>
            </a:p>
          </p:txBody>
        </p:sp>
      </p:grpSp>
      <p:sp>
        <p:nvSpPr>
          <p:cNvPr id="56" name="TextBox 56"/>
          <p:cNvSpPr/>
          <p:nvPr/>
        </p:nvSpPr>
        <p:spPr>
          <a:xfrm>
            <a:off x="613029" y="6181725"/>
            <a:ext cx="109537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来源：Liu等，TarDAL，CVPR 2022；M3FD含多场景红外/可见光配对，本次使用可见光。</a:t>
            </a:r>
          </a:p>
        </p:txBody>
      </p:sp>
      <p:grpSp>
        <p:nvGrpSpPr>
          <p:cNvPr id="77" name="page-subtitle"/>
          <p:cNvGrpSpPr/>
          <p:nvPr/>
        </p:nvGrpSpPr>
        <p:grpSpPr>
          <a:xfrm>
            <a:off x="608457" y="822325"/>
            <a:ext cx="3852001" cy="410718"/>
            <a:chOff x="608457" y="822325"/>
            <a:chExt cx="3852001" cy="410718"/>
          </a:xfrm>
        </p:grpSpPr>
        <p:sp>
          <p:nvSpPr>
            <p:cNvPr id="76" name="TextBox 76"/>
            <p:cNvSpPr txBox="1"/>
            <p:nvPr/>
          </p:nvSpPr>
          <p:spPr>
            <a:xfrm>
              <a:off x="608457" y="822325"/>
              <a:ext cx="3852001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训练成本促成 COCO 配对子集</a:t>
              </a:r>
            </a:p>
          </p:txBody>
        </p:sp>
      </p:grpSp>
    </p:spTree>
    <p:extLst>
      <p:ext uri="{BB962C8B-B14F-4D97-AF65-F5344CB8AC3E}">
        <p14:creationId val="14408675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/>
          <p:cNvSpPr/>
          <p:nvPr/>
        </p:nvSpPr>
        <p:spPr>
          <a:xfrm>
            <a:off x="1047750" y="190500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64389" rIns="0" bIns="0" anchor="t" anchorCtr="0">
            <a:noAutofit/>
          </a:bodyPr>
          <a:lstStyle/>
          <a:p>
            <a:pPr algn="l"/>
            <a:r>
              <a:rPr lang="zh-CN" sz="3300" b="1" dirty="0">
                <a:solidFill>
                  <a:srgbClr val="206DC5"/>
                </a:solidFill>
                <a:latin typeface="Microsoft YaHei"/>
                <a:ea typeface="Microsoft YaHei"/>
                <a:cs typeface="Microsoft YaHei"/>
              </a:rPr>
              <a:t>实验配置</a:t>
            </a:r>
          </a:p>
        </p:txBody>
      </p:sp>
      <p:sp>
        <p:nvSpPr>
          <p:cNvPr id="11" name="chapter-number"/>
          <p:cNvSpPr/>
          <p:nvPr/>
        </p:nvSpPr>
        <p:spPr>
          <a:xfrm>
            <a:off x="304800" y="276225"/>
            <a:ext cx="5429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89059" rIns="0" bIns="0" anchor="t" anchorCtr="0">
            <a:noAutofit/>
          </a:bodyPr>
          <a:lstStyle/>
          <a:p>
            <a:pPr algn="ctr"/>
            <a:r>
              <a:rPr lang="zh-CN" sz="218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course-footer"/>
          <p:cNvSpPr/>
          <p:nvPr/>
        </p:nvSpPr>
        <p:spPr>
          <a:xfrm>
            <a:off x="447675" y="6467475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41910" rIns="0" bIns="0" anchor="t" anchorCtr="0">
            <a:noAutofit/>
          </a:bodyPr>
          <a:lstStyle/>
          <a:p>
            <a:r>
              <a:rPr lang="zh-CN" altLang="en-US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视觉计算基础与应用</a:t>
            </a:r>
            <a:r>
              <a:rPr lang="zh-CN" altLang="zh-CN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大作业</a:t>
            </a:r>
          </a:p>
        </p:txBody>
      </p:sp>
      <p:pic>
        <p:nvPicPr>
          <p:cNvPr id="3" name="图片 5">
            <a:extLst>
              <a:ext uri="{FF2B5EF4-FFF2-40B4-BE49-F238E27FC236}">
                <a16:creationId xmlns:a16="http://schemas.microsoft.com/office/drawing/2014/main" id="{05192A5B-B6ED-4F3D-99E6-38B6E837EE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59925" y="125413"/>
            <a:ext cx="2266950" cy="611187"/>
          </a:xfrm>
          <a:prstGeom prst="rect">
            <a:avLst/>
          </a:prstGeom>
          <a:ln>
            <a:noFill/>
          </a:ln>
        </p:spPr>
      </p:pic>
      <p:grpSp>
        <p:nvGrpSpPr>
          <p:cNvPr id="16" name="output-page-number"/>
          <p:cNvGrpSpPr/>
          <p:nvPr/>
        </p:nvGrpSpPr>
        <p:grpSpPr>
          <a:xfrm>
            <a:off x="11668125" y="6438900"/>
            <a:ext cx="504825" cy="381000"/>
            <a:chOff x="11668125" y="6438900"/>
            <a:chExt cx="504825" cy="381000"/>
          </a:xfrm>
        </p:grpSpPr>
        <p:sp>
          <p:nvSpPr>
            <p:cNvPr id="14" name="Rectangle 14"/>
            <p:cNvSpPr/>
            <p:nvPr/>
          </p:nvSpPr>
          <p:spPr>
            <a:xfrm>
              <a:off x="11668125" y="6438900"/>
              <a:ext cx="504825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855967" y="6508750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8</a:t>
              </a:r>
            </a:p>
          </p:txBody>
        </p:sp>
      </p:grpSp>
      <p:graphicFrame>
        <p:nvGraphicFramePr>
          <p:cNvPr id="20" name="comparison-protocol"/>
          <p:cNvGraphicFramePr>
            <a:graphicFrameLocks noGrp="1"/>
          </p:cNvGraphicFramePr>
          <p:nvPr/>
        </p:nvGraphicFramePr>
        <p:xfrm>
          <a:off x="619125" y="1333500"/>
          <a:ext cx="10953750" cy="31432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r>
                        <a:rPr lang="zh-CN"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研究问题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206D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成对实验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206D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1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评价口径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206D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lang="zh-CN" sz="21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完整数据与 5k 子集差异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 ↔ B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1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同为 COCO 80 类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lang="zh-CN" sz="21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 类与 20 类标签收缩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 ↔ C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1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只看共同 20 类 AP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lang="zh-CN" sz="21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COCO 子集上的骨干迁移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 ↔ D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1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同图像、同 20 类、同轮数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r>
                        <a:rPr lang="zh-CN" sz="21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M3FD 上的骨干迁移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1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 ↔ F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21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同划分、同 6 类、同轮数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25" name="planned-control"/>
          <p:cNvGrpSpPr/>
          <p:nvPr/>
        </p:nvGrpSpPr>
        <p:grpSpPr>
          <a:xfrm>
            <a:off x="619125" y="4552950"/>
            <a:ext cx="10953750" cy="1257300"/>
            <a:chOff x="619125" y="4552950"/>
            <a:chExt cx="10953750" cy="1257300"/>
          </a:xfrm>
        </p:grpSpPr>
        <p:sp>
          <p:nvSpPr>
            <p:cNvPr id="21" name="Rectangle 21"/>
            <p:cNvSpPr/>
            <p:nvPr/>
          </p:nvSpPr>
          <p:spPr>
            <a:xfrm>
              <a:off x="619125" y="4552950"/>
              <a:ext cx="10953750" cy="1257300"/>
            </a:xfrm>
            <a:prstGeom prst="rect">
              <a:avLst/>
            </a:prstGeom>
            <a:solidFill>
              <a:srgbClr val="F3F7FD"/>
            </a:solidFill>
            <a:ln w="19050">
              <a:solidFill>
                <a:srgbClr val="D3E1F1"/>
              </a:solidFill>
            </a:ln>
          </p:spPr>
        </p:sp>
        <p:sp>
          <p:nvSpPr>
            <p:cNvPr id="22" name="TextBox 22"/>
            <p:cNvSpPr/>
            <p:nvPr/>
          </p:nvSpPr>
          <p:spPr>
            <a:xfrm>
              <a:off x="866013" y="4683157"/>
              <a:ext cx="559765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202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原计划 G｜SATR 原检测体系 + COCO20 / 5k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866775" y="5067300"/>
              <a:ext cx="538448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作用：分离“骨干自身能力”与“跨框架接入影响”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867156" y="5432393"/>
              <a:ext cx="5591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800" b="1" dirty="0">
                  <a:solidFill>
                    <a:srgbClr val="C62D35"/>
                  </a:solidFill>
                  <a:latin typeface="Microsoft YaHei"/>
                  <a:ea typeface="Microsoft YaHei"/>
                  <a:cs typeface="Microsoft YaHei"/>
                </a:rPr>
                <a:t>课程时间截止前来不及完成，列为下一组优先实验。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13029" y="6181725"/>
            <a:ext cx="344195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mAP 只在相同标签空间与相同数据划分中比较。</a:t>
            </a:r>
          </a:p>
        </p:txBody>
      </p:sp>
      <p:grpSp>
        <p:nvGrpSpPr>
          <p:cNvPr id="28" name="page-subtitle"/>
          <p:cNvGrpSpPr/>
          <p:nvPr/>
        </p:nvGrpSpPr>
        <p:grpSpPr>
          <a:xfrm>
            <a:off x="608457" y="822325"/>
            <a:ext cx="2000250" cy="410718"/>
            <a:chOff x="608457" y="822325"/>
            <a:chExt cx="2000250" cy="410718"/>
          </a:xfrm>
        </p:grpSpPr>
        <p:sp>
          <p:nvSpPr>
            <p:cNvPr id="27" name="TextBox 27"/>
            <p:cNvSpPr txBox="1"/>
            <p:nvPr/>
          </p:nvSpPr>
          <p:spPr>
            <a:xfrm>
              <a:off x="608457" y="82232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四组同口径比较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7011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/>
          <p:cNvSpPr/>
          <p:nvPr/>
        </p:nvSpPr>
        <p:spPr>
          <a:xfrm>
            <a:off x="1047750" y="190500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64389" rIns="0" bIns="0" anchor="t" anchorCtr="0">
            <a:noAutofit/>
          </a:bodyPr>
          <a:lstStyle/>
          <a:p>
            <a:pPr algn="l"/>
            <a:r>
              <a:rPr lang="zh-CN" sz="3300" b="1" dirty="0">
                <a:solidFill>
                  <a:srgbClr val="206DC5"/>
                </a:solidFill>
                <a:latin typeface="Microsoft YaHei"/>
                <a:ea typeface="Microsoft YaHei"/>
                <a:cs typeface="Microsoft YaHei"/>
              </a:rPr>
              <a:t>实验配置</a:t>
            </a:r>
          </a:p>
        </p:txBody>
      </p:sp>
      <p:sp>
        <p:nvSpPr>
          <p:cNvPr id="11" name="chapter-number"/>
          <p:cNvSpPr/>
          <p:nvPr/>
        </p:nvSpPr>
        <p:spPr>
          <a:xfrm>
            <a:off x="304800" y="276225"/>
            <a:ext cx="5429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89059" rIns="0" bIns="0" anchor="t" anchorCtr="0">
            <a:noAutofit/>
          </a:bodyPr>
          <a:lstStyle/>
          <a:p>
            <a:pPr algn="ctr"/>
            <a:r>
              <a:rPr lang="zh-CN" sz="218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course-footer"/>
          <p:cNvSpPr/>
          <p:nvPr/>
        </p:nvSpPr>
        <p:spPr>
          <a:xfrm>
            <a:off x="447675" y="6467475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41910" rIns="0" bIns="0" anchor="t" anchorCtr="0">
            <a:noAutofit/>
          </a:bodyPr>
          <a:lstStyle/>
          <a:p>
            <a:r>
              <a:rPr lang="zh-CN" altLang="en-US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视觉计算基础与应用</a:t>
            </a:r>
            <a:r>
              <a:rPr lang="zh-CN" altLang="zh-CN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大作业</a:t>
            </a:r>
          </a:p>
        </p:txBody>
      </p:sp>
      <p:pic>
        <p:nvPicPr>
          <p:cNvPr id="3" name="图片 5">
            <a:extLst>
              <a:ext uri="{FF2B5EF4-FFF2-40B4-BE49-F238E27FC236}">
                <a16:creationId xmlns:a16="http://schemas.microsoft.com/office/drawing/2014/main" id="{FD33FE95-7A58-495D-BA0B-4B047504CE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59925" y="125413"/>
            <a:ext cx="2266950" cy="611187"/>
          </a:xfrm>
          <a:prstGeom prst="rect">
            <a:avLst/>
          </a:prstGeom>
          <a:ln>
            <a:noFill/>
          </a:ln>
        </p:spPr>
      </p:pic>
      <p:grpSp>
        <p:nvGrpSpPr>
          <p:cNvPr id="16" name="output-page-number"/>
          <p:cNvGrpSpPr/>
          <p:nvPr/>
        </p:nvGrpSpPr>
        <p:grpSpPr>
          <a:xfrm>
            <a:off x="11668125" y="6438900"/>
            <a:ext cx="504825" cy="381000"/>
            <a:chOff x="11668125" y="6438900"/>
            <a:chExt cx="504825" cy="381000"/>
          </a:xfrm>
        </p:grpSpPr>
        <p:sp>
          <p:nvSpPr>
            <p:cNvPr id="14" name="Rectangle 14"/>
            <p:cNvSpPr/>
            <p:nvPr/>
          </p:nvSpPr>
          <p:spPr>
            <a:xfrm>
              <a:off x="11668125" y="6438900"/>
              <a:ext cx="504825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855967" y="6508750"/>
              <a:ext cx="1196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9</a:t>
              </a:r>
            </a:p>
          </p:txBody>
        </p:sp>
      </p:grpSp>
      <p:grpSp>
        <p:nvGrpSpPr>
          <p:cNvPr id="39" name="old-pipeline"/>
          <p:cNvGrpSpPr/>
          <p:nvPr/>
        </p:nvGrpSpPr>
        <p:grpSpPr>
          <a:xfrm>
            <a:off x="607314" y="1397032"/>
            <a:ext cx="10936986" cy="1450943"/>
            <a:chOff x="607314" y="1397032"/>
            <a:chExt cx="10936986" cy="1450943"/>
          </a:xfrm>
        </p:grpSpPr>
        <p:sp>
          <p:nvSpPr>
            <p:cNvPr id="20" name="TextBox 20"/>
            <p:cNvSpPr/>
            <p:nvPr/>
          </p:nvSpPr>
          <p:spPr>
            <a:xfrm>
              <a:off x="607314" y="1397032"/>
              <a:ext cx="2398586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232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RF-DETR 原路径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19125" y="1933575"/>
              <a:ext cx="1762125" cy="914400"/>
            </a:xfrm>
            <a:prstGeom prst="rect">
              <a:avLst/>
            </a:prstGeom>
            <a:solidFill>
              <a:srgbClr val="F3F7FD"/>
            </a:solidFill>
            <a:ln w="9525">
              <a:solidFill>
                <a:srgbClr val="D3E1F1"/>
              </a:solidFill>
            </a:ln>
          </p:spPr>
        </p:sp>
        <p:sp>
          <p:nvSpPr>
            <p:cNvPr id="22" name="TextBox 22"/>
            <p:cNvSpPr/>
            <p:nvPr/>
          </p:nvSpPr>
          <p:spPr>
            <a:xfrm>
              <a:off x="1227772" y="2063782"/>
              <a:ext cx="54483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图像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984980" y="2387632"/>
              <a:ext cx="103051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95" bIns="0" anchor="t" anchorCtr="0">
              <a:noAutofit/>
            </a:bodyPr>
            <a:lstStyle/>
            <a:p>
              <a:pPr algn="ctr"/>
              <a:r>
                <a:rPr lang="zh-CN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384×384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828925" y="1933575"/>
              <a:ext cx="2305050" cy="914400"/>
            </a:xfrm>
            <a:prstGeom prst="rect">
              <a:avLst/>
            </a:prstGeom>
            <a:solidFill>
              <a:srgbClr val="F3F7FD"/>
            </a:solidFill>
            <a:ln w="9525">
              <a:solidFill>
                <a:srgbClr val="D3E1F1"/>
              </a:solidFill>
            </a:ln>
          </p:spPr>
        </p:sp>
        <p:sp>
          <p:nvSpPr>
            <p:cNvPr id="25" name="TextBox 25"/>
            <p:cNvSpPr/>
            <p:nvPr/>
          </p:nvSpPr>
          <p:spPr>
            <a:xfrm>
              <a:off x="3373660" y="2063782"/>
              <a:ext cx="121558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en-US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DINOv2-S</a:t>
              </a:r>
            </a:p>
          </p:txBody>
        </p:sp>
        <p:sp>
          <p:nvSpPr>
            <p:cNvPr id="26" name="TextBox 26"/>
            <p:cNvSpPr/>
            <p:nvPr/>
          </p:nvSpPr>
          <p:spPr>
            <a:xfrm>
              <a:off x="3446526" y="2387632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四层特征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572125" y="1933575"/>
              <a:ext cx="2543175" cy="914400"/>
            </a:xfrm>
            <a:prstGeom prst="rect">
              <a:avLst/>
            </a:prstGeom>
            <a:solidFill>
              <a:srgbClr val="F3F7FD"/>
            </a:solidFill>
            <a:ln w="9525">
              <a:solidFill>
                <a:srgbClr val="D3E1F1"/>
              </a:solidFill>
            </a:ln>
          </p:spPr>
        </p:sp>
        <p:sp>
          <p:nvSpPr>
            <p:cNvPr id="28" name="TextBox 28"/>
            <p:cNvSpPr/>
            <p:nvPr/>
          </p:nvSpPr>
          <p:spPr>
            <a:xfrm>
              <a:off x="6046280" y="2063782"/>
              <a:ext cx="159486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预训练投影器</a:t>
              </a:r>
            </a:p>
          </p:txBody>
        </p:sp>
        <p:sp>
          <p:nvSpPr>
            <p:cNvPr id="29" name="TextBox 29"/>
            <p:cNvSpPr/>
            <p:nvPr/>
          </p:nvSpPr>
          <p:spPr>
            <a:xfrm>
              <a:off x="5774246" y="2387632"/>
              <a:ext cx="213893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en-US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C2f + LayerNorm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591550" y="1933575"/>
              <a:ext cx="2952750" cy="914400"/>
            </a:xfrm>
            <a:prstGeom prst="rect">
              <a:avLst/>
            </a:prstGeom>
            <a:solidFill>
              <a:srgbClr val="F3F7FD"/>
            </a:solidFill>
            <a:ln w="9525">
              <a:solidFill>
                <a:srgbClr val="D3E1F1"/>
              </a:solidFill>
            </a:ln>
          </p:spPr>
        </p:sp>
        <p:sp>
          <p:nvSpPr>
            <p:cNvPr id="31" name="TextBox 31"/>
            <p:cNvSpPr/>
            <p:nvPr/>
          </p:nvSpPr>
          <p:spPr>
            <a:xfrm>
              <a:off x="9233440" y="2063782"/>
              <a:ext cx="166897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en-US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Transformer</a:t>
              </a:r>
            </a:p>
          </p:txBody>
        </p:sp>
        <p:sp>
          <p:nvSpPr>
            <p:cNvPr id="32" name="TextBox 32"/>
            <p:cNvSpPr/>
            <p:nvPr/>
          </p:nvSpPr>
          <p:spPr>
            <a:xfrm>
              <a:off x="9139238" y="2387632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解码器与检测头</a:t>
              </a:r>
            </a:p>
          </p:txBody>
        </p:sp>
        <p:sp>
          <p:nvSpPr>
            <p:cNvPr id="33" name="Line 33"/>
            <p:cNvSpPr/>
            <p:nvPr/>
          </p:nvSpPr>
          <p:spPr>
            <a:xfrm>
              <a:off x="2381250" y="2390775"/>
              <a:ext cx="447675" cy="9525"/>
            </a:xfrm>
            <a:custGeom>
              <a:avLst/>
              <a:gdLst/>
              <a:ahLst/>
              <a:cxnLst/>
              <a:rect l="l" t="t" r="r" b="b"/>
              <a:pathLst>
                <a:path w="447675" h="9525">
                  <a:moveTo>
                    <a:pt x="0" y="0"/>
                  </a:moveTo>
                  <a:lnTo>
                    <a:pt x="447675" y="0"/>
                  </a:lnTo>
                </a:path>
              </a:pathLst>
            </a:custGeom>
            <a:noFill/>
            <a:ln w="23812">
              <a:solidFill>
                <a:srgbClr val="206DC5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2753678" y="2349722"/>
              <a:ext cx="75247" cy="82106"/>
            </a:xfrm>
            <a:custGeom>
              <a:avLst/>
              <a:gdLst/>
              <a:ahLst/>
              <a:cxnLst/>
              <a:rect l="l" t="t" r="r" b="b"/>
              <a:pathLst>
                <a:path w="75247" h="82106">
                  <a:moveTo>
                    <a:pt x="75247" y="41053"/>
                  </a:moveTo>
                  <a:lnTo>
                    <a:pt x="0" y="821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6DC5"/>
            </a:solidFill>
            <a:ln>
              <a:noFill/>
            </a:ln>
          </p:spPr>
        </p:sp>
        <p:sp>
          <p:nvSpPr>
            <p:cNvPr id="35" name="Line 35"/>
            <p:cNvSpPr/>
            <p:nvPr/>
          </p:nvSpPr>
          <p:spPr>
            <a:xfrm>
              <a:off x="5133975" y="2390775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23812">
              <a:solidFill>
                <a:srgbClr val="206DC5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5496878" y="2349722"/>
              <a:ext cx="75247" cy="82106"/>
            </a:xfrm>
            <a:custGeom>
              <a:avLst/>
              <a:gdLst/>
              <a:ahLst/>
              <a:cxnLst/>
              <a:rect l="l" t="t" r="r" b="b"/>
              <a:pathLst>
                <a:path w="75247" h="82106">
                  <a:moveTo>
                    <a:pt x="75247" y="41053"/>
                  </a:moveTo>
                  <a:lnTo>
                    <a:pt x="0" y="821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6DC5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8115300" y="23907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3812">
              <a:solidFill>
                <a:srgbClr val="206DC5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8516302" y="2349722"/>
              <a:ext cx="75247" cy="82106"/>
            </a:xfrm>
            <a:custGeom>
              <a:avLst/>
              <a:gdLst/>
              <a:ahLst/>
              <a:cxnLst/>
              <a:rect l="l" t="t" r="r" b="b"/>
              <a:pathLst>
                <a:path w="75247" h="82106">
                  <a:moveTo>
                    <a:pt x="75247" y="41053"/>
                  </a:moveTo>
                  <a:lnTo>
                    <a:pt x="0" y="821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06DC5"/>
            </a:solidFill>
            <a:ln>
              <a:noFill/>
            </a:ln>
          </p:spPr>
        </p:sp>
      </p:grpSp>
      <p:grpSp>
        <p:nvGrpSpPr>
          <p:cNvPr id="60" name="satr-pipeline"/>
          <p:cNvGrpSpPr/>
          <p:nvPr/>
        </p:nvGrpSpPr>
        <p:grpSpPr>
          <a:xfrm>
            <a:off x="600075" y="3333750"/>
            <a:ext cx="10944225" cy="2240757"/>
            <a:chOff x="600075" y="3333750"/>
            <a:chExt cx="10944225" cy="2240757"/>
          </a:xfrm>
        </p:grpSpPr>
        <p:sp>
          <p:nvSpPr>
            <p:cNvPr id="40" name="TextBox 40"/>
            <p:cNvSpPr/>
            <p:nvPr/>
          </p:nvSpPr>
          <p:spPr>
            <a:xfrm>
              <a:off x="600075" y="3333750"/>
              <a:ext cx="9525000" cy="14287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7239" tIns="34925" rIns="0" bIns="0" anchor="t" anchorCtr="0">
              <a:noAutofit/>
            </a:bodyPr>
            <a:lstStyle/>
            <a:p>
              <a:pPr algn="l"/>
              <a:r>
                <a:rPr lang="zh-CN" sz="2320" b="1" dirty="0">
                  <a:solidFill>
                    <a:srgbClr val="C62D35"/>
                  </a:solidFill>
                  <a:latin typeface="Microsoft YaHei"/>
                  <a:ea typeface="Microsoft YaHei"/>
                  <a:cs typeface="Microsoft YaHei"/>
                </a:rPr>
                <a:t>SATR骨干迁移路径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19125" y="3933825"/>
              <a:ext cx="1762125" cy="914400"/>
            </a:xfrm>
            <a:prstGeom prst="rect">
              <a:avLst/>
            </a:prstGeom>
            <a:solidFill>
              <a:srgbClr val="F3F7FD"/>
            </a:solidFill>
            <a:ln w="9525">
              <a:solidFill>
                <a:srgbClr val="D3E1F1"/>
              </a:solidFill>
            </a:ln>
          </p:spPr>
        </p:sp>
        <p:sp>
          <p:nvSpPr>
            <p:cNvPr id="42" name="TextBox 42"/>
            <p:cNvSpPr/>
            <p:nvPr/>
          </p:nvSpPr>
          <p:spPr>
            <a:xfrm>
              <a:off x="965264" y="4064032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逆归一化</a:t>
              </a:r>
            </a:p>
          </p:txBody>
        </p:sp>
        <p:sp>
          <p:nvSpPr>
            <p:cNvPr id="43" name="TextBox 43"/>
            <p:cNvSpPr/>
            <p:nvPr/>
          </p:nvSpPr>
          <p:spPr>
            <a:xfrm>
              <a:off x="965264" y="4387882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输入接口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828925" y="3933825"/>
              <a:ext cx="2305050" cy="914400"/>
            </a:xfrm>
            <a:prstGeom prst="rect">
              <a:avLst/>
            </a:prstGeom>
            <a:solidFill>
              <a:srgbClr val="F3F7FD"/>
            </a:solidFill>
            <a:ln w="9525">
              <a:solidFill>
                <a:srgbClr val="D3E1F1"/>
              </a:solidFill>
            </a:ln>
          </p:spPr>
        </p:sp>
        <p:sp>
          <p:nvSpPr>
            <p:cNvPr id="45" name="TextBox 45"/>
            <p:cNvSpPr/>
            <p:nvPr/>
          </p:nvSpPr>
          <p:spPr>
            <a:xfrm>
              <a:off x="3362325" y="4064032"/>
              <a:ext cx="12382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SATR 骨干</a:t>
              </a:r>
            </a:p>
          </p:txBody>
        </p:sp>
        <p:sp>
          <p:nvSpPr>
            <p:cNvPr id="46" name="TextBox 46"/>
            <p:cNvSpPr/>
            <p:nvPr/>
          </p:nvSpPr>
          <p:spPr>
            <a:xfrm>
              <a:off x="3194876" y="4387882"/>
              <a:ext cx="157305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-32" rIns="0" bIns="0" anchor="t" anchorCtr="0">
              <a:noAutofit/>
            </a:bodyPr>
            <a:lstStyle/>
            <a:p>
              <a:pPr algn="ctr"/>
              <a:r>
                <a:rPr lang="en-US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P3 / P4 / P5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572125" y="3933825"/>
              <a:ext cx="2543175" cy="914400"/>
            </a:xfrm>
            <a:prstGeom prst="rect">
              <a:avLst/>
            </a:prstGeom>
            <a:solidFill>
              <a:srgbClr val="F3F7FD"/>
            </a:solidFill>
            <a:ln w="9525">
              <a:solidFill>
                <a:srgbClr val="D3E1F1"/>
              </a:solidFill>
            </a:ln>
          </p:spPr>
        </p:sp>
        <p:sp>
          <p:nvSpPr>
            <p:cNvPr id="48" name="TextBox 48"/>
            <p:cNvSpPr/>
            <p:nvPr/>
          </p:nvSpPr>
          <p:spPr>
            <a:xfrm>
              <a:off x="5969984" y="4064032"/>
              <a:ext cx="1747456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en-US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1×1 Conv + GN</a:t>
              </a:r>
            </a:p>
          </p:txBody>
        </p:sp>
        <p:sp>
          <p:nvSpPr>
            <p:cNvPr id="49" name="TextBox 49"/>
            <p:cNvSpPr/>
            <p:nvPr/>
          </p:nvSpPr>
          <p:spPr>
            <a:xfrm>
              <a:off x="5895308" y="4387882"/>
              <a:ext cx="189671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-32" rIns="0" bIns="0" anchor="t" anchorCtr="0">
              <a:noAutofit/>
            </a:bodyPr>
            <a:lstStyle/>
            <a:p>
              <a:pPr algn="ctr"/>
              <a:r>
                <a:rPr lang="zh-CN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插值 + 加权融合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591550" y="3933825"/>
              <a:ext cx="2952750" cy="914400"/>
            </a:xfrm>
            <a:prstGeom prst="rect">
              <a:avLst/>
            </a:prstGeom>
            <a:solidFill>
              <a:srgbClr val="F3F7FD"/>
            </a:solidFill>
            <a:ln w="9525">
              <a:solidFill>
                <a:srgbClr val="D3E1F1"/>
              </a:solidFill>
            </a:ln>
          </p:spPr>
        </p:sp>
        <p:sp>
          <p:nvSpPr>
            <p:cNvPr id="51" name="TextBox 51"/>
            <p:cNvSpPr/>
            <p:nvPr/>
          </p:nvSpPr>
          <p:spPr>
            <a:xfrm>
              <a:off x="9401746" y="4064032"/>
              <a:ext cx="133235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原位置编码</a:t>
              </a:r>
            </a:p>
          </p:txBody>
        </p:sp>
        <p:sp>
          <p:nvSpPr>
            <p:cNvPr id="52" name="TextBox 52"/>
            <p:cNvSpPr/>
            <p:nvPr/>
          </p:nvSpPr>
          <p:spPr>
            <a:xfrm>
              <a:off x="9139238" y="4387882"/>
              <a:ext cx="1857375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解码器与检测头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2381250" y="4391025"/>
              <a:ext cx="447675" cy="9525"/>
            </a:xfrm>
            <a:custGeom>
              <a:avLst/>
              <a:gdLst/>
              <a:ahLst/>
              <a:cxnLst/>
              <a:rect l="l" t="t" r="r" b="b"/>
              <a:pathLst>
                <a:path w="447675" h="9525">
                  <a:moveTo>
                    <a:pt x="0" y="0"/>
                  </a:moveTo>
                  <a:lnTo>
                    <a:pt x="447675" y="0"/>
                  </a:lnTo>
                </a:path>
              </a:pathLst>
            </a:custGeom>
            <a:noFill/>
            <a:ln w="23812">
              <a:solidFill>
                <a:srgbClr val="C62D35"/>
              </a:solidFill>
            </a:ln>
          </p:spPr>
        </p:sp>
        <p:sp>
          <p:nvSpPr>
            <p:cNvPr id="54" name="Polygon 54"/>
            <p:cNvSpPr/>
            <p:nvPr/>
          </p:nvSpPr>
          <p:spPr>
            <a:xfrm>
              <a:off x="2753678" y="4349972"/>
              <a:ext cx="75247" cy="82106"/>
            </a:xfrm>
            <a:custGeom>
              <a:avLst/>
              <a:gdLst/>
              <a:ahLst/>
              <a:cxnLst/>
              <a:rect l="l" t="t" r="r" b="b"/>
              <a:pathLst>
                <a:path w="75247" h="82106">
                  <a:moveTo>
                    <a:pt x="75247" y="41053"/>
                  </a:moveTo>
                  <a:lnTo>
                    <a:pt x="0" y="821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2D35"/>
            </a:solidFill>
            <a:ln>
              <a:noFill/>
            </a:ln>
          </p:spPr>
        </p:sp>
        <p:sp>
          <p:nvSpPr>
            <p:cNvPr id="55" name="Line 55"/>
            <p:cNvSpPr/>
            <p:nvPr/>
          </p:nvSpPr>
          <p:spPr>
            <a:xfrm>
              <a:off x="5133975" y="4391025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23812">
              <a:solidFill>
                <a:srgbClr val="C62D35"/>
              </a:solidFill>
            </a:ln>
          </p:spPr>
        </p:sp>
        <p:sp>
          <p:nvSpPr>
            <p:cNvPr id="56" name="Polygon 56"/>
            <p:cNvSpPr/>
            <p:nvPr/>
          </p:nvSpPr>
          <p:spPr>
            <a:xfrm>
              <a:off x="5496878" y="4349972"/>
              <a:ext cx="75247" cy="82106"/>
            </a:xfrm>
            <a:custGeom>
              <a:avLst/>
              <a:gdLst/>
              <a:ahLst/>
              <a:cxnLst/>
              <a:rect l="l" t="t" r="r" b="b"/>
              <a:pathLst>
                <a:path w="75247" h="82106">
                  <a:moveTo>
                    <a:pt x="75247" y="41053"/>
                  </a:moveTo>
                  <a:lnTo>
                    <a:pt x="0" y="821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2D35"/>
            </a:solidFill>
            <a:ln>
              <a:noFill/>
            </a:ln>
          </p:spPr>
        </p:sp>
        <p:sp>
          <p:nvSpPr>
            <p:cNvPr id="57" name="Line 57"/>
            <p:cNvSpPr/>
            <p:nvPr/>
          </p:nvSpPr>
          <p:spPr>
            <a:xfrm>
              <a:off x="8115300" y="439102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3812">
              <a:solidFill>
                <a:srgbClr val="C62D35"/>
              </a:solidFill>
            </a:ln>
          </p:spPr>
        </p:sp>
        <p:sp>
          <p:nvSpPr>
            <p:cNvPr id="58" name="Polygon 58"/>
            <p:cNvSpPr/>
            <p:nvPr/>
          </p:nvSpPr>
          <p:spPr>
            <a:xfrm>
              <a:off x="8516302" y="4349972"/>
              <a:ext cx="75247" cy="82106"/>
            </a:xfrm>
            <a:custGeom>
              <a:avLst/>
              <a:gdLst/>
              <a:ahLst/>
              <a:cxnLst/>
              <a:rect l="l" t="t" r="r" b="b"/>
              <a:pathLst>
                <a:path w="75247" h="82106">
                  <a:moveTo>
                    <a:pt x="75247" y="41053"/>
                  </a:moveTo>
                  <a:lnTo>
                    <a:pt x="0" y="8210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2D35"/>
            </a:solidFill>
            <a:ln>
              <a:noFill/>
            </a:ln>
          </p:spPr>
        </p:sp>
        <p:sp>
          <p:nvSpPr>
            <p:cNvPr id="59" name="TextBox 59"/>
            <p:cNvSpPr/>
            <p:nvPr/>
          </p:nvSpPr>
          <p:spPr>
            <a:xfrm>
              <a:off x="5561838" y="5178457"/>
              <a:ext cx="3748468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202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统一输出：B × 256 × 24 × 24</a:t>
              </a:r>
            </a:p>
          </p:txBody>
        </p:sp>
      </p:grpSp>
      <p:grpSp>
        <p:nvGrpSpPr>
          <p:cNvPr id="62" name="replacement-boundary"/>
          <p:cNvGrpSpPr/>
          <p:nvPr/>
        </p:nvGrpSpPr>
        <p:grpSpPr>
          <a:xfrm>
            <a:off x="607695" y="5578475"/>
            <a:ext cx="7595235" cy="440055"/>
            <a:chOff x="607695" y="5578475"/>
            <a:chExt cx="7595235" cy="440055"/>
          </a:xfrm>
        </p:grpSpPr>
        <p:sp>
          <p:nvSpPr>
            <p:cNvPr id="61" name="TextBox 61"/>
            <p:cNvSpPr txBox="1"/>
            <p:nvPr/>
          </p:nvSpPr>
          <p:spPr>
            <a:xfrm>
              <a:off x="607695" y="5578475"/>
              <a:ext cx="75952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C62D35"/>
                  </a:solidFill>
                  <a:latin typeface="Microsoft YaHei"/>
                  <a:ea typeface="Microsoft YaHei"/>
                  <a:cs typeface="Microsoft YaHei"/>
                </a:rPr>
                <a:t>替换骨干与投影接口，位置编码、解码器和检测头保持。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613029" y="6181725"/>
            <a:ext cx="5133137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按归档 satr_backbone.py、原 backbone.py 与 projector.py 重绘。</a:t>
            </a:r>
          </a:p>
        </p:txBody>
      </p:sp>
      <p:grpSp>
        <p:nvGrpSpPr>
          <p:cNvPr id="81" name="page-subtitle"/>
          <p:cNvGrpSpPr/>
          <p:nvPr/>
        </p:nvGrpSpPr>
        <p:grpSpPr>
          <a:xfrm>
            <a:off x="608457" y="822325"/>
            <a:ext cx="3614638" cy="410718"/>
            <a:chOff x="608457" y="822325"/>
            <a:chExt cx="3614638" cy="410718"/>
          </a:xfrm>
        </p:grpSpPr>
        <p:sp>
          <p:nvSpPr>
            <p:cNvPr id="80" name="TextBox 80"/>
            <p:cNvSpPr txBox="1"/>
            <p:nvPr/>
          </p:nvSpPr>
          <p:spPr>
            <a:xfrm>
              <a:off x="608457" y="822325"/>
              <a:ext cx="36146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SATR 接入 RF-DETR 的位置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5398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/>
          <p:cNvSpPr/>
          <p:nvPr/>
        </p:nvSpPr>
        <p:spPr>
          <a:xfrm>
            <a:off x="1047750" y="190500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64389" rIns="0" bIns="0" anchor="t" anchorCtr="0">
            <a:noAutofit/>
          </a:bodyPr>
          <a:lstStyle/>
          <a:p>
            <a:pPr algn="l"/>
            <a:r>
              <a:rPr lang="zh-CN" sz="3300" b="1" dirty="0">
                <a:solidFill>
                  <a:srgbClr val="206DC5"/>
                </a:solidFill>
                <a:latin typeface="Microsoft YaHei"/>
                <a:ea typeface="Microsoft YaHei"/>
                <a:cs typeface="Microsoft YaHei"/>
              </a:rPr>
              <a:t>实验配置</a:t>
            </a:r>
          </a:p>
        </p:txBody>
      </p:sp>
      <p:sp>
        <p:nvSpPr>
          <p:cNvPr id="11" name="chapter-number"/>
          <p:cNvSpPr/>
          <p:nvPr/>
        </p:nvSpPr>
        <p:spPr>
          <a:xfrm>
            <a:off x="304800" y="276225"/>
            <a:ext cx="5429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89059" rIns="0" bIns="0" anchor="t" anchorCtr="0">
            <a:noAutofit/>
          </a:bodyPr>
          <a:lstStyle/>
          <a:p>
            <a:pPr algn="ctr"/>
            <a:r>
              <a:rPr lang="zh-CN" sz="218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course-footer"/>
          <p:cNvSpPr/>
          <p:nvPr/>
        </p:nvSpPr>
        <p:spPr>
          <a:xfrm>
            <a:off x="447675" y="6467475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41910" rIns="0" bIns="0" anchor="t" anchorCtr="0">
            <a:noAutofit/>
          </a:bodyPr>
          <a:lstStyle/>
          <a:p>
            <a:r>
              <a:rPr lang="zh-CN" altLang="en-US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视觉计算基础与应用</a:t>
            </a:r>
            <a:r>
              <a:rPr lang="zh-CN" altLang="zh-CN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大作业</a:t>
            </a:r>
          </a:p>
        </p:txBody>
      </p:sp>
      <p:pic>
        <p:nvPicPr>
          <p:cNvPr id="3" name="图片 5">
            <a:extLst>
              <a:ext uri="{FF2B5EF4-FFF2-40B4-BE49-F238E27FC236}">
                <a16:creationId xmlns:a16="http://schemas.microsoft.com/office/drawing/2014/main" id="{05192A5B-B6ED-4F3D-99E6-38B6E837EE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59925" y="125413"/>
            <a:ext cx="2266950" cy="611187"/>
          </a:xfrm>
          <a:prstGeom prst="rect">
            <a:avLst/>
          </a:prstGeom>
          <a:ln>
            <a:noFill/>
          </a:ln>
        </p:spPr>
      </p:pic>
      <p:grpSp>
        <p:nvGrpSpPr>
          <p:cNvPr id="16" name="output-page-number"/>
          <p:cNvGrpSpPr/>
          <p:nvPr/>
        </p:nvGrpSpPr>
        <p:grpSpPr>
          <a:xfrm>
            <a:off x="11668125" y="6438900"/>
            <a:ext cx="504825" cy="381000"/>
            <a:chOff x="11668125" y="6438900"/>
            <a:chExt cx="504825" cy="381000"/>
          </a:xfrm>
        </p:grpSpPr>
        <p:sp>
          <p:nvSpPr>
            <p:cNvPr id="14" name="Rectangle 14"/>
            <p:cNvSpPr/>
            <p:nvPr/>
          </p:nvSpPr>
          <p:spPr>
            <a:xfrm>
              <a:off x="11668125" y="6438900"/>
              <a:ext cx="504825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803398" y="6508750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10</a:t>
              </a:r>
            </a:p>
          </p:txBody>
        </p:sp>
      </p:grpSp>
      <p:graphicFrame>
        <p:nvGraphicFramePr>
          <p:cNvPr id="20" name="training-parameters"/>
          <p:cNvGraphicFramePr>
            <a:graphicFrameLocks noGrp="1"/>
          </p:cNvGraphicFramePr>
          <p:nvPr/>
        </p:nvGraphicFramePr>
        <p:xfrm>
          <a:off x="619125" y="1333500"/>
          <a:ext cx="10953750" cy="3619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62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7072">
                <a:tc>
                  <a:txBody>
                    <a:bodyPr/>
                    <a:lstStyle/>
                    <a:p>
                      <a:r>
                        <a:rPr lang="zh-CN" sz="18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实际设置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206D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COCO A–D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206D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8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M3FD E/F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206D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7072"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输入 / 精度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8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384×384 / FP32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8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384×384 / FP32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7072"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单步批量 × 梯度累积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8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× 8 = 有效16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8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 × 8 = 有效16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主学习率 / 编码器字段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8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1e−5 / 1.5e−5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8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1e−4 / 1.5e−4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轮数 / 衰减轮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8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 / 20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8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100 / 80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优化器 / 正则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8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AdamW；WD 1e−4；clip 0.1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8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AdamW；WD 1e−4；clip 0.1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7071">
                <a:tc>
                  <a:txBody>
                    <a:bodyPr/>
                    <a:lstStyle/>
                    <a:p>
                      <a:r>
                        <a:rPr lang="zh-CN" sz="188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控制项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8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seed=0；EMA；梯度检查点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88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seed=0；EMA；梯度检查点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pSp>
        <p:nvGrpSpPr>
          <p:cNvPr id="24" name="parameter-rationale"/>
          <p:cNvGrpSpPr/>
          <p:nvPr/>
        </p:nvGrpSpPr>
        <p:grpSpPr>
          <a:xfrm>
            <a:off x="609219" y="4997450"/>
            <a:ext cx="7999984" cy="1075690"/>
            <a:chOff x="609219" y="4997450"/>
            <a:chExt cx="7999984" cy="1075690"/>
          </a:xfrm>
        </p:grpSpPr>
        <p:sp>
          <p:nvSpPr>
            <p:cNvPr id="21" name="TextBox 21"/>
            <p:cNvSpPr txBox="1"/>
            <p:nvPr/>
          </p:nvSpPr>
          <p:spPr>
            <a:xfrm>
              <a:off x="609219" y="4997450"/>
              <a:ext cx="685431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11GB 显存：batch 2 × 累积 8；2080 Ti 执行兼容：FP32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09600" y="5381625"/>
              <a:ext cx="7999603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COCO：低学习率延续预训练权重；M3FD：提高学习率并扩展到 100 轮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09600" y="5705475"/>
              <a:ext cx="634619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56616E"/>
                  </a:solidFill>
                  <a:latin typeface="Microsoft YaHei"/>
                  <a:ea typeface="Microsoft YaHei"/>
                  <a:cs typeface="Microsoft YaHei"/>
                </a:rPr>
                <a:t>成对实验保持相同优化器、分辨率、有效批量与训练轮数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13029" y="6181725"/>
            <a:ext cx="4713122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参数来自 resolved_config、checkpoint args 与逐轮训练日志。</a:t>
            </a:r>
          </a:p>
        </p:txBody>
      </p:sp>
      <p:grpSp>
        <p:nvGrpSpPr>
          <p:cNvPr id="19" name="page-subtitle"/>
          <p:cNvGrpSpPr/>
          <p:nvPr/>
        </p:nvGrpSpPr>
        <p:grpSpPr>
          <a:xfrm>
            <a:off x="608457" y="822325"/>
            <a:ext cx="2565654" cy="410718"/>
            <a:chOff x="608457" y="822325"/>
            <a:chExt cx="2565654" cy="410718"/>
          </a:xfrm>
        </p:grpSpPr>
        <p:sp>
          <p:nvSpPr>
            <p:cNvPr id="18" name="TextBox 18"/>
            <p:cNvSpPr txBox="1"/>
            <p:nvPr/>
          </p:nvSpPr>
          <p:spPr>
            <a:xfrm>
              <a:off x="608457" y="822325"/>
              <a:ext cx="256565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训练参数与选择依据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70118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/>
          <p:cNvSpPr/>
          <p:nvPr/>
        </p:nvSpPr>
        <p:spPr>
          <a:xfrm>
            <a:off x="1047750" y="190500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64389" rIns="0" bIns="0" anchor="t" anchorCtr="0">
            <a:noAutofit/>
          </a:bodyPr>
          <a:lstStyle/>
          <a:p>
            <a:pPr algn="l"/>
            <a:r>
              <a:rPr lang="zh-CN" sz="3300" b="1" dirty="0">
                <a:solidFill>
                  <a:srgbClr val="206DC5"/>
                </a:solidFill>
                <a:latin typeface="Microsoft YaHei"/>
                <a:ea typeface="Microsoft YaHei"/>
                <a:cs typeface="Microsoft YaHei"/>
              </a:rPr>
              <a:t>实验配置</a:t>
            </a:r>
          </a:p>
        </p:txBody>
      </p:sp>
      <p:sp>
        <p:nvSpPr>
          <p:cNvPr id="11" name="chapter-number"/>
          <p:cNvSpPr/>
          <p:nvPr/>
        </p:nvSpPr>
        <p:spPr>
          <a:xfrm>
            <a:off x="304800" y="276225"/>
            <a:ext cx="5429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89059" rIns="0" bIns="0" anchor="t" anchorCtr="0">
            <a:noAutofit/>
          </a:bodyPr>
          <a:lstStyle/>
          <a:p>
            <a:pPr algn="ctr"/>
            <a:r>
              <a:rPr lang="zh-CN" sz="218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course-footer"/>
          <p:cNvSpPr/>
          <p:nvPr/>
        </p:nvSpPr>
        <p:spPr>
          <a:xfrm>
            <a:off x="447675" y="6467475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41910" rIns="0" bIns="0" anchor="t" anchorCtr="0">
            <a:noAutofit/>
          </a:bodyPr>
          <a:lstStyle/>
          <a:p>
            <a:r>
              <a:rPr lang="zh-CN" altLang="en-US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视觉计算基础与应用</a:t>
            </a:r>
            <a:r>
              <a:rPr lang="zh-CN" altLang="zh-CN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大作业</a:t>
            </a:r>
          </a:p>
        </p:txBody>
      </p:sp>
      <p:pic>
        <p:nvPicPr>
          <p:cNvPr id="3" name="图片 5">
            <a:extLst>
              <a:ext uri="{FF2B5EF4-FFF2-40B4-BE49-F238E27FC236}">
                <a16:creationId xmlns:a16="http://schemas.microsoft.com/office/drawing/2014/main" id="{05192A5B-B6ED-4F3D-99E6-38B6E837EE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59925" y="125413"/>
            <a:ext cx="2266950" cy="611187"/>
          </a:xfrm>
          <a:prstGeom prst="rect">
            <a:avLst/>
          </a:prstGeom>
          <a:ln>
            <a:noFill/>
          </a:ln>
        </p:spPr>
      </p:pic>
      <p:grpSp>
        <p:nvGrpSpPr>
          <p:cNvPr id="16" name="output-page-number"/>
          <p:cNvGrpSpPr/>
          <p:nvPr/>
        </p:nvGrpSpPr>
        <p:grpSpPr>
          <a:xfrm>
            <a:off x="11668125" y="6438900"/>
            <a:ext cx="504825" cy="381000"/>
            <a:chOff x="11668125" y="6438900"/>
            <a:chExt cx="504825" cy="381000"/>
          </a:xfrm>
        </p:grpSpPr>
        <p:sp>
          <p:nvSpPr>
            <p:cNvPr id="14" name="Rectangle 14"/>
            <p:cNvSpPr/>
            <p:nvPr/>
          </p:nvSpPr>
          <p:spPr>
            <a:xfrm>
              <a:off x="11668125" y="6438900"/>
              <a:ext cx="504825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803398" y="6508750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11</a:t>
              </a:r>
            </a:p>
          </p:txBody>
        </p:sp>
      </p:grpSp>
      <p:grpSp>
        <p:nvGrpSpPr>
          <p:cNvPr id="24" name="rfdetr-paper-settings"/>
          <p:cNvGrpSpPr/>
          <p:nvPr/>
        </p:nvGrpSpPr>
        <p:grpSpPr>
          <a:xfrm>
            <a:off x="607314" y="1368457"/>
            <a:ext cx="10822686" cy="2094833"/>
            <a:chOff x="607314" y="1368457"/>
            <a:chExt cx="10822686" cy="2094833"/>
          </a:xfrm>
        </p:grpSpPr>
        <p:sp>
          <p:nvSpPr>
            <p:cNvPr id="20" name="TextBox 20"/>
            <p:cNvSpPr/>
            <p:nvPr/>
          </p:nvSpPr>
          <p:spPr>
            <a:xfrm>
              <a:off x="607314" y="1368457"/>
              <a:ext cx="5689759" cy="4547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232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RF-DETR 原文 Table 7：Nano 结构参数</a:t>
              </a:r>
            </a:p>
          </p:txBody>
        </p:sp>
        <p:pic>
          <p:nvPicPr>
            <p:cNvPr id="17" name="Image 1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62000" y="1922621"/>
              <a:ext cx="10668000" cy="555403"/>
            </a:xfrm>
            <a:prstGeom prst="rect">
              <a:avLst/>
            </a:prstGeom>
          </p:spPr>
        </p:pic>
        <p:sp>
          <p:nvSpPr>
            <p:cNvPr id="22" name="TextBox 22"/>
            <p:cNvSpPr/>
            <p:nvPr/>
          </p:nvSpPr>
          <p:spPr>
            <a:xfrm>
              <a:off x="609600" y="2705100"/>
              <a:ext cx="837533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结构沿用：384 分辨率、patch 16、2 个窗口、2 层解码器、300 queries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609600" y="3095625"/>
              <a:ext cx="7724775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rgbClr val="C62D35"/>
                  </a:solidFill>
                  <a:latin typeface="Microsoft YaHei"/>
                  <a:ea typeface="Microsoft YaHei"/>
                  <a:cs typeface="Microsoft YaHei"/>
                </a:rPr>
                <a:t>原文 batch 128 / LR 1e−4；本次有效 batch 16 / COCO LR 1e−5</a:t>
              </a:r>
            </a:p>
          </p:txBody>
        </p:sp>
      </p:grpSp>
      <p:grpSp>
        <p:nvGrpSpPr>
          <p:cNvPr id="41" name="page-subtitle"/>
          <p:cNvGrpSpPr/>
          <p:nvPr/>
        </p:nvGrpSpPr>
        <p:grpSpPr>
          <a:xfrm>
            <a:off x="608457" y="822325"/>
            <a:ext cx="2000250" cy="410718"/>
            <a:chOff x="608457" y="822325"/>
            <a:chExt cx="2000250" cy="410718"/>
          </a:xfrm>
        </p:grpSpPr>
        <p:sp>
          <p:nvSpPr>
            <p:cNvPr id="40" name="TextBox 40"/>
            <p:cNvSpPr txBox="1"/>
            <p:nvPr/>
          </p:nvSpPr>
          <p:spPr>
            <a:xfrm>
              <a:off x="608457" y="82232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原论文参数对照</a:t>
              </a:r>
            </a:p>
          </p:txBody>
        </p:sp>
      </p:grpSp>
      <p:grpSp>
        <p:nvGrpSpPr>
          <p:cNvPr id="19" name="new-text-frame-14"/>
          <p:cNvGrpSpPr/>
          <p:nvPr/>
        </p:nvGrpSpPr>
        <p:grpSpPr>
          <a:xfrm>
            <a:off x="607695" y="3816350"/>
            <a:ext cx="3960495" cy="440055"/>
            <a:chOff x="607695" y="3816350"/>
            <a:chExt cx="3960495" cy="440055"/>
          </a:xfrm>
        </p:grpSpPr>
        <p:sp>
          <p:nvSpPr>
            <p:cNvPr id="18" name="TextBox 18"/>
            <p:cNvSpPr txBox="1"/>
            <p:nvPr/>
          </p:nvSpPr>
          <p:spPr>
            <a:xfrm>
              <a:off x="607695" y="3816350"/>
              <a:ext cx="396049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完整检测器与迁移模型的设置</a:t>
              </a:r>
            </a:p>
          </p:txBody>
        </p:sp>
      </p:grpSp>
      <p:grpSp>
        <p:nvGrpSpPr>
          <p:cNvPr id="21" name="new-text-frame-15"/>
          <p:cNvGrpSpPr/>
          <p:nvPr/>
        </p:nvGrpSpPr>
        <p:grpSpPr>
          <a:xfrm>
            <a:off x="609600" y="4391025"/>
            <a:ext cx="6492550" cy="367665"/>
            <a:chOff x="609600" y="4391025"/>
            <a:chExt cx="6492550" cy="367665"/>
          </a:xfrm>
        </p:grpSpPr>
        <p:sp>
          <p:nvSpPr>
            <p:cNvPr id="42" name="TextBox 20"/>
            <p:cNvSpPr txBox="1"/>
            <p:nvPr/>
          </p:nvSpPr>
          <p:spPr>
            <a:xfrm>
              <a:off x="609600" y="4391025"/>
              <a:ext cx="649255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原始完整SATR-SSM：输入640，使用PAN-FPN与原检测头</a:t>
              </a:r>
            </a:p>
          </p:txBody>
        </p:sp>
      </p:grpSp>
      <p:grpSp>
        <p:nvGrpSpPr>
          <p:cNvPr id="43" name="new-text-frame-16"/>
          <p:cNvGrpSpPr/>
          <p:nvPr/>
        </p:nvGrpSpPr>
        <p:grpSpPr>
          <a:xfrm>
            <a:off x="609600" y="4819650"/>
            <a:ext cx="7426340" cy="367665"/>
            <a:chOff x="609600" y="4819650"/>
            <a:chExt cx="7426340" cy="367665"/>
          </a:xfrm>
        </p:grpSpPr>
        <p:sp>
          <p:nvSpPr>
            <p:cNvPr id="44" name="TextBox 22"/>
            <p:cNvSpPr txBox="1"/>
            <p:nvPr/>
          </p:nvSpPr>
          <p:spPr>
            <a:xfrm>
              <a:off x="609600" y="4819650"/>
              <a:ext cx="742634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骨干迁移模型：输入384，使用新适配层与RF-DETR解码器/检测头</a:t>
              </a:r>
            </a:p>
          </p:txBody>
        </p:sp>
      </p:grpSp>
      <p:grpSp>
        <p:nvGrpSpPr>
          <p:cNvPr id="26" name="new-text-frame-17"/>
          <p:cNvGrpSpPr/>
          <p:nvPr/>
        </p:nvGrpSpPr>
        <p:grpSpPr>
          <a:xfrm>
            <a:off x="609600" y="5248275"/>
            <a:ext cx="5888112" cy="367665"/>
            <a:chOff x="609600" y="5248275"/>
            <a:chExt cx="5888112" cy="367665"/>
          </a:xfrm>
        </p:grpSpPr>
        <p:sp>
          <p:nvSpPr>
            <p:cNvPr id="25" name="TextBox 25"/>
            <p:cNvSpPr txBox="1"/>
            <p:nvPr/>
          </p:nvSpPr>
          <p:spPr>
            <a:xfrm>
              <a:off x="609600" y="5248275"/>
              <a:ext cx="5888112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本次共同环境：RTX 2080 Ti 11GB，PyTorch 2.4.1</a:t>
              </a:r>
            </a:p>
          </p:txBody>
        </p:sp>
      </p:grpSp>
      <p:grpSp>
        <p:nvGrpSpPr>
          <p:cNvPr id="28" name="new-text-frame-18"/>
          <p:cNvGrpSpPr/>
          <p:nvPr/>
        </p:nvGrpSpPr>
        <p:grpSpPr>
          <a:xfrm>
            <a:off x="612267" y="6092825"/>
            <a:ext cx="5548671" cy="264033"/>
            <a:chOff x="612267" y="6092825"/>
            <a:chExt cx="5548671" cy="264033"/>
          </a:xfrm>
        </p:grpSpPr>
        <p:sp>
          <p:nvSpPr>
            <p:cNvPr id="27" name="TextBox 27"/>
            <p:cNvSpPr txBox="1"/>
            <p:nvPr/>
          </p:nvSpPr>
          <p:spPr>
            <a:xfrm>
              <a:off x="612267" y="6092825"/>
              <a:ext cx="5548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6616E"/>
                  </a:solidFill>
                  <a:latin typeface="Microsoft YaHei"/>
                  <a:ea typeface="Microsoft YaHei"/>
                  <a:cs typeface="Microsoft YaHei"/>
                </a:rPr>
                <a:t>RF-DETR结构参数见原文Table 7；本次训练设置按配置与日志列示。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77011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-title"/>
          <p:cNvSpPr/>
          <p:nvPr/>
        </p:nvSpPr>
        <p:spPr>
          <a:xfrm>
            <a:off x="1047750" y="190500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64389" rIns="0" bIns="0" anchor="t" anchorCtr="0">
            <a:noAutofit/>
          </a:bodyPr>
          <a:lstStyle/>
          <a:p>
            <a:pPr algn="l"/>
            <a:r>
              <a:rPr lang="zh-CN" sz="3300" b="1" dirty="0">
                <a:solidFill>
                  <a:srgbClr val="206DC5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2" name="chapter-number"/>
          <p:cNvSpPr/>
          <p:nvPr/>
        </p:nvSpPr>
        <p:spPr>
          <a:xfrm>
            <a:off x="304800" y="276225"/>
            <a:ext cx="5429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89059" rIns="0" bIns="0" anchor="t" anchorCtr="0">
            <a:noAutofit/>
          </a:bodyPr>
          <a:lstStyle/>
          <a:p>
            <a:pPr algn="ctr"/>
            <a:r>
              <a:rPr lang="zh-CN" sz="218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" name="course-footer"/>
          <p:cNvSpPr/>
          <p:nvPr/>
        </p:nvSpPr>
        <p:spPr>
          <a:xfrm>
            <a:off x="447675" y="6467475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41910" rIns="0" bIns="0" anchor="t" anchorCtr="0">
            <a:noAutofit/>
          </a:bodyPr>
          <a:lstStyle/>
          <a:p>
            <a:r>
              <a:rPr lang="zh-CN" altLang="en-US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视觉计算基础与应用</a:t>
            </a:r>
            <a:r>
              <a:rPr lang="zh-CN" altLang="zh-CN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大作业</a:t>
            </a:r>
          </a:p>
        </p:txBody>
      </p:sp>
      <p:pic>
        <p:nvPicPr>
          <p:cNvPr id="9" name="图片 5">
            <a:extLst>
              <a:ext uri="{FF2B5EF4-FFF2-40B4-BE49-F238E27FC236}">
                <a16:creationId xmlns:a16="http://schemas.microsoft.com/office/drawing/2014/main" id="{746F2C71-A194-4BC3-8B47-7BC4ED2B538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59925" y="125413"/>
            <a:ext cx="2266950" cy="611187"/>
          </a:xfrm>
          <a:prstGeom prst="rect">
            <a:avLst/>
          </a:prstGeom>
          <a:ln>
            <a:noFill/>
          </a:ln>
        </p:spPr>
      </p:pic>
      <p:grpSp>
        <p:nvGrpSpPr>
          <p:cNvPr id="12" name="output-page-number"/>
          <p:cNvGrpSpPr/>
          <p:nvPr/>
        </p:nvGrpSpPr>
        <p:grpSpPr>
          <a:xfrm>
            <a:off x="11668125" y="6438900"/>
            <a:ext cx="504825" cy="381000"/>
            <a:chOff x="11668125" y="6438900"/>
            <a:chExt cx="504825" cy="381000"/>
          </a:xfrm>
        </p:grpSpPr>
        <p:sp>
          <p:nvSpPr>
            <p:cNvPr id="10" name="Rectangle 10"/>
            <p:cNvSpPr/>
            <p:nvPr/>
          </p:nvSpPr>
          <p:spPr>
            <a:xfrm>
              <a:off x="11668125" y="6438900"/>
              <a:ext cx="504825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1803398" y="6508750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12</a:t>
              </a:r>
            </a:p>
          </p:txBody>
        </p:sp>
      </p:grpSp>
      <p:graphicFrame>
        <p:nvGraphicFramePr>
          <p:cNvPr id="16" name="all-results"/>
          <p:cNvGraphicFramePr>
            <a:graphicFrameLocks noGrp="1"/>
          </p:cNvGraphicFramePr>
          <p:nvPr/>
        </p:nvGraphicFramePr>
        <p:xfrm>
          <a:off x="619125" y="1276350"/>
          <a:ext cx="10953750" cy="44767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71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8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71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59594">
                <a:tc>
                  <a:txBody>
                    <a:bodyPr/>
                    <a:lstStyle/>
                    <a:p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 + Backbone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206D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数据集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206D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参数量 (M)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206D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mAP50:95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206D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mAP50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206DC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lang="zh-CN" sz="135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A｜RF-DETR-Nano + DINOv2-S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COCO2017 全量 / 80类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30.467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0.483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0.674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lang="zh-CN" sz="135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B｜RF-DETR-Nano + DINOv2-S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COCO2017 5k / 80类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30.467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0.483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0.673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lang="zh-CN" sz="135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C｜RF-DETR-Nano + DINOv2-S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COCO2017 5k / VOC20类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30.215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0.544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0.748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lang="zh-CN" sz="1350" b="1">
                          <a:solidFill>
                            <a:srgbClr val="C62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D｜RF-DETR-Nano + SATR骨干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COCO2017 5k / VOC20类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C62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9.577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C62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0.006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C62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0.017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9594">
                <a:tc>
                  <a:txBody>
                    <a:bodyPr/>
                    <a:lstStyle/>
                    <a:p>
                      <a:r>
                        <a:rPr lang="zh-CN" sz="135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E｜RF-DETR-Nano + DINOv2-S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M3FD 可见光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30.467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0.493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0.782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9593">
                <a:tc>
                  <a:txBody>
                    <a:bodyPr/>
                    <a:lstStyle/>
                    <a:p>
                      <a:r>
                        <a:rPr lang="zh-CN" sz="1350" b="1">
                          <a:solidFill>
                            <a:srgbClr val="C62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F｜RF-DETR-Nano + SATR骨干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M3FD 可见光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C62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9.829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C62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0.315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C62D3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0.561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9593">
                <a:tc>
                  <a:txBody>
                    <a:bodyPr/>
                    <a:lstStyle/>
                    <a:p>
                      <a:r>
                        <a:rPr lang="zh-CN" sz="1350" b="1">
                          <a:solidFill>
                            <a:srgbClr val="206DC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原始完整 SATR-SSM 检测器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0">
                          <a:solidFill>
                            <a:srgbClr val="111820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M3FD（既有SATR协议）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206DC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3.72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206DC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0.435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500" b="1">
                          <a:solidFill>
                            <a:srgbClr val="206DC5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0.706</a:t>
                      </a:r>
                    </a:p>
                  </a:txBody>
                  <a:tcPr marL="85725" marR="85725" marT="85725" marB="85725" anchor="ctr">
                    <a:lnL w="9525">
                      <a:solidFill>
                        <a:srgbClr val="D3E1F1"/>
                      </a:solidFill>
                      <a:prstDash val="solid"/>
                    </a:lnL>
                    <a:lnR w="9525">
                      <a:solidFill>
                        <a:srgbClr val="D3E1F1"/>
                      </a:solidFill>
                      <a:prstDash val="solid"/>
                    </a:lnR>
                    <a:lnT w="9525">
                      <a:solidFill>
                        <a:srgbClr val="D3E1F1"/>
                      </a:solidFill>
                      <a:prstDash val="solid"/>
                    </a:lnT>
                    <a:lnB w="9525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7" name="TextBox 17"/>
          <p:cNvSpPr/>
          <p:nvPr/>
        </p:nvSpPr>
        <p:spPr>
          <a:xfrm>
            <a:off x="613029" y="6181725"/>
            <a:ext cx="702973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A–F为RF-DETR-Nano骨干对照；末行为原始完整SATR-SSM。mAP按0–1保留三位小数。</a:t>
            </a:r>
          </a:p>
        </p:txBody>
      </p:sp>
      <p:grpSp>
        <p:nvGrpSpPr>
          <p:cNvPr id="14" name="page-subtitle"/>
          <p:cNvGrpSpPr/>
          <p:nvPr/>
        </p:nvGrpSpPr>
        <p:grpSpPr>
          <a:xfrm>
            <a:off x="608457" y="822325"/>
            <a:ext cx="1717548" cy="410718"/>
            <a:chOff x="608457" y="822325"/>
            <a:chExt cx="1717548" cy="410718"/>
          </a:xfrm>
        </p:grpSpPr>
        <p:sp>
          <p:nvSpPr>
            <p:cNvPr id="13" name="TextBox 13"/>
            <p:cNvSpPr txBox="1"/>
            <p:nvPr/>
          </p:nvSpPr>
          <p:spPr>
            <a:xfrm>
              <a:off x="608457" y="82232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实验结果总表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408675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/>
          <p:cNvSpPr/>
          <p:nvPr/>
        </p:nvSpPr>
        <p:spPr>
          <a:xfrm>
            <a:off x="1047750" y="190500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64389" rIns="0" bIns="0" anchor="t" anchorCtr="0">
            <a:noAutofit/>
          </a:bodyPr>
          <a:lstStyle/>
          <a:p>
            <a:pPr algn="l"/>
            <a:r>
              <a:rPr lang="zh-CN" sz="3300" b="1" dirty="0">
                <a:solidFill>
                  <a:srgbClr val="206DC5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11" name="chapter-number"/>
          <p:cNvSpPr/>
          <p:nvPr/>
        </p:nvSpPr>
        <p:spPr>
          <a:xfrm>
            <a:off x="304800" y="276225"/>
            <a:ext cx="5429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89059" rIns="0" bIns="0" anchor="t" anchorCtr="0">
            <a:noAutofit/>
          </a:bodyPr>
          <a:lstStyle/>
          <a:p>
            <a:pPr algn="ctr"/>
            <a:r>
              <a:rPr lang="zh-CN" sz="218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course-footer"/>
          <p:cNvSpPr/>
          <p:nvPr/>
        </p:nvSpPr>
        <p:spPr>
          <a:xfrm>
            <a:off x="447675" y="6467475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41910" rIns="0" bIns="0" anchor="t" anchorCtr="0">
            <a:noAutofit/>
          </a:bodyPr>
          <a:lstStyle/>
          <a:p>
            <a:r>
              <a:rPr lang="zh-CN" altLang="en-US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视觉计算基础与应用</a:t>
            </a:r>
            <a:r>
              <a:rPr lang="zh-CN" altLang="zh-CN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大作业</a:t>
            </a:r>
          </a:p>
        </p:txBody>
      </p:sp>
      <p:pic>
        <p:nvPicPr>
          <p:cNvPr id="3" name="图片 5">
            <a:extLst>
              <a:ext uri="{FF2B5EF4-FFF2-40B4-BE49-F238E27FC236}">
                <a16:creationId xmlns:a16="http://schemas.microsoft.com/office/drawing/2014/main" id="{C460D9ED-E9CA-4652-B528-808B6BE632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59925" y="125413"/>
            <a:ext cx="2266950" cy="611187"/>
          </a:xfrm>
          <a:prstGeom prst="rect">
            <a:avLst/>
          </a:prstGeom>
          <a:ln>
            <a:noFill/>
          </a:ln>
        </p:spPr>
      </p:pic>
      <p:grpSp>
        <p:nvGrpSpPr>
          <p:cNvPr id="16" name="output-page-number"/>
          <p:cNvGrpSpPr/>
          <p:nvPr/>
        </p:nvGrpSpPr>
        <p:grpSpPr>
          <a:xfrm>
            <a:off x="11668125" y="6438900"/>
            <a:ext cx="504825" cy="381000"/>
            <a:chOff x="11668125" y="6438900"/>
            <a:chExt cx="504825" cy="381000"/>
          </a:xfrm>
        </p:grpSpPr>
        <p:sp>
          <p:nvSpPr>
            <p:cNvPr id="14" name="Rectangle 14"/>
            <p:cNvSpPr/>
            <p:nvPr/>
          </p:nvSpPr>
          <p:spPr>
            <a:xfrm>
              <a:off x="11668125" y="6438900"/>
              <a:ext cx="504825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803398" y="6508750"/>
              <a:ext cx="22475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13</a:t>
              </a:r>
            </a:p>
          </p:txBody>
        </p:sp>
      </p:grpSp>
      <p:grpSp>
        <p:nvGrpSpPr>
          <p:cNvPr id="25" name="comparison-65-120"/>
          <p:cNvGrpSpPr/>
          <p:nvPr/>
        </p:nvGrpSpPr>
        <p:grpSpPr>
          <a:xfrm>
            <a:off x="619125" y="1314450"/>
            <a:ext cx="5238750" cy="1809750"/>
            <a:chOff x="619125" y="1314450"/>
            <a:chExt cx="5238750" cy="1809750"/>
          </a:xfrm>
        </p:grpSpPr>
        <p:sp>
          <p:nvSpPr>
            <p:cNvPr id="20" name="Rectangle 20"/>
            <p:cNvSpPr/>
            <p:nvPr/>
          </p:nvSpPr>
          <p:spPr>
            <a:xfrm>
              <a:off x="619125" y="1314450"/>
              <a:ext cx="5238750" cy="1809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3E1F1"/>
              </a:solidFill>
            </a:ln>
          </p:spPr>
        </p:sp>
        <p:sp>
          <p:nvSpPr>
            <p:cNvPr id="21" name="TextBox 21"/>
            <p:cNvSpPr/>
            <p:nvPr/>
          </p:nvSpPr>
          <p:spPr>
            <a:xfrm>
              <a:off x="837057" y="1460468"/>
              <a:ext cx="3239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A ↔ B｜全量→5k（80类）</a:t>
              </a:r>
            </a:p>
          </p:txBody>
        </p:sp>
        <p:sp>
          <p:nvSpPr>
            <p:cNvPr id="22" name="TextBox 22"/>
            <p:cNvSpPr/>
            <p:nvPr/>
          </p:nvSpPr>
          <p:spPr>
            <a:xfrm>
              <a:off x="1851279" y="1930432"/>
              <a:ext cx="2774442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2920" b="1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0.483 → 0.483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2051971" y="2432018"/>
              <a:ext cx="237305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原值差 +0.019 pp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1905381" y="2768632"/>
              <a:ext cx="26663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95" bIns="0" anchor="t" anchorCtr="0">
              <a:noAutofit/>
            </a:bodyPr>
            <a:lstStyle/>
            <a:p>
              <a:pPr algn="ctr"/>
              <a:r>
                <a:rPr lang="zh-CN" sz="1650" dirty="0">
                  <a:solidFill>
                    <a:srgbClr val="56616E"/>
                  </a:solidFill>
                  <a:latin typeface="Microsoft YaHei"/>
                  <a:ea typeface="Microsoft YaHei"/>
                  <a:cs typeface="Microsoft YaHei"/>
                </a:rPr>
                <a:t>参数量 30.47M → 30.47M</a:t>
              </a:r>
            </a:p>
          </p:txBody>
        </p:sp>
      </p:grpSp>
      <p:grpSp>
        <p:nvGrpSpPr>
          <p:cNvPr id="31" name="comparison-665-120"/>
          <p:cNvGrpSpPr/>
          <p:nvPr/>
        </p:nvGrpSpPr>
        <p:grpSpPr>
          <a:xfrm>
            <a:off x="6334125" y="1314450"/>
            <a:ext cx="5238750" cy="1809750"/>
            <a:chOff x="6334125" y="1314450"/>
            <a:chExt cx="5238750" cy="1809750"/>
          </a:xfrm>
        </p:grpSpPr>
        <p:sp>
          <p:nvSpPr>
            <p:cNvPr id="26" name="Rectangle 26"/>
            <p:cNvSpPr/>
            <p:nvPr/>
          </p:nvSpPr>
          <p:spPr>
            <a:xfrm>
              <a:off x="6334125" y="1314450"/>
              <a:ext cx="5238750" cy="1809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3E1F1"/>
              </a:solidFill>
            </a:ln>
          </p:spPr>
        </p:sp>
        <p:sp>
          <p:nvSpPr>
            <p:cNvPr id="27" name="TextBox 27"/>
            <p:cNvSpPr/>
            <p:nvPr/>
          </p:nvSpPr>
          <p:spPr>
            <a:xfrm>
              <a:off x="6552057" y="1460468"/>
              <a:ext cx="21843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B ↔ C｜共同20类</a:t>
              </a:r>
            </a:p>
          </p:txBody>
        </p:sp>
        <p:sp>
          <p:nvSpPr>
            <p:cNvPr id="28" name="TextBox 28"/>
            <p:cNvSpPr/>
            <p:nvPr/>
          </p:nvSpPr>
          <p:spPr>
            <a:xfrm>
              <a:off x="7112222" y="1930432"/>
              <a:ext cx="3682556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2920" b="1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0.543 → 0.544</a:t>
              </a:r>
            </a:p>
          </p:txBody>
        </p:sp>
        <p:sp>
          <p:nvSpPr>
            <p:cNvPr id="29" name="TextBox 29"/>
            <p:cNvSpPr/>
            <p:nvPr/>
          </p:nvSpPr>
          <p:spPr>
            <a:xfrm>
              <a:off x="7734871" y="2432018"/>
              <a:ext cx="24371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" tIns="32" rIns="0" bIns="0" anchor="t" anchorCtr="0">
              <a:noAutofit/>
            </a:bodyPr>
            <a:lstStyle/>
            <a:p>
              <a:pPr algn="ctr"/>
              <a:r>
                <a:rPr lang="zh-CN" sz="18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原值差 +0.061 pp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7620381" y="2768632"/>
              <a:ext cx="26663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95" bIns="0" anchor="t" anchorCtr="0">
              <a:noAutofit/>
            </a:bodyPr>
            <a:lstStyle/>
            <a:p>
              <a:pPr algn="ctr"/>
              <a:r>
                <a:rPr lang="zh-CN" sz="1650" dirty="0">
                  <a:solidFill>
                    <a:srgbClr val="56616E"/>
                  </a:solidFill>
                  <a:latin typeface="Microsoft YaHei"/>
                  <a:ea typeface="Microsoft YaHei"/>
                  <a:cs typeface="Microsoft YaHei"/>
                </a:rPr>
                <a:t>参数量 30.47M → 30.22M</a:t>
              </a:r>
            </a:p>
          </p:txBody>
        </p:sp>
      </p:grpSp>
      <p:grpSp>
        <p:nvGrpSpPr>
          <p:cNvPr id="37" name="comparison-65-348"/>
          <p:cNvGrpSpPr/>
          <p:nvPr/>
        </p:nvGrpSpPr>
        <p:grpSpPr>
          <a:xfrm>
            <a:off x="619125" y="3486150"/>
            <a:ext cx="5238750" cy="1809750"/>
            <a:chOff x="619125" y="3486150"/>
            <a:chExt cx="5238750" cy="1809750"/>
          </a:xfrm>
        </p:grpSpPr>
        <p:sp>
          <p:nvSpPr>
            <p:cNvPr id="32" name="Rectangle 32"/>
            <p:cNvSpPr/>
            <p:nvPr/>
          </p:nvSpPr>
          <p:spPr>
            <a:xfrm>
              <a:off x="619125" y="3486150"/>
              <a:ext cx="5238750" cy="1809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3E1F1"/>
              </a:solidFill>
            </a:ln>
          </p:spPr>
        </p:sp>
        <p:sp>
          <p:nvSpPr>
            <p:cNvPr id="33" name="TextBox 33"/>
            <p:cNvSpPr/>
            <p:nvPr/>
          </p:nvSpPr>
          <p:spPr>
            <a:xfrm>
              <a:off x="837057" y="3632168"/>
              <a:ext cx="282968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C62D35"/>
                  </a:solidFill>
                  <a:latin typeface="Microsoft YaHei"/>
                  <a:ea typeface="Microsoft YaHei"/>
                  <a:cs typeface="Microsoft YaHei"/>
                </a:rPr>
                <a:t>C ↔ D｜COCO20 迁移</a:t>
              </a:r>
            </a:p>
          </p:txBody>
        </p:sp>
        <p:sp>
          <p:nvSpPr>
            <p:cNvPr id="34" name="TextBox 34"/>
            <p:cNvSpPr/>
            <p:nvPr/>
          </p:nvSpPr>
          <p:spPr>
            <a:xfrm>
              <a:off x="1619250" y="4102132"/>
              <a:ext cx="3238500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2920" b="1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0.544 → 0.006</a:t>
              </a:r>
            </a:p>
          </p:txBody>
        </p:sp>
        <p:sp>
          <p:nvSpPr>
            <p:cNvPr id="35" name="TextBox 35"/>
            <p:cNvSpPr/>
            <p:nvPr/>
          </p:nvSpPr>
          <p:spPr>
            <a:xfrm>
              <a:off x="1619250" y="4603718"/>
              <a:ext cx="3238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en-US" sz="1800" b="1" dirty="0">
                  <a:solidFill>
                    <a:srgbClr val="C62D35"/>
                  </a:solidFill>
                  <a:latin typeface="Microsoft YaHei"/>
                  <a:ea typeface="Microsoft YaHei"/>
                  <a:cs typeface="Microsoft YaHei"/>
                </a:rPr>
                <a:t>mAP50 0.748 → 0.017</a:t>
              </a:r>
            </a:p>
          </p:txBody>
        </p:sp>
        <p:sp>
          <p:nvSpPr>
            <p:cNvPr id="36" name="TextBox 36"/>
            <p:cNvSpPr/>
            <p:nvPr/>
          </p:nvSpPr>
          <p:spPr>
            <a:xfrm>
              <a:off x="1969865" y="4940332"/>
              <a:ext cx="25372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1650" dirty="0">
                  <a:solidFill>
                    <a:srgbClr val="56616E"/>
                  </a:solidFill>
                  <a:latin typeface="Microsoft YaHei"/>
                  <a:ea typeface="Microsoft YaHei"/>
                  <a:cs typeface="Microsoft YaHei"/>
                </a:rPr>
                <a:t>参数量 30.22M → 9.58M</a:t>
              </a:r>
            </a:p>
          </p:txBody>
        </p:sp>
      </p:grpSp>
      <p:grpSp>
        <p:nvGrpSpPr>
          <p:cNvPr id="43" name="comparison-665-348"/>
          <p:cNvGrpSpPr/>
          <p:nvPr/>
        </p:nvGrpSpPr>
        <p:grpSpPr>
          <a:xfrm>
            <a:off x="6334125" y="3486150"/>
            <a:ext cx="5238750" cy="1809750"/>
            <a:chOff x="6334125" y="3486150"/>
            <a:chExt cx="5238750" cy="1809750"/>
          </a:xfrm>
        </p:grpSpPr>
        <p:sp>
          <p:nvSpPr>
            <p:cNvPr id="38" name="Rectangle 38"/>
            <p:cNvSpPr/>
            <p:nvPr/>
          </p:nvSpPr>
          <p:spPr>
            <a:xfrm>
              <a:off x="6334125" y="3486150"/>
              <a:ext cx="5238750" cy="180975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rgbClr val="D3E1F1"/>
              </a:solidFill>
            </a:ln>
          </p:spPr>
        </p:sp>
        <p:sp>
          <p:nvSpPr>
            <p:cNvPr id="39" name="TextBox 39"/>
            <p:cNvSpPr/>
            <p:nvPr/>
          </p:nvSpPr>
          <p:spPr>
            <a:xfrm>
              <a:off x="6552057" y="3632168"/>
              <a:ext cx="242192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C62D35"/>
                  </a:solidFill>
                  <a:latin typeface="Microsoft YaHei"/>
                  <a:ea typeface="Microsoft YaHei"/>
                  <a:cs typeface="Microsoft YaHei"/>
                </a:rPr>
                <a:t>E ↔ F｜M3FD 迁移</a:t>
              </a:r>
            </a:p>
          </p:txBody>
        </p:sp>
        <p:sp>
          <p:nvSpPr>
            <p:cNvPr id="40" name="TextBox 40"/>
            <p:cNvSpPr/>
            <p:nvPr/>
          </p:nvSpPr>
          <p:spPr>
            <a:xfrm>
              <a:off x="7566279" y="4102132"/>
              <a:ext cx="2774442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2920" b="1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0.493 → 0.315</a:t>
              </a:r>
            </a:p>
          </p:txBody>
        </p:sp>
        <p:sp>
          <p:nvSpPr>
            <p:cNvPr id="41" name="TextBox 41"/>
            <p:cNvSpPr/>
            <p:nvPr/>
          </p:nvSpPr>
          <p:spPr>
            <a:xfrm>
              <a:off x="7637431" y="4603718"/>
              <a:ext cx="26322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95" bIns="0" anchor="t" anchorCtr="0">
              <a:noAutofit/>
            </a:bodyPr>
            <a:lstStyle/>
            <a:p>
              <a:pPr algn="ctr"/>
              <a:r>
                <a:rPr lang="en-US" sz="1800" b="1" dirty="0">
                  <a:solidFill>
                    <a:srgbClr val="C62D35"/>
                  </a:solidFill>
                  <a:latin typeface="Microsoft YaHei"/>
                  <a:ea typeface="Microsoft YaHei"/>
                  <a:cs typeface="Microsoft YaHei"/>
                </a:rPr>
                <a:t>mAP50 0.782 → 0.561</a:t>
              </a:r>
            </a:p>
          </p:txBody>
        </p:sp>
        <p:sp>
          <p:nvSpPr>
            <p:cNvPr id="42" name="TextBox 42"/>
            <p:cNvSpPr/>
            <p:nvPr/>
          </p:nvSpPr>
          <p:spPr>
            <a:xfrm>
              <a:off x="7684865" y="4940332"/>
              <a:ext cx="25372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ctr"/>
              <a:r>
                <a:rPr lang="zh-CN" sz="1650" dirty="0">
                  <a:solidFill>
                    <a:srgbClr val="56616E"/>
                  </a:solidFill>
                  <a:latin typeface="Microsoft YaHei"/>
                  <a:ea typeface="Microsoft YaHei"/>
                  <a:cs typeface="Microsoft YaHei"/>
                </a:rPr>
                <a:t>参数量 30.47M → 9.83M</a:t>
              </a:r>
            </a:p>
          </p:txBody>
        </p:sp>
      </p:grpSp>
      <p:grpSp>
        <p:nvGrpSpPr>
          <p:cNvPr id="45" name="comparison-summary"/>
          <p:cNvGrpSpPr/>
          <p:nvPr/>
        </p:nvGrpSpPr>
        <p:grpSpPr>
          <a:xfrm>
            <a:off x="608076" y="5400675"/>
            <a:ext cx="10100596" cy="426339"/>
            <a:chOff x="608076" y="5400675"/>
            <a:chExt cx="10100596" cy="426339"/>
          </a:xfrm>
        </p:grpSpPr>
        <p:sp>
          <p:nvSpPr>
            <p:cNvPr id="44" name="TextBox 44"/>
            <p:cNvSpPr/>
            <p:nvPr/>
          </p:nvSpPr>
          <p:spPr>
            <a:xfrm>
              <a:off x="608076" y="5400675"/>
              <a:ext cx="1010059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b="1" dirty="0">
                  <a:solidFill>
                    <a:srgbClr val="C62D35"/>
                  </a:solidFill>
                  <a:latin typeface="Microsoft YaHei"/>
                  <a:ea typeface="Microsoft YaHei"/>
                  <a:cs typeface="Microsoft YaHei"/>
                </a:rPr>
                <a:t>5k基线接近全量结果；两组SATR骨干迁移模型均出现精度下降。</a:t>
              </a:r>
            </a:p>
          </p:txBody>
        </p:sp>
      </p:grpSp>
      <p:sp>
        <p:nvSpPr>
          <p:cNvPr id="46" name="TextBox 46"/>
          <p:cNvSpPr/>
          <p:nvPr/>
        </p:nvSpPr>
        <p:spPr>
          <a:xfrm>
            <a:off x="613029" y="6181725"/>
            <a:ext cx="439978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B/C使用共同20类；pp为百分点，差值由未舍入原值计算。</a:t>
            </a:r>
          </a:p>
        </p:txBody>
      </p:sp>
      <p:grpSp>
        <p:nvGrpSpPr>
          <p:cNvPr id="61" name="page-subtitle"/>
          <p:cNvGrpSpPr/>
          <p:nvPr/>
        </p:nvGrpSpPr>
        <p:grpSpPr>
          <a:xfrm>
            <a:off x="608457" y="822325"/>
            <a:ext cx="3696462" cy="410718"/>
            <a:chOff x="608457" y="822325"/>
            <a:chExt cx="3696462" cy="410718"/>
          </a:xfrm>
        </p:grpSpPr>
        <p:sp>
          <p:nvSpPr>
            <p:cNvPr id="60" name="TextBox 60"/>
            <p:cNvSpPr txBox="1"/>
            <p:nvPr/>
          </p:nvSpPr>
          <p:spPr>
            <a:xfrm>
              <a:off x="608457" y="822325"/>
              <a:ext cx="369646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关键结果：先看同类标签比较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1362323"/>
      </p:ext>
    </p:extLst>
  </p:cSld>
  <p:clrMapOvr>
    <a:masterClrMapping/>
  </p:clrMapOvr>
</p:sld>
</file>

<file path=ppt/slides/slide14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/>
          <p:cNvSpPr/>
          <p:nvPr/>
        </p:nvSpPr>
        <p:spPr>
          <a:xfrm>
            <a:off x="1047750" y="190500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64389" rIns="0" bIns="0" anchor="t" anchorCtr="0">
            <a:noAutofit/>
          </a:bodyPr>
          <a:lstStyle/>
          <a:p>
            <a:pPr algn="l"/>
            <a:r>
              <a:rPr lang="zh-CN" sz="3300" b="1" dirty="0">
                <a:solidFill>
                  <a:srgbClr val="206DC5"/>
                </a:solidFill>
                <a:latin typeface="Microsoft YaHei"/>
                <a:ea typeface="Microsoft YaHei"/>
                <a:cs typeface="Microsoft YaHei"/>
              </a:rPr>
              <a:t>实验结果</a:t>
            </a:r>
          </a:p>
        </p:txBody>
      </p:sp>
      <p:sp>
        <p:nvSpPr>
          <p:cNvPr id="11" name="chapter-number"/>
          <p:cNvSpPr/>
          <p:nvPr/>
        </p:nvSpPr>
        <p:spPr>
          <a:xfrm>
            <a:off x="304800" y="276225"/>
            <a:ext cx="5429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89059" rIns="0" bIns="0" anchor="t" anchorCtr="0">
            <a:noAutofit/>
          </a:bodyPr>
          <a:lstStyle/>
          <a:p>
            <a:pPr algn="ctr"/>
            <a:r>
              <a:rPr lang="zh-CN" sz="218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course-footer"/>
          <p:cNvSpPr/>
          <p:nvPr/>
        </p:nvSpPr>
        <p:spPr>
          <a:xfrm>
            <a:off x="447675" y="6467475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41910" rIns="0" bIns="0" anchor="t" anchorCtr="0">
            <a:noAutofit/>
          </a:bodyPr>
          <a:lstStyle/>
          <a:p>
            <a:r>
              <a:rPr lang="zh-CN" altLang="en-US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视觉计算基础与应用</a:t>
            </a:r>
            <a:r>
              <a:rPr lang="zh-CN" altLang="zh-CN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大作业</a:t>
            </a:r>
          </a:p>
        </p:txBody>
      </p:sp>
      <p:pic>
        <p:nvPicPr>
          <p:cNvPr id="3" name="图片 5">
            <a:extLst>
              <a:ext uri="{FF2B5EF4-FFF2-40B4-BE49-F238E27FC236}">
                <a16:creationId id="{C460D9ED-E9CA-4652-B528-808B6BE632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59925" y="125413"/>
            <a:ext cx="2266950" cy="611187"/>
          </a:xfrm>
          <a:prstGeom prst="rect">
            <a:avLst/>
          </a:prstGeom>
          <a:ln>
            <a:noFill/>
          </a:ln>
        </p:spPr>
      </p:pic>
      <p:grpSp>
        <p:nvGrpSpPr>
          <p:cNvPr id="16" name="output-page-number"/>
          <p:cNvGrpSpPr/>
          <p:nvPr/>
        </p:nvGrpSpPr>
        <p:grpSpPr>
          <a:xfrm>
            <a:off x="11668125" y="6438900"/>
            <a:ext cx="504825" cy="381000"/>
            <a:chOff x="11668125" y="6438900"/>
            <a:chExt cx="504825" cy="381000"/>
          </a:xfrm>
        </p:grpSpPr>
        <p:sp>
          <p:nvSpPr>
            <p:cNvPr id="14" name="Rectangle 14"/>
            <p:cNvSpPr/>
            <p:nvPr/>
          </p:nvSpPr>
          <p:spPr>
            <a:xfrm>
              <a:off x="11668125" y="6438900"/>
              <a:ext cx="504825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/>
            <p:nvPr/>
          </p:nvSpPr>
          <p:spPr>
            <a:xfrm>
              <a:off x="11803380" y="6508718"/>
              <a:ext cx="2247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142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14</a:t>
              </a:r>
            </a:p>
          </p:txBody>
        </p:sp>
      </p:grpSp>
      <p:grpSp>
        <p:nvGrpSpPr>
          <p:cNvPr id="61" name="page-subtitle"/>
          <p:cNvGrpSpPr/>
          <p:nvPr/>
        </p:nvGrpSpPr>
        <p:grpSpPr>
          <a:xfrm>
            <a:off x="608457" y="822293"/>
            <a:ext cx="10906125" cy="410718"/>
            <a:chOff x="608457" y="822293"/>
            <a:chExt cx="10906125" cy="410718"/>
          </a:xfrm>
        </p:grpSpPr>
        <p:sp>
          <p:nvSpPr>
            <p:cNvPr id="60" name="TextBox 60"/>
            <p:cNvSpPr/>
            <p:nvPr/>
          </p:nvSpPr>
          <p:spPr>
            <a:xfrm>
              <a:off x="608457" y="822293"/>
              <a:ext cx="109061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共同20类：标签过滤与图像规模</a:t>
              </a:r>
            </a:p>
          </p:txBody>
        </p:sp>
      </p:grpSp>
      <p:graphicFrame>
        <p:nvGraphicFramePr>
          <p:cNvPr id="20" name="common20-comparison"/>
          <p:cNvGraphicFramePr>
            <a:graphicFrameLocks noGrp="1"/>
          </p:cNvGraphicFramePr>
          <p:nvPr/>
        </p:nvGraphicFramePr>
        <p:xfrm>
          <a:off x="619125" y="1352550"/>
          <a:ext cx="10953750" cy="12573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724275">
                  <a:extLst>
                    <a:ext uri="{9D8B030D-6E8A-4147-A177-3AD203B41FA5}">
                      <a16:colId val="20000"/>
                    </a:ext>
                  </a:extLst>
                </a:gridCol>
                <a:gridCol w="2409825">
                  <a:extLst>
                    <a:ext uri="{9D8B030D-6E8A-4147-A177-3AD203B41FA5}">
                      <a16:colId val="20001"/>
                    </a:ext>
                  </a:extLst>
                </a:gridCol>
                <a:gridCol w="2409825">
                  <a:extLst>
                    <a:ext uri="{9D8B030D-6E8A-4147-A177-3AD203B41FA5}">
                      <a16:colId val="20002"/>
                    </a:ext>
                  </a:extLst>
                </a:gridCol>
                <a:gridCol w="2409825">
                  <a:extLst>
                    <a:ext uri="{9D8B030D-6E8A-4147-A177-3AD203B41FA5}">
                      <a16:colId val="20003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评价空间</a:t>
                      </a:r>
                    </a:p>
                  </a:txBody>
                  <a:tcPr marL="76200" marR="76200" marT="57150" marB="57150" anchor="ctr">
                    <a:lnL w="7144">
                      <a:solidFill>
                        <a:srgbClr val="D3E1F1"/>
                      </a:solidFill>
                      <a:prstDash val="solid"/>
                    </a:lnL>
                    <a:lnR w="7144">
                      <a:solidFill>
                        <a:srgbClr val="D3E1F1"/>
                      </a:solidFill>
                      <a:prstDash val="solid"/>
                    </a:lnR>
                    <a:lnT w="7144">
                      <a:solidFill>
                        <a:srgbClr val="D3E1F1"/>
                      </a:solidFill>
                      <a:prstDash val="solid"/>
                    </a:lnT>
                    <a:lnB w="7144">
                      <a:solidFill>
                        <a:srgbClr val="D3E1F1"/>
                      </a:solidFill>
                      <a:prstDash val="solid"/>
                    </a:lnB>
                    <a:solidFill>
                      <a:srgbClr val="206D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B：80类模型</a:t>
                      </a:r>
                    </a:p>
                  </a:txBody>
                  <a:tcPr marL="76200" marR="76200" marT="57150" marB="57150" anchor="ctr">
                    <a:lnL w="7144">
                      <a:solidFill>
                        <a:srgbClr val="D3E1F1"/>
                      </a:solidFill>
                      <a:prstDash val="solid"/>
                    </a:lnL>
                    <a:lnR w="7144">
                      <a:solidFill>
                        <a:srgbClr val="D3E1F1"/>
                      </a:solidFill>
                      <a:prstDash val="solid"/>
                    </a:lnR>
                    <a:lnT w="7144">
                      <a:solidFill>
                        <a:srgbClr val="D3E1F1"/>
                      </a:solidFill>
                      <a:prstDash val="solid"/>
                    </a:lnT>
                    <a:lnB w="7144">
                      <a:solidFill>
                        <a:srgbClr val="D3E1F1"/>
                      </a:solidFill>
                      <a:prstDash val="solid"/>
                    </a:lnB>
                    <a:solidFill>
                      <a:srgbClr val="206D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C：20类模型</a:t>
                      </a:r>
                    </a:p>
                  </a:txBody>
                  <a:tcPr marL="76200" marR="76200" marT="57150" marB="57150" anchor="ctr">
                    <a:lnL w="7144">
                      <a:solidFill>
                        <a:srgbClr val="D3E1F1"/>
                      </a:solidFill>
                      <a:prstDash val="solid"/>
                    </a:lnL>
                    <a:lnR w="7144">
                      <a:solidFill>
                        <a:srgbClr val="D3E1F1"/>
                      </a:solidFill>
                      <a:prstDash val="solid"/>
                    </a:lnR>
                    <a:lnT w="7144">
                      <a:solidFill>
                        <a:srgbClr val="D3E1F1"/>
                      </a:solidFill>
                      <a:prstDash val="solid"/>
                    </a:lnT>
                    <a:lnB w="7144">
                      <a:solidFill>
                        <a:srgbClr val="D3E1F1"/>
                      </a:solidFill>
                      <a:prstDash val="solid"/>
                    </a:lnB>
                    <a:solidFill>
                      <a:srgbClr val="206DC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C−B</a:t>
                      </a:r>
                    </a:p>
                  </a:txBody>
                  <a:tcPr marL="76200" marR="76200" marT="57150" marB="57150" anchor="ctr">
                    <a:lnL w="7144">
                      <a:solidFill>
                        <a:srgbClr val="D3E1F1"/>
                      </a:solidFill>
                      <a:prstDash val="solid"/>
                    </a:lnL>
                    <a:lnR w="7144">
                      <a:solidFill>
                        <a:srgbClr val="D3E1F1"/>
                      </a:solidFill>
                      <a:prstDash val="solid"/>
                    </a:lnR>
                    <a:lnT w="7144">
                      <a:solidFill>
                        <a:srgbClr val="D3E1F1"/>
                      </a:solidFill>
                      <a:prstDash val="solid"/>
                    </a:lnT>
                    <a:lnB w="7144">
                      <a:solidFill>
                        <a:srgbClr val="D3E1F1"/>
                      </a:solidFill>
                      <a:prstDash val="solid"/>
                    </a:lnB>
                    <a:solidFill>
                      <a:srgbClr val="206DC5"/>
                    </a:solidFill>
                  </a:tcPr>
                </a:tc>
                <a:extLst>
                  <a:ext uri="{0D108BD9-81ED-4DB2-BD59-A6C34878D82A}">
                    <a16:rowId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sz="16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共同VOC20类 mAP50:95</a:t>
                      </a:r>
                    </a:p>
                  </a:txBody>
                  <a:tcPr marL="76200" marR="76200" marT="57150" marB="57150" anchor="ctr">
                    <a:lnL w="7144">
                      <a:solidFill>
                        <a:srgbClr val="D3E1F1"/>
                      </a:solidFill>
                      <a:prstDash val="solid"/>
                    </a:lnL>
                    <a:lnR w="7144">
                      <a:solidFill>
                        <a:srgbClr val="D3E1F1"/>
                      </a:solidFill>
                      <a:prstDash val="solid"/>
                    </a:lnR>
                    <a:lnT w="7144">
                      <a:solidFill>
                        <a:srgbClr val="D3E1F1"/>
                      </a:solidFill>
                      <a:prstDash val="solid"/>
                    </a:lnT>
                    <a:lnB w="7144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0.543</a:t>
                      </a:r>
                    </a:p>
                  </a:txBody>
                  <a:tcPr marL="76200" marR="76200" marT="57150" marB="57150" anchor="ctr">
                    <a:lnL w="7144">
                      <a:solidFill>
                        <a:srgbClr val="D3E1F1"/>
                      </a:solidFill>
                      <a:prstDash val="solid"/>
                    </a:lnL>
                    <a:lnR w="7144">
                      <a:solidFill>
                        <a:srgbClr val="D3E1F1"/>
                      </a:solidFill>
                      <a:prstDash val="solid"/>
                    </a:lnR>
                    <a:lnT w="7144">
                      <a:solidFill>
                        <a:srgbClr val="D3E1F1"/>
                      </a:solidFill>
                      <a:prstDash val="solid"/>
                    </a:lnT>
                    <a:lnB w="7144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0.544</a:t>
                      </a:r>
                    </a:p>
                  </a:txBody>
                  <a:tcPr marL="76200" marR="76200" marT="57150" marB="57150" anchor="ctr">
                    <a:lnL w="7144">
                      <a:solidFill>
                        <a:srgbClr val="D3E1F1"/>
                      </a:solidFill>
                      <a:prstDash val="solid"/>
                    </a:lnL>
                    <a:lnR w="7144">
                      <a:solidFill>
                        <a:srgbClr val="D3E1F1"/>
                      </a:solidFill>
                      <a:prstDash val="solid"/>
                    </a:lnR>
                    <a:lnT w="7144">
                      <a:solidFill>
                        <a:srgbClr val="D3E1F1"/>
                      </a:solidFill>
                      <a:prstDash val="solid"/>
                    </a:lnT>
                    <a:lnB w="7144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+0.061 pp</a:t>
                      </a:r>
                    </a:p>
                  </a:txBody>
                  <a:tcPr marL="76200" marR="76200" marT="57150" marB="57150" anchor="ctr">
                    <a:lnL w="7144">
                      <a:solidFill>
                        <a:srgbClr val="D3E1F1"/>
                      </a:solidFill>
                      <a:prstDash val="solid"/>
                    </a:lnL>
                    <a:lnR w="7144">
                      <a:solidFill>
                        <a:srgbClr val="D3E1F1"/>
                      </a:solidFill>
                      <a:prstDash val="solid"/>
                    </a:lnR>
                    <a:lnT w="7144">
                      <a:solidFill>
                        <a:srgbClr val="D3E1F1"/>
                      </a:solidFill>
                      <a:prstDash val="solid"/>
                    </a:lnT>
                    <a:lnB w="7144">
                      <a:solidFill>
                        <a:srgbClr val="D3E1F1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/>
                      <a:r>
                        <a:rPr lang="zh-CN" sz="16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各自全部类别 mAP50:95</a:t>
                      </a:r>
                    </a:p>
                  </a:txBody>
                  <a:tcPr marL="76200" marR="76200" marT="57150" marB="57150" anchor="ctr">
                    <a:lnL w="7144">
                      <a:solidFill>
                        <a:srgbClr val="D3E1F1"/>
                      </a:solidFill>
                      <a:prstDash val="solid"/>
                    </a:lnL>
                    <a:lnR w="7144">
                      <a:solidFill>
                        <a:srgbClr val="D3E1F1"/>
                      </a:solidFill>
                      <a:prstDash val="solid"/>
                    </a:lnR>
                    <a:lnT w="7144">
                      <a:solidFill>
                        <a:srgbClr val="D3E1F1"/>
                      </a:solidFill>
                      <a:prstDash val="solid"/>
                    </a:lnT>
                    <a:lnB w="7144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0.483（80类）</a:t>
                      </a:r>
                    </a:p>
                  </a:txBody>
                  <a:tcPr marL="76200" marR="76200" marT="57150" marB="57150" anchor="ctr">
                    <a:lnL w="7144">
                      <a:solidFill>
                        <a:srgbClr val="D3E1F1"/>
                      </a:solidFill>
                      <a:prstDash val="solid"/>
                    </a:lnL>
                    <a:lnR w="7144">
                      <a:solidFill>
                        <a:srgbClr val="D3E1F1"/>
                      </a:solidFill>
                      <a:prstDash val="solid"/>
                    </a:lnR>
                    <a:lnT w="7144">
                      <a:solidFill>
                        <a:srgbClr val="D3E1F1"/>
                      </a:solidFill>
                      <a:prstDash val="solid"/>
                    </a:lnT>
                    <a:lnB w="7144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0.544（20类）</a:t>
                      </a:r>
                    </a:p>
                  </a:txBody>
                  <a:tcPr marL="76200" marR="76200" marT="57150" marB="57150" anchor="ctr">
                    <a:lnL w="7144">
                      <a:solidFill>
                        <a:srgbClr val="D3E1F1"/>
                      </a:solidFill>
                      <a:prstDash val="solid"/>
                    </a:lnL>
                    <a:lnR w="7144">
                      <a:solidFill>
                        <a:srgbClr val="D3E1F1"/>
                      </a:solidFill>
                      <a:prstDash val="solid"/>
                    </a:lnR>
                    <a:lnT w="7144">
                      <a:solidFill>
                        <a:srgbClr val="D3E1F1"/>
                      </a:solidFill>
                      <a:prstDash val="solid"/>
                    </a:lnT>
                    <a:lnB w="7144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sz="16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分列展示</a:t>
                      </a:r>
                    </a:p>
                  </a:txBody>
                  <a:tcPr marL="76200" marR="76200" marT="57150" marB="57150" anchor="ctr">
                    <a:lnL w="7144">
                      <a:solidFill>
                        <a:srgbClr val="D3E1F1"/>
                      </a:solidFill>
                      <a:prstDash val="solid"/>
                    </a:lnL>
                    <a:lnR w="7144">
                      <a:solidFill>
                        <a:srgbClr val="D3E1F1"/>
                      </a:solidFill>
                      <a:prstDash val="solid"/>
                    </a:lnR>
                    <a:lnT w="7144">
                      <a:solidFill>
                        <a:srgbClr val="D3E1F1"/>
                      </a:solidFill>
                      <a:prstDash val="solid"/>
                    </a:lnT>
                    <a:lnB w="7144">
                      <a:solidFill>
                        <a:srgbClr val="D3E1F1"/>
                      </a:solidFill>
                      <a:prstDash val="solid"/>
                    </a:lnB>
                    <a:solidFill>
                      <a:srgbClr val="F3F7FD"/>
                    </a:solidFill>
                  </a:tcPr>
                </a:tc>
                <a:extLst>
                  <a:ext uri="{0D108BD9-81ED-4DB2-BD59-A6C34878D82A}">
                    <a16:rowId val="10002"/>
                  </a:ext>
                </a:extLst>
              </a:tr>
            </a:tbl>
          </a:graphicData>
        </a:graphic>
      </p:graphicFrame>
      <p:grpSp>
        <p:nvGrpSpPr>
          <p:cNvPr id="22" name="new-text-frame-14"/>
          <p:cNvGrpSpPr/>
          <p:nvPr/>
        </p:nvGrpSpPr>
        <p:grpSpPr>
          <a:xfrm>
            <a:off x="609600" y="2781300"/>
            <a:ext cx="10953750" cy="367665"/>
            <a:chOff x="609600" y="2781300"/>
            <a:chExt cx="10953750" cy="367665"/>
          </a:xfrm>
        </p:grpSpPr>
        <p:sp>
          <p:nvSpPr>
            <p:cNvPr id="21" name="TextBox 21"/>
            <p:cNvSpPr/>
            <p:nvPr/>
          </p:nvSpPr>
          <p:spPr>
            <a:xfrm>
              <a:off x="609600" y="2781300"/>
              <a:ext cx="1095375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训练图像：118,287 → 5,000；共同20类 AP：0.543 → 0.544。</a:t>
              </a:r>
            </a:p>
          </p:txBody>
        </p:sp>
      </p:grpSp>
      <p:grpSp>
        <p:nvGrpSpPr>
          <p:cNvPr id="24" name="new-text-frame-15"/>
          <p:cNvGrpSpPr/>
          <p:nvPr/>
        </p:nvGrpSpPr>
        <p:grpSpPr>
          <a:xfrm>
            <a:off x="609600" y="3124200"/>
            <a:ext cx="10953750" cy="367665"/>
            <a:chOff x="609600" y="3124200"/>
            <a:chExt cx="10953750" cy="367665"/>
          </a:xfrm>
        </p:grpSpPr>
        <p:sp>
          <p:nvSpPr>
            <p:cNvPr id="23" name="TextBox 23"/>
            <p:cNvSpPr/>
            <p:nvPr/>
          </p:nvSpPr>
          <p:spPr>
            <a:xfrm>
              <a:off x="609600" y="3124200"/>
              <a:ext cx="1095375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A/B/C最佳EMA：第8 / 1 / 2轮；已适配COCO的预训练模型起点较高。</a:t>
              </a:r>
            </a:p>
          </p:txBody>
        </p:sp>
      </p:grpSp>
      <p:pic>
        <p:nvPicPr>
          <p:cNvPr id="25" name="Image 2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3600450"/>
            <a:ext cx="3429000" cy="2362200"/>
          </a:xfrm>
          <a:prstGeom prst="rect">
            <a:avLst/>
          </a:prstGeom>
        </p:spPr>
      </p:pic>
      <p:pic>
        <p:nvPicPr>
          <p:cNvPr id="26" name="Image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3600450"/>
            <a:ext cx="3429000" cy="2362200"/>
          </a:xfrm>
          <a:prstGeom prst="rect">
            <a:avLst/>
          </a:prstGeom>
        </p:spPr>
      </p:pic>
      <p:pic>
        <p:nvPicPr>
          <p:cNvPr id="27" name="Image 2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3875" y="3600450"/>
            <a:ext cx="3429000" cy="2362200"/>
          </a:xfrm>
          <a:prstGeom prst="rect">
            <a:avLst/>
          </a:prstGeom>
        </p:spPr>
      </p:pic>
      <p:grpSp>
        <p:nvGrpSpPr>
          <p:cNvPr id="29" name="new-text-frame-19"/>
          <p:cNvGrpSpPr/>
          <p:nvPr/>
        </p:nvGrpSpPr>
        <p:grpSpPr>
          <a:xfrm>
            <a:off x="612648" y="6096000"/>
            <a:ext cx="10953750" cy="250317"/>
            <a:chOff x="612648" y="6096000"/>
            <a:chExt cx="10953750" cy="250317"/>
          </a:xfrm>
        </p:grpSpPr>
        <p:sp>
          <p:nvSpPr>
            <p:cNvPr id="28" name="TextBox 28"/>
            <p:cNvSpPr/>
            <p:nvPr/>
          </p:nvSpPr>
          <p:spPr>
            <a:xfrm>
              <a:off x="612648" y="6096000"/>
              <a:ext cx="10953750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280" dirty="0">
                  <a:solidFill>
                    <a:srgbClr val="56616E"/>
                  </a:solidFill>
                  <a:latin typeface="Microsoft YaHei"/>
                  <a:ea typeface="Microsoft YaHei"/>
                  <a:cs typeface="Microsoft YaHei"/>
                </a:rPr>
                <a:t>后期训练损失下降而验证AP回落，提示继续微调出现任务过适配；减负主要来自固定5k图像。</a:t>
              </a:r>
            </a:p>
          </p:txBody>
        </p:sp>
      </p:grpSp>
    </p:spTree>
    <p:extLst>
      <p:ext uri="{BB962C8B-B14F-4D97-AF65-F5344CB8AC3E}">
        <p14:creationId val="1731362323"/>
      </p:ext>
    </p:extLst>
  </p:cSld>
  <p:clrMapOvr>
    <a:masterClrMapping/>
  </p:clrMapOvr>
</p:sld>
</file>

<file path=ppt/slides/slide15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/>
          <p:cNvSpPr/>
          <p:nvPr/>
        </p:nvSpPr>
        <p:spPr>
          <a:xfrm>
            <a:off x="1047750" y="190500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64389" rIns="0" bIns="0" anchor="t" anchorCtr="0">
            <a:noAutofit/>
          </a:bodyPr>
          <a:lstStyle/>
          <a:p>
            <a:pPr algn="l"/>
            <a:r>
              <a:rPr lang="zh-CN" sz="3300" b="1" dirty="0">
                <a:solidFill>
                  <a:srgbClr val="206DC5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1" name="chapter-number"/>
          <p:cNvSpPr/>
          <p:nvPr/>
        </p:nvSpPr>
        <p:spPr>
          <a:xfrm>
            <a:off x="304800" y="276225"/>
            <a:ext cx="5429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89059" rIns="0" bIns="0" anchor="t" anchorCtr="0">
            <a:noAutofit/>
          </a:bodyPr>
          <a:lstStyle/>
          <a:p>
            <a:pPr algn="ctr"/>
            <a:r>
              <a:rPr lang="zh-CN" sz="218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2" name="course-footer"/>
          <p:cNvSpPr/>
          <p:nvPr/>
        </p:nvSpPr>
        <p:spPr>
          <a:xfrm>
            <a:off x="447675" y="6467475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41910" rIns="0" bIns="0" anchor="t" anchorCtr="0">
            <a:noAutofit/>
          </a:bodyPr>
          <a:lstStyle/>
          <a:p>
            <a:r>
              <a:rPr lang="zh-CN" altLang="en-US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视觉计算基础与应用</a:t>
            </a:r>
            <a:r>
              <a:rPr lang="zh-CN" altLang="zh-CN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大作业</a:t>
            </a:r>
          </a:p>
        </p:txBody>
      </p:sp>
      <p:pic>
        <p:nvPicPr>
          <p:cNvPr id="3" name="图片 5">
            <a:extLst>
              <a:ext uri="{FF2B5EF4-FFF2-40B4-BE49-F238E27FC236}">
                <a16:creationId id="{C460D9ED-E9CA-4652-B528-808B6BE632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59925" y="125413"/>
            <a:ext cx="2266950" cy="611187"/>
          </a:xfrm>
          <a:prstGeom prst="rect">
            <a:avLst/>
          </a:prstGeom>
          <a:ln>
            <a:noFill/>
          </a:ln>
        </p:spPr>
      </p:pic>
      <p:grpSp>
        <p:nvGrpSpPr>
          <p:cNvPr id="16" name="output-page-number"/>
          <p:cNvGrpSpPr/>
          <p:nvPr/>
        </p:nvGrpSpPr>
        <p:grpSpPr>
          <a:xfrm>
            <a:off x="11668125" y="6438900"/>
            <a:ext cx="504825" cy="381000"/>
            <a:chOff x="11668125" y="6438900"/>
            <a:chExt cx="504825" cy="381000"/>
          </a:xfrm>
        </p:grpSpPr>
        <p:sp>
          <p:nvSpPr>
            <p:cNvPr id="14" name="Rectangle 14"/>
            <p:cNvSpPr/>
            <p:nvPr/>
          </p:nvSpPr>
          <p:spPr>
            <a:xfrm>
              <a:off x="11668125" y="6438900"/>
              <a:ext cx="504825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/>
            <p:nvPr/>
          </p:nvSpPr>
          <p:spPr>
            <a:xfrm>
              <a:off x="11803380" y="6508718"/>
              <a:ext cx="2247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142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15</a:t>
              </a:r>
            </a:p>
          </p:txBody>
        </p:sp>
      </p:grpSp>
      <p:grpSp>
        <p:nvGrpSpPr>
          <p:cNvPr id="61" name="page-subtitle"/>
          <p:cNvGrpSpPr/>
          <p:nvPr/>
        </p:nvGrpSpPr>
        <p:grpSpPr>
          <a:xfrm>
            <a:off x="608457" y="822293"/>
            <a:ext cx="10906125" cy="410718"/>
            <a:chOff x="608457" y="822293"/>
            <a:chExt cx="10906125" cy="410718"/>
          </a:xfrm>
        </p:grpSpPr>
        <p:sp>
          <p:nvSpPr>
            <p:cNvPr id="60" name="TextBox 60"/>
            <p:cNvSpPr/>
            <p:nvPr/>
          </p:nvSpPr>
          <p:spPr>
            <a:xfrm>
              <a:off x="608457" y="822293"/>
              <a:ext cx="1090612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1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迁移训练曲线：从趋势理解结果</a:t>
              </a:r>
            </a:p>
          </p:txBody>
        </p:sp>
      </p:grpSp>
      <p:grpSp>
        <p:nvGrpSpPr>
          <p:cNvPr id="21" name="new-text-frame-13"/>
          <p:cNvGrpSpPr/>
          <p:nvPr/>
        </p:nvGrpSpPr>
        <p:grpSpPr>
          <a:xfrm>
            <a:off x="1081748" y="1466850"/>
            <a:ext cx="2503754" cy="367665"/>
            <a:chOff x="1081748" y="1466850"/>
            <a:chExt cx="2503754" cy="367665"/>
          </a:xfrm>
        </p:grpSpPr>
        <p:sp>
          <p:nvSpPr>
            <p:cNvPr id="20" name="TextBox 20"/>
            <p:cNvSpPr txBox="1"/>
            <p:nvPr/>
          </p:nvSpPr>
          <p:spPr>
            <a:xfrm>
              <a:off x="1081748" y="1466850"/>
              <a:ext cx="250375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D组最佳EMA：第20轮</a:t>
              </a:r>
            </a:p>
          </p:txBody>
        </p:sp>
      </p:grpSp>
      <p:pic>
        <p:nvPicPr>
          <p:cNvPr id="22" name="Imag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5" y="1952625"/>
            <a:ext cx="3429000" cy="2362200"/>
          </a:xfrm>
          <a:prstGeom prst="rect">
            <a:avLst/>
          </a:prstGeom>
        </p:spPr>
      </p:pic>
      <p:grpSp>
        <p:nvGrpSpPr>
          <p:cNvPr id="24" name="new-text-frame-15"/>
          <p:cNvGrpSpPr/>
          <p:nvPr/>
        </p:nvGrpSpPr>
        <p:grpSpPr>
          <a:xfrm>
            <a:off x="4844123" y="1466850"/>
            <a:ext cx="2503754" cy="367665"/>
            <a:chOff x="4844123" y="1466850"/>
            <a:chExt cx="2503754" cy="367665"/>
          </a:xfrm>
        </p:grpSpPr>
        <p:sp>
          <p:nvSpPr>
            <p:cNvPr id="23" name="TextBox 23"/>
            <p:cNvSpPr txBox="1"/>
            <p:nvPr/>
          </p:nvSpPr>
          <p:spPr>
            <a:xfrm>
              <a:off x="4844123" y="1466850"/>
              <a:ext cx="250375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E组最佳EMA：第91轮</a:t>
              </a:r>
            </a:p>
          </p:txBody>
        </p:sp>
      </p:grpSp>
      <p:pic>
        <p:nvPicPr>
          <p:cNvPr id="25" name="Image 2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500" y="1952625"/>
            <a:ext cx="3429000" cy="2362200"/>
          </a:xfrm>
          <a:prstGeom prst="rect">
            <a:avLst/>
          </a:prstGeom>
        </p:spPr>
      </p:pic>
      <p:grpSp>
        <p:nvGrpSpPr>
          <p:cNvPr id="27" name="new-text-frame-17"/>
          <p:cNvGrpSpPr/>
          <p:nvPr/>
        </p:nvGrpSpPr>
        <p:grpSpPr>
          <a:xfrm>
            <a:off x="8606498" y="1466850"/>
            <a:ext cx="2503754" cy="367665"/>
            <a:chOff x="8606498" y="1466850"/>
            <a:chExt cx="2503754" cy="367665"/>
          </a:xfrm>
        </p:grpSpPr>
        <p:sp>
          <p:nvSpPr>
            <p:cNvPr id="26" name="TextBox 26"/>
            <p:cNvSpPr txBox="1"/>
            <p:nvPr/>
          </p:nvSpPr>
          <p:spPr>
            <a:xfrm>
              <a:off x="8606498" y="1466850"/>
              <a:ext cx="2503754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F组最佳EMA：第98轮</a:t>
              </a:r>
            </a:p>
          </p:txBody>
        </p:sp>
      </p:grpSp>
      <p:pic>
        <p:nvPicPr>
          <p:cNvPr id="28" name="Image 2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43875" y="1952625"/>
            <a:ext cx="3429000" cy="2362200"/>
          </a:xfrm>
          <a:prstGeom prst="rect">
            <a:avLst/>
          </a:prstGeom>
        </p:spPr>
      </p:pic>
      <p:grpSp>
        <p:nvGrpSpPr>
          <p:cNvPr id="30" name="new-text-frame-19"/>
          <p:cNvGrpSpPr/>
          <p:nvPr/>
        </p:nvGrpSpPr>
        <p:grpSpPr>
          <a:xfrm>
            <a:off x="609219" y="4616482"/>
            <a:ext cx="10953750" cy="381381"/>
            <a:chOff x="609219" y="4616482"/>
            <a:chExt cx="10953750" cy="381381"/>
          </a:xfrm>
        </p:grpSpPr>
        <p:sp>
          <p:nvSpPr>
            <p:cNvPr id="29" name="TextBox 29"/>
            <p:cNvSpPr/>
            <p:nvPr/>
          </p:nvSpPr>
          <p:spPr>
            <a:xfrm>
              <a:off x="609219" y="4616482"/>
              <a:ext cx="109537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D：M3FD骨干跨域接入COCO，新适配层需重新学习，20轮末达到最佳。</a:t>
              </a:r>
            </a:p>
          </p:txBody>
        </p:sp>
      </p:grpSp>
      <p:grpSp>
        <p:nvGrpSpPr>
          <p:cNvPr id="32" name="new-text-frame-20"/>
          <p:cNvGrpSpPr/>
          <p:nvPr/>
        </p:nvGrpSpPr>
        <p:grpSpPr>
          <a:xfrm>
            <a:off x="609219" y="5064157"/>
            <a:ext cx="10953750" cy="381381"/>
            <a:chOff x="609219" y="5064157"/>
            <a:chExt cx="10953750" cy="381381"/>
          </a:xfrm>
        </p:grpSpPr>
        <p:sp>
          <p:nvSpPr>
            <p:cNvPr id="31" name="TextBox 31"/>
            <p:cNvSpPr/>
            <p:nvPr/>
          </p:nvSpPr>
          <p:spPr>
            <a:xfrm>
              <a:off x="609219" y="5064157"/>
              <a:ext cx="109537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E：COCO预训练模型适配M3FD；F：SATR骨干学习新的RF-DETR接口。</a:t>
              </a:r>
            </a:p>
          </p:txBody>
        </p:sp>
      </p:grpSp>
      <p:grpSp>
        <p:nvGrpSpPr>
          <p:cNvPr id="34" name="new-text-frame-21"/>
          <p:cNvGrpSpPr/>
          <p:nvPr/>
        </p:nvGrpSpPr>
        <p:grpSpPr>
          <a:xfrm>
            <a:off x="609219" y="5511832"/>
            <a:ext cx="10953750" cy="381381"/>
            <a:chOff x="609219" y="5511832"/>
            <a:chExt cx="10953750" cy="381381"/>
          </a:xfrm>
        </p:grpSpPr>
        <p:sp>
          <p:nvSpPr>
            <p:cNvPr id="33" name="TextBox 33"/>
            <p:cNvSpPr/>
            <p:nvPr/>
          </p:nvSpPr>
          <p:spPr>
            <a:xfrm>
              <a:off x="609219" y="5511832"/>
              <a:ext cx="1095375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b="1" dirty="0">
                  <a:solidFill>
                    <a:srgbClr val="C62D35"/>
                  </a:solidFill>
                  <a:latin typeface="Microsoft YaHei"/>
                  <a:ea typeface="Microsoft YaHei"/>
                  <a:cs typeface="Microsoft YaHei"/>
                </a:rPr>
                <a:t>E/F采用100轮、主LR 1e−4；第81轮开始衰减，最佳EMA在91/98轮。</a:t>
              </a:r>
            </a:p>
          </p:txBody>
        </p:sp>
      </p:grpSp>
      <p:grpSp>
        <p:nvGrpSpPr>
          <p:cNvPr id="36" name="new-text-frame-22"/>
          <p:cNvGrpSpPr/>
          <p:nvPr/>
        </p:nvGrpSpPr>
        <p:grpSpPr>
          <a:xfrm>
            <a:off x="612267" y="6083332"/>
            <a:ext cx="10953750" cy="264033"/>
            <a:chOff x="612267" y="6083332"/>
            <a:chExt cx="10953750" cy="264033"/>
          </a:xfrm>
        </p:grpSpPr>
        <p:sp>
          <p:nvSpPr>
            <p:cNvPr id="35" name="TextBox 35"/>
            <p:cNvSpPr/>
            <p:nvPr/>
          </p:nvSpPr>
          <p:spPr>
            <a:xfrm>
              <a:off x="612267" y="6083332"/>
              <a:ext cx="109537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350" dirty="0">
                  <a:solidFill>
                    <a:srgbClr val="56616E"/>
                  </a:solidFill>
                  <a:latin typeface="Microsoft YaHei"/>
                  <a:ea typeface="Microsoft YaHei"/>
                  <a:cs typeface="Microsoft YaHei"/>
                </a:rPr>
                <a:t>训练起点、目标域与优化预算共同影响曲线；E仍使用DINOv2-S，后期最佳并非SATR独有。</a:t>
              </a:r>
            </a:p>
          </p:txBody>
        </p:sp>
      </p:grpSp>
    </p:spTree>
    <p:extLst>
      <p:ext uri="{BB962C8B-B14F-4D97-AF65-F5344CB8AC3E}">
        <p14:creationId val="1731362323"/>
      </p:ext>
    </p:extLst>
  </p:cSld>
  <p:clrMapOvr>
    <a:masterClrMapping/>
  </p:clrMapOvr>
</p:sld>
</file>

<file path=ppt/slides/slide16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/>
          <p:cNvSpPr/>
          <p:nvPr/>
        </p:nvSpPr>
        <p:spPr>
          <a:xfrm>
            <a:off x="1047750" y="190500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64389" rIns="0" bIns="0" anchor="t" anchorCtr="0">
            <a:noAutofit/>
          </a:bodyPr>
          <a:lstStyle/>
          <a:p>
            <a:pPr algn="l"/>
            <a:r>
              <a:rPr lang="zh-CN" sz="3300" b="1" dirty="0">
                <a:solidFill>
                  <a:srgbClr val="206DC5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11" name="chapter-number"/>
          <p:cNvSpPr/>
          <p:nvPr/>
        </p:nvSpPr>
        <p:spPr>
          <a:xfrm>
            <a:off x="304800" y="276225"/>
            <a:ext cx="5429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89059" rIns="0" bIns="0" anchor="t" anchorCtr="0">
            <a:noAutofit/>
          </a:bodyPr>
          <a:lstStyle/>
          <a:p>
            <a:pPr algn="ctr"/>
            <a:r>
              <a:rPr lang="zh-CN" sz="218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2" name="course-footer"/>
          <p:cNvSpPr/>
          <p:nvPr/>
        </p:nvSpPr>
        <p:spPr>
          <a:xfrm>
            <a:off x="447675" y="6467475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41910" rIns="0" bIns="0" anchor="t" anchorCtr="0">
            <a:noAutofit/>
          </a:bodyPr>
          <a:lstStyle/>
          <a:p>
            <a:r>
              <a:rPr lang="zh-CN" altLang="en-US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视觉计算基础与应用</a:t>
            </a:r>
            <a:r>
              <a:rPr lang="zh-CN" altLang="zh-CN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大作业</a:t>
            </a:r>
          </a:p>
        </p:txBody>
      </p:sp>
      <p:pic>
        <p:nvPicPr>
          <p:cNvPr id="3" name="图片 5">
            <a:extLst>
              <a:ext uri="{FF2B5EF4-FFF2-40B4-BE49-F238E27FC236}">
                <a16:creationId id="{281EAEF8-8F67-4715-B02F-4C967A8F51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59925" y="125413"/>
            <a:ext cx="2266950" cy="611187"/>
          </a:xfrm>
          <a:prstGeom prst="rect">
            <a:avLst/>
          </a:prstGeom>
          <a:ln>
            <a:noFill/>
          </a:ln>
        </p:spPr>
      </p:pic>
      <p:grpSp>
        <p:nvGrpSpPr>
          <p:cNvPr id="16" name="output-page-number"/>
          <p:cNvGrpSpPr/>
          <p:nvPr/>
        </p:nvGrpSpPr>
        <p:grpSpPr>
          <a:xfrm>
            <a:off x="11668125" y="6438900"/>
            <a:ext cx="504825" cy="381000"/>
            <a:chOff x="11668125" y="6438900"/>
            <a:chExt cx="504825" cy="381000"/>
          </a:xfrm>
        </p:grpSpPr>
        <p:sp>
          <p:nvSpPr>
            <p:cNvPr id="14" name="Rectangle 14"/>
            <p:cNvSpPr/>
            <p:nvPr/>
          </p:nvSpPr>
          <p:spPr>
            <a:xfrm>
              <a:off x="11668125" y="6438900"/>
              <a:ext cx="504825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/>
            <p:nvPr/>
          </p:nvSpPr>
          <p:spPr>
            <a:xfrm>
              <a:off x="11803380" y="6508718"/>
              <a:ext cx="2247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142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16</a:t>
              </a:r>
            </a:p>
          </p:txBody>
        </p:sp>
      </p:grpSp>
      <p:grpSp>
        <p:nvGrpSpPr>
          <p:cNvPr id="25" name="actual-lrs"/>
          <p:cNvGrpSpPr/>
          <p:nvPr/>
        </p:nvGrpSpPr>
        <p:grpSpPr>
          <a:xfrm>
            <a:off x="606933" y="1355693"/>
            <a:ext cx="3942493" cy="2213420"/>
            <a:chOff x="606933" y="1355693"/>
            <a:chExt cx="3942493" cy="2213420"/>
          </a:xfrm>
        </p:grpSpPr>
        <p:sp>
          <p:nvSpPr>
            <p:cNvPr id="20" name="TextBox 20"/>
            <p:cNvSpPr/>
            <p:nvPr/>
          </p:nvSpPr>
          <p:spPr>
            <a:xfrm>
              <a:off x="606933" y="1355693"/>
              <a:ext cx="2286000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优化器更新情况</a:t>
              </a:r>
            </a:p>
          </p:txBody>
        </p:sp>
        <p:sp>
          <p:nvSpPr>
            <p:cNvPr id="21" name="TextBox 21"/>
            <p:cNvSpPr/>
            <p:nvPr/>
          </p:nvSpPr>
          <p:spPr>
            <a:xfrm>
              <a:off x="609219" y="1901857"/>
              <a:ext cx="394020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适配层初始 LR：D 1e−5 / F 1e−4</a:t>
              </a:r>
            </a:p>
          </p:txBody>
        </p:sp>
        <p:sp>
          <p:nvSpPr>
            <p:cNvPr id="22" name="TextBox 22"/>
            <p:cNvSpPr/>
            <p:nvPr/>
          </p:nvSpPr>
          <p:spPr>
            <a:xfrm>
              <a:off x="609219" y="2330482"/>
              <a:ext cx="3797713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SATR骨干LR：1.5e−5 / 1.5e−4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609219" y="2759107"/>
              <a:ext cx="38918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409 / 409 个编码器参数张量改变</a:t>
              </a:r>
            </a:p>
          </p:txBody>
        </p:sp>
        <p:sp>
          <p:nvSpPr>
            <p:cNvPr id="24" name="TextBox 24"/>
            <p:cNvSpPr/>
            <p:nvPr/>
          </p:nvSpPr>
          <p:spPr>
            <a:xfrm>
              <a:off x="609219" y="3187732"/>
              <a:ext cx="3169920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新骨干与适配层均参与训练</a:t>
              </a:r>
            </a:p>
          </p:txBody>
        </p:sp>
      </p:grpSp>
      <p:grpSp>
        <p:nvGrpSpPr>
          <p:cNvPr id="31" name="projection-change"/>
          <p:cNvGrpSpPr/>
          <p:nvPr/>
        </p:nvGrpSpPr>
        <p:grpSpPr>
          <a:xfrm>
            <a:off x="6293358" y="1355693"/>
            <a:ext cx="4270820" cy="2213420"/>
            <a:chOff x="6293358" y="1355693"/>
            <a:chExt cx="4270820" cy="2213420"/>
          </a:xfrm>
        </p:grpSpPr>
        <p:sp>
          <p:nvSpPr>
            <p:cNvPr id="26" name="TextBox 26"/>
            <p:cNvSpPr/>
            <p:nvPr/>
          </p:nvSpPr>
          <p:spPr>
            <a:xfrm>
              <a:off x="6293358" y="1355693"/>
              <a:ext cx="196291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4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接口结构变化</a:t>
              </a:r>
            </a:p>
          </p:txBody>
        </p:sp>
        <p:sp>
          <p:nvSpPr>
            <p:cNvPr id="27" name="TextBox 27"/>
            <p:cNvSpPr/>
            <p:nvPr/>
          </p:nvSpPr>
          <p:spPr>
            <a:xfrm>
              <a:off x="6295644" y="1901857"/>
              <a:ext cx="3436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预训练投影器：1.445M 参数</a:t>
              </a:r>
            </a:p>
          </p:txBody>
        </p:sp>
        <p:sp>
          <p:nvSpPr>
            <p:cNvPr id="28" name="TextBox 28"/>
            <p:cNvSpPr/>
            <p:nvPr/>
          </p:nvSpPr>
          <p:spPr>
            <a:xfrm>
              <a:off x="6295644" y="2330482"/>
              <a:ext cx="291141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新适配层：0.133M 参数</a:t>
              </a:r>
            </a:p>
          </p:txBody>
        </p:sp>
        <p:sp>
          <p:nvSpPr>
            <p:cNvPr id="29" name="TextBox 29"/>
            <p:cNvSpPr/>
            <p:nvPr/>
          </p:nvSpPr>
          <p:spPr>
            <a:xfrm>
              <a:off x="6295644" y="2759107"/>
              <a:ext cx="4268534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多层拼接 + LN → 插值 + GN + 加权和</a:t>
              </a:r>
            </a:p>
          </p:txBody>
        </p:sp>
        <p:sp>
          <p:nvSpPr>
            <p:cNvPr id="30" name="TextBox 30"/>
            <p:cNvSpPr/>
            <p:nvPr/>
          </p:nvSpPr>
          <p:spPr>
            <a:xfrm>
              <a:off x="6295644" y="3187732"/>
              <a:ext cx="393268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195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原 DINO 使用额外组件与逐层衰减</a:t>
              </a:r>
            </a:p>
          </p:txBody>
        </p:sp>
      </p:grpSp>
      <p:grpSp>
        <p:nvGrpSpPr>
          <p:cNvPr id="36" name="alignment-interpretation"/>
          <p:cNvGrpSpPr/>
          <p:nvPr/>
        </p:nvGrpSpPr>
        <p:grpSpPr>
          <a:xfrm>
            <a:off x="606171" y="4054507"/>
            <a:ext cx="10956036" cy="1902904"/>
            <a:chOff x="606171" y="4054507"/>
            <a:chExt cx="10956036" cy="1902904"/>
          </a:xfrm>
        </p:grpSpPr>
        <p:sp>
          <p:nvSpPr>
            <p:cNvPr id="32" name="TextBox 32"/>
            <p:cNvSpPr/>
            <p:nvPr/>
          </p:nvSpPr>
          <p:spPr>
            <a:xfrm>
              <a:off x="606171" y="4054507"/>
              <a:ext cx="591493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C62D35"/>
                  </a:solidFill>
                  <a:latin typeface="Microsoft YaHei"/>
                  <a:ea typeface="Microsoft YaHei"/>
                  <a:cs typeface="Microsoft YaHei"/>
                </a:rPr>
                <a:t>后续聚焦“新特征如何进入旧解码器”</a:t>
              </a:r>
            </a:p>
          </p:txBody>
        </p:sp>
        <p:sp>
          <p:nvSpPr>
            <p:cNvPr id="33" name="TextBox 33"/>
            <p:cNvSpPr/>
            <p:nvPr/>
          </p:nvSpPr>
          <p:spPr>
            <a:xfrm>
              <a:off x="608457" y="4632293"/>
              <a:ext cx="109537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适配层同步起步：D用1e−5 / 20轮，F用1e−4 / 100轮，均无warm-up</a:t>
              </a:r>
            </a:p>
          </p:txBody>
        </p:sp>
        <p:sp>
          <p:nvSpPr>
            <p:cNvPr id="34" name="TextBox 34"/>
            <p:cNvSpPr/>
            <p:nvPr/>
          </p:nvSpPr>
          <p:spPr>
            <a:xfrm>
              <a:off x="608457" y="5089493"/>
              <a:ext cx="109537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映射容量与统计变化：预训练拼接 + LN，改为新建插值 + GN + 加权和</a:t>
              </a:r>
            </a:p>
          </p:txBody>
        </p:sp>
        <p:sp>
          <p:nvSpPr>
            <p:cNvPr id="35" name="TextBox 35"/>
            <p:cNvSpPr/>
            <p:nvPr/>
          </p:nvSpPr>
          <p:spPr>
            <a:xfrm>
              <a:off x="608457" y="5546693"/>
              <a:ext cx="109537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210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优化方向：独立适配学习率、分阶段解冻、多尺度特征蒸馏与统计对齐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613029" y="6181725"/>
            <a:ext cx="560161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来源：adapter_alignment_audit.json、优化器分组、权重变化与接口源码。</a:t>
            </a:r>
          </a:p>
        </p:txBody>
      </p:sp>
      <p:grpSp>
        <p:nvGrpSpPr>
          <p:cNvPr id="50" name="page-subtitle"/>
          <p:cNvGrpSpPr/>
          <p:nvPr/>
        </p:nvGrpSpPr>
        <p:grpSpPr>
          <a:xfrm>
            <a:off x="608457" y="822325"/>
            <a:ext cx="2848356" cy="410718"/>
            <a:chOff x="608457" y="822325"/>
            <a:chExt cx="2848356" cy="410718"/>
          </a:xfrm>
        </p:grpSpPr>
        <p:sp>
          <p:nvSpPr>
            <p:cNvPr id="49" name="TextBox 49"/>
            <p:cNvSpPr txBox="1"/>
            <p:nvPr/>
          </p:nvSpPr>
          <p:spPr>
            <a:xfrm>
              <a:off x="608457" y="822325"/>
              <a:ext cx="284835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学习率与特征对齐观察</a:t>
              </a:r>
            </a:p>
          </p:txBody>
        </p:sp>
      </p:grpSp>
    </p:spTree>
    <p:extLst>
      <p:ext uri="{BB962C8B-B14F-4D97-AF65-F5344CB8AC3E}">
        <p14:creationId val="2635017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question-header"/>
          <p:cNvSpPr/>
          <p:nvPr/>
        </p:nvSpPr>
        <p:spPr>
          <a:xfrm>
            <a:off x="1047750" y="190500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64389" rIns="0" bIns="0" anchor="t" anchorCtr="0">
            <a:noAutofit/>
          </a:bodyPr>
          <a:lstStyle/>
          <a:p>
            <a:pPr algn="l"/>
            <a:r>
              <a:rPr lang="zh-CN" sz="3300" b="1" dirty="0">
                <a:solidFill>
                  <a:srgbClr val="206DC5"/>
                </a:solidFill>
                <a:latin typeface="Microsoft YaHei"/>
                <a:ea typeface="Microsoft YaHei"/>
                <a:cs typeface="Microsoft YaHei"/>
              </a:rPr>
              <a:t>结果分析</a:t>
            </a:r>
          </a:p>
        </p:txBody>
      </p:sp>
      <p:sp>
        <p:nvSpPr>
          <p:cNvPr id="51" name="course-footer"/>
          <p:cNvSpPr/>
          <p:nvPr/>
        </p:nvSpPr>
        <p:spPr>
          <a:xfrm>
            <a:off x="447675" y="6467475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41910" rIns="0" bIns="0" anchor="t" anchorCtr="0">
            <a:noAutofit/>
          </a:bodyPr>
          <a:lstStyle/>
          <a:p>
            <a:r>
              <a:rPr lang="zh-CN" altLang="en-US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视觉计算基础与应用</a:t>
            </a:r>
            <a:r>
              <a:rPr lang="zh-CN" altLang="zh-CN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大作业</a:t>
            </a:r>
          </a:p>
        </p:txBody>
      </p:sp>
      <p:sp>
        <p:nvSpPr>
          <p:cNvPr id="52" name="page-number"/>
          <p:cNvSpPr/>
          <p:nvPr/>
        </p:nvSpPr>
        <p:spPr>
          <a:xfrm>
            <a:off x="11696700" y="6457950"/>
            <a:ext cx="400050" cy="257175"/>
          </a:xfrm>
          <a:prstGeom prst="rect">
            <a:avLst/>
          </a:prstGeom>
          <a:noFill/>
          <a:ln>
            <a:noFill/>
          </a:ln>
        </p:spPr>
        <p:txBody>
          <a:bodyPr wrap="none" lIns="38100" tIns="-34766" rIns="0" bIns="0" anchor="t" anchorCtr="0">
            <a:noAutofit/>
          </a:bodyPr>
          <a:lstStyle/>
          <a:p>
            <a:pPr algn="ctr"/>
            <a:r>
              <a:rPr lang="zh-CN" sz="2180" b="1" dirty="0">
                <a:solidFill>
                  <a:srgbClr val="206DC5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pic>
        <p:nvPicPr>
          <p:cNvPr id="3" name="图片 5">
            <a:extLst>
              <a:ext uri="{FF2B5EF4-FFF2-40B4-BE49-F238E27FC236}">
                <a16:creationId xmlns:a16="http://schemas.microsoft.com/office/drawing/2014/main" id="{996D3F22-89F1-4D5A-8E17-612367911F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59925" y="125413"/>
            <a:ext cx="2266950" cy="611187"/>
          </a:xfrm>
          <a:prstGeom prst="rect">
            <a:avLst/>
          </a:prstGeom>
          <a:ln>
            <a:noFill/>
          </a:ln>
        </p:spPr>
      </p:pic>
      <p:grpSp>
        <p:nvGrpSpPr>
          <p:cNvPr id="9" name="output-page-number"/>
          <p:cNvGrpSpPr/>
          <p:nvPr/>
        </p:nvGrpSpPr>
        <p:grpSpPr>
          <a:xfrm>
            <a:off x="11668125" y="6438900"/>
            <a:ext cx="504825" cy="381000"/>
            <a:chOff x="11668125" y="6438900"/>
            <a:chExt cx="504825" cy="381000"/>
          </a:xfrm>
        </p:grpSpPr>
        <p:sp>
          <p:nvSpPr>
            <p:cNvPr id="7" name="Rectangle 7"/>
            <p:cNvSpPr/>
            <p:nvPr/>
          </p:nvSpPr>
          <p:spPr>
            <a:xfrm>
              <a:off x="11668125" y="6438900"/>
              <a:ext cx="504825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8" name="TextBox 8"/>
            <p:cNvSpPr/>
            <p:nvPr/>
          </p:nvSpPr>
          <p:spPr>
            <a:xfrm>
              <a:off x="11803380" y="6508718"/>
              <a:ext cx="2247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142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17</a:t>
              </a:r>
            </a:p>
          </p:txBody>
        </p:sp>
      </p:grpSp>
      <p:grpSp>
        <p:nvGrpSpPr>
          <p:cNvPr id="27" name="detection-GT"/>
          <p:cNvGrpSpPr/>
          <p:nvPr/>
        </p:nvGrpSpPr>
        <p:grpSpPr>
          <a:xfrm>
            <a:off x="1047750" y="1711325"/>
            <a:ext cx="3286125" cy="3520694"/>
            <a:chOff x="1047750" y="1711325"/>
            <a:chExt cx="3286125" cy="3520694"/>
          </a:xfrm>
        </p:grpSpPr>
        <p:sp>
          <p:nvSpPr>
            <p:cNvPr id="13" name="TextBox 13"/>
            <p:cNvSpPr txBox="1"/>
            <p:nvPr/>
          </p:nvSpPr>
          <p:spPr>
            <a:xfrm>
              <a:off x="2408593" y="1711325"/>
              <a:ext cx="56443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02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标注</a:t>
              </a:r>
            </a:p>
          </p:txBody>
        </p:sp>
        <p:pic>
          <p:nvPicPr>
            <p:cNvPr id="14" name="Image 1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47750" y="2266950"/>
              <a:ext cx="3286125" cy="2464594"/>
            </a:xfrm>
            <a:prstGeom prst="rect">
              <a:avLst/>
            </a:prstGeom>
          </p:spPr>
        </p:pic>
        <p:sp>
          <p:nvSpPr>
            <p:cNvPr id="15" name="Rectangle 15"/>
            <p:cNvSpPr/>
            <p:nvPr/>
          </p:nvSpPr>
          <p:spPr>
            <a:xfrm>
              <a:off x="1050959" y="3412601"/>
              <a:ext cx="288820" cy="375465"/>
            </a:xfrm>
            <a:prstGeom prst="rect">
              <a:avLst/>
            </a:prstGeom>
            <a:noFill/>
            <a:ln w="13335">
              <a:solidFill>
                <a:srgbClr val="21B15E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1265969" y="3399765"/>
              <a:ext cx="683540" cy="426811"/>
            </a:xfrm>
            <a:prstGeom prst="rect">
              <a:avLst/>
            </a:prstGeom>
            <a:noFill/>
            <a:ln w="13335">
              <a:solidFill>
                <a:srgbClr val="21B15E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1050959" y="3322746"/>
              <a:ext cx="343374" cy="160455"/>
            </a:xfrm>
            <a:prstGeom prst="rect">
              <a:avLst/>
            </a:prstGeom>
            <a:noFill/>
            <a:ln w="13335">
              <a:solidFill>
                <a:srgbClr val="21B15E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1914209" y="3492829"/>
              <a:ext cx="259938" cy="247101"/>
            </a:xfrm>
            <a:prstGeom prst="rect">
              <a:avLst/>
            </a:prstGeom>
            <a:noFill/>
            <a:ln w="13335">
              <a:solidFill>
                <a:srgbClr val="21B15E"/>
              </a:solidFill>
            </a:ln>
          </p:spPr>
        </p:sp>
        <p:sp>
          <p:nvSpPr>
            <p:cNvPr id="19" name="Rectangle 19"/>
            <p:cNvSpPr/>
            <p:nvPr/>
          </p:nvSpPr>
          <p:spPr>
            <a:xfrm>
              <a:off x="2186983" y="3524920"/>
              <a:ext cx="410766" cy="150828"/>
            </a:xfrm>
            <a:prstGeom prst="rect">
              <a:avLst/>
            </a:prstGeom>
            <a:noFill/>
            <a:ln w="13335">
              <a:solidFill>
                <a:srgbClr val="21B15E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591330" y="3483201"/>
              <a:ext cx="282401" cy="266356"/>
            </a:xfrm>
            <a:prstGeom prst="rect">
              <a:avLst/>
            </a:prstGeom>
            <a:noFill/>
            <a:ln w="13335">
              <a:solidFill>
                <a:srgbClr val="21B15E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841641" y="3518502"/>
              <a:ext cx="179710" cy="198965"/>
            </a:xfrm>
            <a:prstGeom prst="rect">
              <a:avLst/>
            </a:prstGeom>
            <a:noFill/>
            <a:ln w="13335">
              <a:solidFill>
                <a:srgbClr val="21B15E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3047023" y="3467156"/>
              <a:ext cx="574430" cy="391511"/>
            </a:xfrm>
            <a:prstGeom prst="rect">
              <a:avLst/>
            </a:prstGeom>
            <a:noFill/>
            <a:ln w="13335">
              <a:solidFill>
                <a:srgbClr val="21B15E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566899" y="3473574"/>
              <a:ext cx="346583" cy="295238"/>
            </a:xfrm>
            <a:prstGeom prst="rect">
              <a:avLst/>
            </a:prstGeom>
            <a:noFill/>
            <a:ln w="13335">
              <a:solidFill>
                <a:srgbClr val="21B15E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797954" y="3386928"/>
              <a:ext cx="535921" cy="535921"/>
            </a:xfrm>
            <a:prstGeom prst="rect">
              <a:avLst/>
            </a:prstGeom>
            <a:noFill/>
            <a:ln w="13335">
              <a:solidFill>
                <a:srgbClr val="21B15E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1962345" y="3463947"/>
              <a:ext cx="41718" cy="38509"/>
            </a:xfrm>
            <a:prstGeom prst="rect">
              <a:avLst/>
            </a:prstGeom>
            <a:noFill/>
            <a:ln w="13335">
              <a:solidFill>
                <a:srgbClr val="21B15E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148573" y="4879975"/>
              <a:ext cx="108447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56616E"/>
                  </a:solidFill>
                  <a:latin typeface="Microsoft YaHei"/>
                  <a:ea typeface="Microsoft YaHei"/>
                  <a:cs typeface="Microsoft YaHei"/>
                </a:rPr>
                <a:t>11 个标注</a:t>
              </a:r>
            </a:p>
          </p:txBody>
        </p:sp>
      </p:grpSp>
      <p:grpSp>
        <p:nvGrpSpPr>
          <p:cNvPr id="41" name="detection-E"/>
          <p:cNvGrpSpPr/>
          <p:nvPr/>
        </p:nvGrpSpPr>
        <p:grpSpPr>
          <a:xfrm>
            <a:off x="4448175" y="1711325"/>
            <a:ext cx="3286125" cy="3520694"/>
            <a:chOff x="4448175" y="1711325"/>
            <a:chExt cx="3286125" cy="3520694"/>
          </a:xfrm>
        </p:grpSpPr>
        <p:sp>
          <p:nvSpPr>
            <p:cNvPr id="28" name="TextBox 28"/>
            <p:cNvSpPr txBox="1"/>
            <p:nvPr/>
          </p:nvSpPr>
          <p:spPr>
            <a:xfrm>
              <a:off x="4676841" y="1711325"/>
              <a:ext cx="2828792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02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RF-DETR + DINOv2-S</a:t>
              </a:r>
            </a:p>
          </p:txBody>
        </p:sp>
        <p:pic>
          <p:nvPicPr>
            <p:cNvPr id="29" name="Image 29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48175" y="2266950"/>
              <a:ext cx="3286125" cy="2464594"/>
            </a:xfrm>
            <a:prstGeom prst="rect">
              <a:avLst/>
            </a:prstGeom>
          </p:spPr>
        </p:pic>
        <p:sp>
          <p:nvSpPr>
            <p:cNvPr id="30" name="Rectangle 30"/>
            <p:cNvSpPr/>
            <p:nvPr/>
          </p:nvSpPr>
          <p:spPr>
            <a:xfrm>
              <a:off x="7201069" y="3389843"/>
              <a:ext cx="532175" cy="520258"/>
            </a:xfrm>
            <a:prstGeom prst="rect">
              <a:avLst/>
            </a:prstGeom>
            <a:noFill/>
            <a:ln w="13335">
              <a:solidFill>
                <a:srgbClr val="206DC5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6453124" y="3453782"/>
              <a:ext cx="575901" cy="417464"/>
            </a:xfrm>
            <a:prstGeom prst="rect">
              <a:avLst/>
            </a:prstGeom>
            <a:noFill/>
            <a:ln w="13335">
              <a:solidFill>
                <a:srgbClr val="206DC5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5989602" y="3474240"/>
              <a:ext cx="273301" cy="281725"/>
            </a:xfrm>
            <a:prstGeom prst="rect">
              <a:avLst/>
            </a:prstGeom>
            <a:noFill/>
            <a:ln w="13335">
              <a:solidFill>
                <a:srgbClr val="206DC5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5578748" y="3519794"/>
              <a:ext cx="403448" cy="153680"/>
            </a:xfrm>
            <a:prstGeom prst="rect">
              <a:avLst/>
            </a:prstGeom>
            <a:noFill/>
            <a:ln w="13335">
              <a:solidFill>
                <a:srgbClr val="206DC5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4479754" y="3398883"/>
              <a:ext cx="853049" cy="450402"/>
            </a:xfrm>
            <a:prstGeom prst="rect">
              <a:avLst/>
            </a:prstGeom>
            <a:noFill/>
            <a:ln w="13335">
              <a:solidFill>
                <a:srgbClr val="206DC5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990868" y="3465698"/>
              <a:ext cx="332822" cy="300412"/>
            </a:xfrm>
            <a:prstGeom prst="rect">
              <a:avLst/>
            </a:prstGeom>
            <a:noFill/>
            <a:ln w="13335">
              <a:solidFill>
                <a:srgbClr val="206DC5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5280392" y="3500241"/>
              <a:ext cx="289679" cy="248889"/>
            </a:xfrm>
            <a:prstGeom prst="rect">
              <a:avLst/>
            </a:prstGeom>
            <a:noFill/>
            <a:ln w="13335">
              <a:solidFill>
                <a:srgbClr val="206DC5"/>
              </a:solidFill>
            </a:ln>
          </p:spPr>
        </p:sp>
        <p:sp>
          <p:nvSpPr>
            <p:cNvPr id="37" name="Rectangle 37"/>
            <p:cNvSpPr/>
            <p:nvPr/>
          </p:nvSpPr>
          <p:spPr>
            <a:xfrm>
              <a:off x="6252705" y="3518183"/>
              <a:ext cx="168483" cy="194037"/>
            </a:xfrm>
            <a:prstGeom prst="rect">
              <a:avLst/>
            </a:prstGeom>
            <a:noFill/>
            <a:ln w="13335">
              <a:solidFill>
                <a:srgbClr val="206DC5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4449617" y="3318089"/>
              <a:ext cx="295456" cy="218774"/>
            </a:xfrm>
            <a:prstGeom prst="rect">
              <a:avLst/>
            </a:prstGeom>
            <a:noFill/>
            <a:ln w="13335">
              <a:solidFill>
                <a:srgbClr val="206DC5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5115527" y="3391915"/>
              <a:ext cx="230213" cy="115529"/>
            </a:xfrm>
            <a:prstGeom prst="rect">
              <a:avLst/>
            </a:prstGeom>
            <a:noFill/>
            <a:ln w="13335">
              <a:solidFill>
                <a:srgbClr val="206DC5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427840" y="4879975"/>
              <a:ext cx="13267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56616E"/>
                  </a:solidFill>
                  <a:latin typeface="Microsoft YaHei"/>
                  <a:ea typeface="Microsoft YaHei"/>
                  <a:cs typeface="Microsoft YaHei"/>
                </a:rPr>
                <a:t>10 个显示框</a:t>
              </a:r>
            </a:p>
          </p:txBody>
        </p:sp>
      </p:grpSp>
      <p:grpSp>
        <p:nvGrpSpPr>
          <p:cNvPr id="59" name="detection-F"/>
          <p:cNvGrpSpPr/>
          <p:nvPr/>
        </p:nvGrpSpPr>
        <p:grpSpPr>
          <a:xfrm>
            <a:off x="7846719" y="1711357"/>
            <a:ext cx="3288006" cy="3520662"/>
            <a:chOff x="7846719" y="1711357"/>
            <a:chExt cx="3288006" cy="3520662"/>
          </a:xfrm>
        </p:grpSpPr>
        <p:sp>
          <p:nvSpPr>
            <p:cNvPr id="42" name="TextBox 42"/>
            <p:cNvSpPr/>
            <p:nvPr/>
          </p:nvSpPr>
          <p:spPr>
            <a:xfrm>
              <a:off x="7905750" y="1711357"/>
              <a:ext cx="3190875" cy="409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19050" bIns="0" anchor="t" anchorCtr="0">
              <a:noAutofit/>
            </a:bodyPr>
            <a:lstStyle/>
            <a:p>
              <a:pPr algn="ctr"/>
              <a:r>
                <a:rPr lang="zh-CN" sz="2020" b="1" dirty="0">
                  <a:solidFill>
                    <a:srgbClr val="C62D35"/>
                  </a:solidFill>
                  <a:latin typeface="Microsoft YaHei"/>
                  <a:ea typeface="Microsoft YaHei"/>
                  <a:cs typeface="Microsoft YaHei"/>
                </a:rPr>
                <a:t>RF-DETR + SATR骨干</a:t>
              </a:r>
            </a:p>
          </p:txBody>
        </p:sp>
        <p:pic>
          <p:nvPicPr>
            <p:cNvPr id="43" name="Image 4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48600" y="2266950"/>
              <a:ext cx="3286125" cy="2464594"/>
            </a:xfrm>
            <a:prstGeom prst="rect">
              <a:avLst/>
            </a:prstGeom>
          </p:spPr>
        </p:pic>
        <p:sp>
          <p:nvSpPr>
            <p:cNvPr id="45" name="Rectangle 45"/>
            <p:cNvSpPr/>
            <p:nvPr/>
          </p:nvSpPr>
          <p:spPr>
            <a:xfrm>
              <a:off x="10646595" y="3384053"/>
              <a:ext cx="485182" cy="499354"/>
            </a:xfrm>
            <a:prstGeom prst="rect">
              <a:avLst/>
            </a:prstGeom>
            <a:noFill/>
            <a:ln w="13335">
              <a:solidFill>
                <a:srgbClr val="C62D35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9811252" y="3457969"/>
              <a:ext cx="620259" cy="433795"/>
            </a:xfrm>
            <a:prstGeom prst="rect">
              <a:avLst/>
            </a:prstGeom>
            <a:noFill/>
            <a:ln w="13335">
              <a:solidFill>
                <a:srgbClr val="C62D35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8978344" y="3520969"/>
              <a:ext cx="428172" cy="154293"/>
            </a:xfrm>
            <a:prstGeom prst="rect">
              <a:avLst/>
            </a:prstGeom>
            <a:noFill/>
            <a:ln w="13335">
              <a:solidFill>
                <a:srgbClr val="C62D35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9384359" y="3487359"/>
              <a:ext cx="313733" cy="271952"/>
            </a:xfrm>
            <a:prstGeom prst="rect">
              <a:avLst/>
            </a:prstGeom>
            <a:noFill/>
            <a:ln w="13335">
              <a:solidFill>
                <a:srgbClr val="C62D35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375587" y="3479359"/>
              <a:ext cx="332783" cy="286846"/>
            </a:xfrm>
            <a:prstGeom prst="rect">
              <a:avLst/>
            </a:prstGeom>
            <a:noFill/>
            <a:ln w="13335">
              <a:solidFill>
                <a:srgbClr val="C62D35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8674176" y="3507064"/>
              <a:ext cx="279698" cy="236709"/>
            </a:xfrm>
            <a:prstGeom prst="rect">
              <a:avLst/>
            </a:prstGeom>
            <a:noFill/>
            <a:ln w="13335">
              <a:solidFill>
                <a:srgbClr val="C62D35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9685252" y="3538291"/>
              <a:ext cx="128105" cy="175106"/>
            </a:xfrm>
            <a:prstGeom prst="rect">
              <a:avLst/>
            </a:prstGeom>
            <a:noFill/>
            <a:ln w="13335">
              <a:solidFill>
                <a:srgbClr val="C62D35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7846719" y="3322660"/>
              <a:ext cx="275815" cy="506237"/>
            </a:xfrm>
            <a:prstGeom prst="rect">
              <a:avLst/>
            </a:prstGeom>
            <a:noFill/>
            <a:ln w="13335">
              <a:solidFill>
                <a:srgbClr val="C62D35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506870" y="3495436"/>
              <a:ext cx="393940" cy="269442"/>
            </a:xfrm>
            <a:prstGeom prst="rect">
              <a:avLst/>
            </a:prstGeom>
            <a:noFill/>
            <a:ln w="13335">
              <a:solidFill>
                <a:srgbClr val="C62D35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8072759" y="3378195"/>
              <a:ext cx="338956" cy="464238"/>
            </a:xfrm>
            <a:prstGeom prst="rect">
              <a:avLst/>
            </a:prstGeom>
            <a:noFill/>
            <a:ln w="13335">
              <a:solidFill>
                <a:srgbClr val="C62D35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7850878" y="3367652"/>
              <a:ext cx="64535" cy="478776"/>
            </a:xfrm>
            <a:prstGeom prst="rect">
              <a:avLst/>
            </a:prstGeom>
            <a:noFill/>
            <a:ln w="13335">
              <a:solidFill>
                <a:srgbClr val="C62D35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8828265" y="4879975"/>
              <a:ext cx="132679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56616E"/>
                  </a:solidFill>
                  <a:latin typeface="Microsoft YaHei"/>
                  <a:ea typeface="Microsoft YaHei"/>
                  <a:cs typeface="Microsoft YaHei"/>
                </a:rPr>
                <a:t>11 个显示框</a:t>
              </a:r>
            </a:p>
          </p:txBody>
        </p:sp>
      </p:grpSp>
      <p:grpSp>
        <p:nvGrpSpPr>
          <p:cNvPr id="62" name="display-protocol"/>
          <p:cNvGrpSpPr/>
          <p:nvPr/>
        </p:nvGrpSpPr>
        <p:grpSpPr>
          <a:xfrm>
            <a:off x="1038606" y="5194300"/>
            <a:ext cx="6653975" cy="594519"/>
            <a:chOff x="1038606" y="5194300"/>
            <a:chExt cx="6653975" cy="594519"/>
          </a:xfrm>
        </p:grpSpPr>
        <p:sp>
          <p:nvSpPr>
            <p:cNvPr id="60" name="TextBox 60"/>
            <p:cNvSpPr txBox="1"/>
            <p:nvPr/>
          </p:nvSpPr>
          <p:spPr>
            <a:xfrm>
              <a:off x="1038606" y="5194300"/>
              <a:ext cx="45117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图像 ID=1；两组预测显示阈值均为 0.3。</a:t>
              </a:r>
            </a:p>
          </p:txBody>
        </p:sp>
        <p:sp>
          <p:nvSpPr>
            <p:cNvPr id="61" name="TextBox 61"/>
            <p:cNvSpPr/>
            <p:nvPr/>
          </p:nvSpPr>
          <p:spPr>
            <a:xfrm>
              <a:off x="1038987" y="5451443"/>
              <a:ext cx="6653594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l"/>
              <a:r>
                <a:rPr lang="zh-CN" sz="1720" b="1" dirty="0">
                  <a:solidFill>
                    <a:srgbClr val="C62D35"/>
                  </a:solidFill>
                  <a:latin typeface="Microsoft YaHei"/>
                  <a:ea typeface="Microsoft YaHei"/>
                  <a:cs typeface="Microsoft YaHei"/>
                </a:rPr>
                <a:t>同图检查车辆重叠区和小目标的框位置与响应。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613029" y="6181725"/>
            <a:ext cx="3493008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来源：归档 M3FD 图像、标注与 E/F 预测结果。</a:t>
            </a:r>
          </a:p>
        </p:txBody>
      </p:sp>
      <p:sp>
        <p:nvSpPr>
          <p:cNvPr id="64" name="Rectangle 8"/>
          <p:cNvSpPr/>
          <p:nvPr/>
        </p:nvSpPr>
        <p:spPr>
          <a:xfrm>
            <a:off x="571500" y="819150"/>
            <a:ext cx="11001375" cy="59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grpSp>
        <p:nvGrpSpPr>
          <p:cNvPr id="65" name="chapter-circle-and-rule"/>
          <p:cNvGrpSpPr/>
          <p:nvPr/>
        </p:nvGrpSpPr>
        <p:grpSpPr>
          <a:xfrm>
            <a:off x="303848" y="241935"/>
            <a:ext cx="11576494" cy="548450"/>
            <a:chOff x="303848" y="241935"/>
            <a:chExt cx="11576494" cy="548450"/>
          </a:xfrm>
        </p:grpSpPr>
        <p:sp>
          <p:nvSpPr>
            <p:cNvPr id="66" name="Ellipse 15"/>
            <p:cNvSpPr/>
            <p:nvPr/>
          </p:nvSpPr>
          <p:spPr>
            <a:xfrm>
              <a:off x="303848" y="241935"/>
              <a:ext cx="544830" cy="544830"/>
            </a:xfrm>
            <a:prstGeom prst="ellipse">
              <a:avLst/>
            </a:prstGeom>
            <a:solidFill>
              <a:srgbClr val="206DC5"/>
            </a:solidFill>
            <a:ln w="41243">
              <a:solidFill>
                <a:srgbClr val="C7D5ED"/>
              </a:solidFill>
            </a:ln>
          </p:spPr>
        </p:sp>
        <p:sp>
          <p:nvSpPr>
            <p:cNvPr id="67" name="Line 16"/>
            <p:cNvSpPr/>
            <p:nvPr/>
          </p:nvSpPr>
          <p:spPr>
            <a:xfrm>
              <a:off x="824960" y="780860"/>
              <a:ext cx="11055382" cy="9525"/>
            </a:xfrm>
            <a:custGeom>
              <a:avLst/>
              <a:gdLst/>
              <a:ahLst/>
              <a:cxnLst/>
              <a:rect l="l" t="t" r="r" b="b"/>
              <a:pathLst>
                <a:path w="11055382" h="9525">
                  <a:moveTo>
                    <a:pt x="0" y="0"/>
                  </a:moveTo>
                  <a:lnTo>
                    <a:pt x="11055382" y="0"/>
                  </a:lnTo>
                </a:path>
              </a:pathLst>
            </a:custGeom>
            <a:noFill/>
            <a:ln w="9525">
              <a:solidFill>
                <a:srgbClr val="206DC5"/>
              </a:solidFill>
            </a:ln>
          </p:spPr>
        </p:sp>
        <p:sp>
          <p:nvSpPr>
            <p:cNvPr id="68" name="TextBox 17"/>
            <p:cNvSpPr txBox="1"/>
            <p:nvPr/>
          </p:nvSpPr>
          <p:spPr>
            <a:xfrm>
              <a:off x="395734" y="333375"/>
              <a:ext cx="361058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8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</p:grpSp>
      <p:grpSp>
        <p:nvGrpSpPr>
          <p:cNvPr id="69" name="page-subtitle"/>
          <p:cNvGrpSpPr/>
          <p:nvPr/>
        </p:nvGrpSpPr>
        <p:grpSpPr>
          <a:xfrm>
            <a:off x="608457" y="822325"/>
            <a:ext cx="1717548" cy="410718"/>
            <a:chOff x="608457" y="822325"/>
            <a:chExt cx="1717548" cy="410718"/>
          </a:xfrm>
        </p:grpSpPr>
        <p:sp>
          <p:nvSpPr>
            <p:cNvPr id="70" name="TextBox 19"/>
            <p:cNvSpPr txBox="1"/>
            <p:nvPr/>
          </p:nvSpPr>
          <p:spPr>
            <a:xfrm>
              <a:off x="608457" y="822325"/>
              <a:ext cx="171754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同图预测回放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13628309"/>
      </p:ext>
    </p:extLst>
  </p:cSld>
  <p:clrMapOvr>
    <a:masterClrMapping/>
  </p:clrMapOvr>
</p:sld>
</file>

<file path=ppt/slides/slide18.xml><?xml version="1.0" encoding="utf-8"?>
<p:sld xmlns:a="http://schemas.openxmlformats.org/drawingml/2006/main" xmlns:a16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-title"/>
          <p:cNvSpPr/>
          <p:nvPr/>
        </p:nvSpPr>
        <p:spPr>
          <a:xfrm>
            <a:off x="1047750" y="190500"/>
            <a:ext cx="8096250" cy="609600"/>
          </a:xfrm>
          <a:prstGeom prst="rect">
            <a:avLst/>
          </a:prstGeom>
          <a:noFill/>
          <a:ln>
            <a:noFill/>
          </a:ln>
        </p:spPr>
        <p:txBody>
          <a:bodyPr wrap="none" lIns="0" tIns="64389" rIns="0" bIns="0" anchor="t" anchorCtr="0">
            <a:noAutofit/>
          </a:bodyPr>
          <a:lstStyle/>
          <a:p>
            <a:pPr algn="l"/>
            <a:r>
              <a:rPr lang="zh-CN" sz="3300" b="1" dirty="0">
                <a:solidFill>
                  <a:srgbClr val="206DC5"/>
                </a:solidFill>
                <a:latin typeface="Microsoft YaHei"/>
                <a:ea typeface="Microsoft YaHei"/>
                <a:cs typeface="Microsoft YaHei"/>
              </a:rPr>
              <a:t>总结</a:t>
            </a:r>
          </a:p>
        </p:txBody>
      </p:sp>
      <p:sp>
        <p:nvSpPr>
          <p:cNvPr id="11" name="chapter-number"/>
          <p:cNvSpPr/>
          <p:nvPr/>
        </p:nvSpPr>
        <p:spPr>
          <a:xfrm>
            <a:off x="304800" y="276225"/>
            <a:ext cx="542925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89059" rIns="0" bIns="0" anchor="t" anchorCtr="0">
            <a:noAutofit/>
          </a:bodyPr>
          <a:lstStyle/>
          <a:p>
            <a:pPr algn="ctr"/>
            <a:r>
              <a:rPr lang="zh-CN" sz="218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2" name="course-footer"/>
          <p:cNvSpPr/>
          <p:nvPr/>
        </p:nvSpPr>
        <p:spPr>
          <a:xfrm>
            <a:off x="447675" y="6467475"/>
            <a:ext cx="342900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41910" rIns="0" bIns="0" anchor="t" anchorCtr="0">
            <a:noAutofit/>
          </a:bodyPr>
          <a:lstStyle/>
          <a:p>
            <a:r>
              <a:rPr lang="zh-CN" altLang="en-US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视觉计算基础与应用</a:t>
            </a:r>
            <a:r>
              <a:rPr lang="zh-CN" altLang="zh-CN" sz="1200" b="1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大作业</a:t>
            </a:r>
          </a:p>
        </p:txBody>
      </p:sp>
      <p:pic>
        <p:nvPicPr>
          <p:cNvPr id="3" name="图片 5">
            <a:extLst>
              <a:ext uri="{FF2B5EF4-FFF2-40B4-BE49-F238E27FC236}">
                <a16:creationId id="{F87A068A-77D3-46A9-BC54-05DB6263F8D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59925" y="125413"/>
            <a:ext cx="2266950" cy="611187"/>
          </a:xfrm>
          <a:prstGeom prst="rect">
            <a:avLst/>
          </a:prstGeom>
          <a:ln>
            <a:noFill/>
          </a:ln>
        </p:spPr>
      </p:pic>
      <p:grpSp>
        <p:nvGrpSpPr>
          <p:cNvPr id="16" name="output-page-number"/>
          <p:cNvGrpSpPr/>
          <p:nvPr/>
        </p:nvGrpSpPr>
        <p:grpSpPr>
          <a:xfrm>
            <a:off x="11668125" y="6438900"/>
            <a:ext cx="504825" cy="381000"/>
            <a:chOff x="11668125" y="6438900"/>
            <a:chExt cx="504825" cy="381000"/>
          </a:xfrm>
        </p:grpSpPr>
        <p:sp>
          <p:nvSpPr>
            <p:cNvPr id="14" name="Rectangle 14"/>
            <p:cNvSpPr/>
            <p:nvPr/>
          </p:nvSpPr>
          <p:spPr>
            <a:xfrm>
              <a:off x="11668125" y="6438900"/>
              <a:ext cx="504825" cy="381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5" name="TextBox 15"/>
            <p:cNvSpPr/>
            <p:nvPr/>
          </p:nvSpPr>
          <p:spPr>
            <a:xfrm>
              <a:off x="11803380" y="6508718"/>
              <a:ext cx="22479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32" rIns="0" bIns="0" anchor="t" anchorCtr="0">
              <a:noAutofit/>
            </a:bodyPr>
            <a:lstStyle/>
            <a:p>
              <a:pPr algn="ctr"/>
              <a:r>
                <a:rPr lang="zh-CN" sz="142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18</a:t>
              </a:r>
            </a:p>
          </p:txBody>
        </p:sp>
      </p:grpSp>
      <p:grpSp>
        <p:nvGrpSpPr>
          <p:cNvPr id="24" name="conclusion"/>
          <p:cNvGrpSpPr/>
          <p:nvPr/>
        </p:nvGrpSpPr>
        <p:grpSpPr>
          <a:xfrm>
            <a:off x="606171" y="1349407"/>
            <a:ext cx="7513891" cy="2058257"/>
            <a:chOff x="606171" y="1349407"/>
            <a:chExt cx="7513891" cy="2058257"/>
          </a:xfrm>
        </p:grpSpPr>
        <p:sp>
          <p:nvSpPr>
            <p:cNvPr id="20" name="TextBox 20"/>
            <p:cNvSpPr/>
            <p:nvPr/>
          </p:nvSpPr>
          <p:spPr>
            <a:xfrm>
              <a:off x="606171" y="1349407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-32" rIns="0" bIns="0" anchor="t" anchorCtr="0">
              <a:noAutofit/>
            </a:bodyPr>
            <a:lstStyle/>
            <a:p>
              <a:pPr algn="l"/>
              <a:r>
                <a:rPr lang="zh-CN" sz="255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三条结论</a:t>
              </a:r>
            </a:p>
          </p:txBody>
        </p:sp>
        <p:sp>
          <p:nvSpPr>
            <p:cNvPr id="21" name="TextBox 21"/>
            <p:cNvSpPr/>
            <p:nvPr/>
          </p:nvSpPr>
          <p:spPr>
            <a:xfrm>
              <a:off x="608076" y="1914525"/>
              <a:ext cx="5821870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① RF-DETR-Nano 完成 COCO2017 全量复现</a:t>
              </a:r>
            </a:p>
          </p:txBody>
        </p:sp>
        <p:sp>
          <p:nvSpPr>
            <p:cNvPr id="22" name="TextBox 22"/>
            <p:cNvSpPr/>
            <p:nvPr/>
          </p:nvSpPr>
          <p:spPr>
            <a:xfrm>
              <a:off x="608076" y="2447925"/>
              <a:ext cx="546601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② 固定 5k 子集在同类标签上保持基线表现</a:t>
              </a:r>
            </a:p>
          </p:txBody>
        </p:sp>
        <p:sp>
          <p:nvSpPr>
            <p:cNvPr id="23" name="TextBox 23"/>
            <p:cNvSpPr/>
            <p:nvPr/>
          </p:nvSpPr>
          <p:spPr>
            <a:xfrm>
              <a:off x="608076" y="2981325"/>
              <a:ext cx="7511986" cy="426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1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③ SATR骨干迁移模型在两项任务中均出现精度下降</a:t>
              </a:r>
            </a:p>
          </p:txBody>
        </p:sp>
      </p:grpSp>
      <p:grpSp>
        <p:nvGrpSpPr>
          <p:cNvPr id="29" name="future-work"/>
          <p:cNvGrpSpPr/>
          <p:nvPr/>
        </p:nvGrpSpPr>
        <p:grpSpPr>
          <a:xfrm>
            <a:off x="600075" y="3876675"/>
            <a:ext cx="9525000" cy="1615440"/>
            <a:chOff x="600075" y="3876675"/>
            <a:chExt cx="9525000" cy="1615440"/>
          </a:xfrm>
        </p:grpSpPr>
        <p:sp>
          <p:nvSpPr>
            <p:cNvPr id="25" name="TextBox 25"/>
            <p:cNvSpPr/>
            <p:nvPr/>
          </p:nvSpPr>
          <p:spPr>
            <a:xfrm>
              <a:off x="606552" y="3876675"/>
              <a:ext cx="2028254" cy="48501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2480" b="1" dirty="0">
                  <a:solidFill>
                    <a:srgbClr val="C62D35"/>
                  </a:solidFill>
                  <a:latin typeface="Microsoft YaHei"/>
                  <a:ea typeface="Microsoft YaHei"/>
                  <a:cs typeface="Microsoft YaHei"/>
                </a:rPr>
                <a:t>后续改进方向</a:t>
              </a:r>
            </a:p>
          </p:txBody>
        </p:sp>
        <p:sp>
          <p:nvSpPr>
            <p:cNvPr id="26" name="TextBox 26"/>
            <p:cNvSpPr/>
            <p:nvPr/>
          </p:nvSpPr>
          <p:spPr>
            <a:xfrm>
              <a:off x="600075" y="4286250"/>
              <a:ext cx="9525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9525" tIns="95250" rIns="0" bIns="0" anchor="t" anchorCtr="0">
              <a:noAutofit/>
            </a:bodyPr>
            <a:lstStyle/>
            <a:p>
              <a:pPr algn="l"/>
              <a:r>
                <a:rPr lang="zh-CN" sz="18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优先补齐G组：原始完整SATR-SSM + COCO20 / 5k</a:t>
              </a:r>
            </a:p>
          </p:txBody>
        </p:sp>
        <p:sp>
          <p:nvSpPr>
            <p:cNvPr id="27" name="TextBox 27"/>
            <p:cNvSpPr/>
            <p:nvPr/>
          </p:nvSpPr>
          <p:spPr>
            <a:xfrm>
              <a:off x="609600" y="4752975"/>
              <a:ext cx="8003858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保留或蒸馏原投影器；适配层使用独立学习率、warm-up 与分阶段解冻</a:t>
              </a:r>
            </a:p>
          </p:txBody>
        </p:sp>
        <p:sp>
          <p:nvSpPr>
            <p:cNvPr id="28" name="TextBox 28"/>
            <p:cNvSpPr/>
            <p:nvPr/>
          </p:nvSpPr>
          <p:spPr>
            <a:xfrm>
              <a:off x="609600" y="5124450"/>
              <a:ext cx="6852380" cy="3676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noAutofit/>
            </a:bodyPr>
            <a:lstStyle/>
            <a:p>
              <a:pPr algn="l"/>
              <a:r>
                <a:rPr lang="zh-CN" sz="1880" dirty="0">
                  <a:solidFill>
                    <a:srgbClr val="111820"/>
                  </a:solidFill>
                  <a:latin typeface="Microsoft YaHei"/>
                  <a:ea typeface="Microsoft YaHei"/>
                  <a:cs typeface="Microsoft YaHei"/>
                </a:rPr>
                <a:t>加入多尺度特征蒸馏和统计对齐，再扩展多种子与独立测试集</a:t>
              </a:r>
            </a:p>
          </p:txBody>
        </p:sp>
      </p:grpSp>
      <p:grpSp>
        <p:nvGrpSpPr>
          <p:cNvPr id="32" name="references-and-code"/>
          <p:cNvGrpSpPr/>
          <p:nvPr/>
        </p:nvGrpSpPr>
        <p:grpSpPr>
          <a:xfrm>
            <a:off x="611124" y="5715000"/>
            <a:ext cx="8868321" cy="308991"/>
            <a:chOff x="611124" y="5715000"/>
            <a:chExt cx="8868321" cy="308991"/>
          </a:xfrm>
        </p:grpSpPr>
        <p:sp>
          <p:nvSpPr>
            <p:cNvPr id="30" name="TextBox 30">
              <a:hlinkClick r:id="rId4"/>
            </p:cNvPr>
            <p:cNvSpPr txBox="1"/>
            <p:nvPr/>
          </p:nvSpPr>
          <p:spPr>
            <a:xfrm>
              <a:off x="611124" y="5715000"/>
              <a:ext cx="3578319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github.com/TingFeng36/SATR-SSM</a:t>
              </a:r>
            </a:p>
          </p:txBody>
        </p:sp>
        <p:sp>
          <p:nvSpPr>
            <p:cNvPr id="31" name="TextBox 31">
              <a:hlinkClick r:id="rId5"/>
            </p:cNvPr>
            <p:cNvSpPr txBox="1"/>
            <p:nvPr/>
          </p:nvSpPr>
          <p:spPr>
            <a:xfrm>
              <a:off x="6326124" y="5715000"/>
              <a:ext cx="3153321" cy="30899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80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github.com/roboflow/rf-detr</a:t>
              </a:r>
            </a:p>
          </p:txBody>
        </p:sp>
      </p:grpSp>
      <p:sp>
        <p:nvSpPr>
          <p:cNvPr id="33" name="TextBox 33"/>
          <p:cNvSpPr/>
          <p:nvPr/>
        </p:nvSpPr>
        <p:spPr>
          <a:xfrm>
            <a:off x="613029" y="6181725"/>
            <a:ext cx="10953750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zh-CN" sz="1200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rPr>
              <a:t>六组日志、配置、最佳权重摘要和结果已归档；SATR-SSM为大创成果。</a:t>
            </a:r>
          </a:p>
        </p:txBody>
      </p:sp>
      <p:grpSp>
        <p:nvGrpSpPr>
          <p:cNvPr id="39" name="page-subtitle"/>
          <p:cNvGrpSpPr/>
          <p:nvPr/>
        </p:nvGrpSpPr>
        <p:grpSpPr>
          <a:xfrm>
            <a:off x="608457" y="822325"/>
            <a:ext cx="2000250" cy="410718"/>
            <a:chOff x="608457" y="822325"/>
            <a:chExt cx="2000250" cy="410718"/>
          </a:xfrm>
        </p:grpSpPr>
        <p:sp>
          <p:nvSpPr>
            <p:cNvPr id="38" name="TextBox 38"/>
            <p:cNvSpPr txBox="1"/>
            <p:nvPr/>
          </p:nvSpPr>
          <p:spPr>
            <a:xfrm>
              <a:off x="608457" y="822325"/>
              <a:ext cx="200025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206DC5"/>
                  </a:solidFill>
                  <a:latin typeface="Microsoft YaHei"/>
                  <a:ea typeface="Microsoft YaHei"/>
                  <a:cs typeface="Microsoft YaHei"/>
                </a:rPr>
                <a:t>结论与后续方案</a:t>
              </a:r>
            </a:p>
          </p:txBody>
        </p:sp>
      </p:grpSp>
      <p:grpSp>
        <p:nvGrpSpPr>
          <p:cNvPr id="40" name="course-reflection"/>
          <p:cNvGrpSpPr/>
          <p:nvPr/>
        </p:nvGrpSpPr>
        <p:grpSpPr>
          <a:xfrm>
            <a:off x="610743" y="5387975"/>
            <a:ext cx="65" cy="253916"/>
            <a:chOff x="610743" y="5387975"/>
            <a:chExt cx="65" cy="253916"/>
          </a:xfrm>
        </p:grpSpPr>
        <p:sp>
          <p:nvSpPr>
            <p:cNvPr id="41" name="TextBox 21"/>
            <p:cNvSpPr txBox="1"/>
            <p:nvPr/>
          </p:nvSpPr>
          <p:spPr>
            <a:xfrm>
              <a:off x="610743" y="5387975"/>
              <a:ext cx="65" cy="253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endParaRPr lang="zh-CN" sz="1650" dirty="0">
                <a:solidFill>
                  <a:srgbClr val="56616E"/>
                </a:solidFill>
                <a:latin typeface="Microsoft YaHei"/>
                <a:ea typeface="Microsoft YaHei"/>
                <a:cs typeface="Microsoft YaHei"/>
              </a:endParaRPr>
            </a:p>
          </p:txBody>
        </p:sp>
      </p:grpSp>
    </p:spTree>
    <p:extLst>
      <p:ext uri="{BB962C8B-B14F-4D97-AF65-F5344CB8AC3E}">
        <p14:creationId val="2145235647"/>
      </p:ext>
    </p:extLst>
  </p:cSld>
  <p:clrMapOvr>
    <a:masterClrMapping/>
  </p:clrMapOvr>
</p:sld>
</file>

<file path=ppt/slides/slide19.xml><?xml version="1.0" encoding="utf-8"?>
<p:sld xmlns:a="http://schemas.openxmlformats.org/drawingml/2006/main" xmlns:ns2="http://schemas.microsoft.com/office/drawing/2014/main" xmlns:p="http://schemas.openxmlformats.org/presentationml/2006/main" xmlns:p14="http://schemas.microsoft.com/office/powerpoint/2010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71">
            <a:extLst>
              <a:ext uri="{FF2B5EF4-FFF2-40B4-BE49-F238E27FC236}">
                <ns2:creationId id="{A74C394D-D5C0-9486-14EB-A525FFE0CF42}"/>
              </a:ext>
            </a:extLst>
          </p:cNvPr>
          <p:cNvSpPr>
            <a:spLocks noGrp="1"/>
          </p:cNvSpPr>
          <p:nvPr/>
        </p:nvSpPr>
        <p:spPr>
          <a:xfrm rot="18852915" flipH="1">
            <a:off x="632430" y="6310717"/>
            <a:ext cx="138621" cy="139589"/>
          </a:xfrm>
          <a:custGeom>
            <a:avLst/>
            <a:gdLst>
              <a:gd name="T0" fmla="*/ 4 w 601"/>
              <a:gd name="T1" fmla="*/ 552 h 605"/>
              <a:gd name="T2" fmla="*/ 0 w 601"/>
              <a:gd name="T3" fmla="*/ 60 h 605"/>
              <a:gd name="T4" fmla="*/ 48 w 601"/>
              <a:gd name="T5" fmla="*/ 10 h 605"/>
              <a:gd name="T6" fmla="*/ 97 w 601"/>
              <a:gd name="T7" fmla="*/ 59 h 605"/>
              <a:gd name="T8" fmla="*/ 97 w 601"/>
              <a:gd name="T9" fmla="*/ 59 h 605"/>
              <a:gd name="T10" fmla="*/ 100 w 601"/>
              <a:gd name="T11" fmla="*/ 432 h 605"/>
              <a:gd name="T12" fmla="*/ 514 w 601"/>
              <a:gd name="T13" fmla="*/ 18 h 605"/>
              <a:gd name="T14" fmla="*/ 584 w 601"/>
              <a:gd name="T15" fmla="*/ 22 h 605"/>
              <a:gd name="T16" fmla="*/ 584 w 601"/>
              <a:gd name="T17" fmla="*/ 88 h 605"/>
              <a:gd name="T18" fmla="*/ 168 w 601"/>
              <a:gd name="T19" fmla="*/ 504 h 605"/>
              <a:gd name="T20" fmla="*/ 541 w 601"/>
              <a:gd name="T21" fmla="*/ 507 h 605"/>
              <a:gd name="T22" fmla="*/ 589 w 601"/>
              <a:gd name="T23" fmla="*/ 556 h 605"/>
              <a:gd name="T24" fmla="*/ 540 w 601"/>
              <a:gd name="T25" fmla="*/ 605 h 605"/>
              <a:gd name="T26" fmla="*/ 540 w 601"/>
              <a:gd name="T27" fmla="*/ 605 h 605"/>
              <a:gd name="T28" fmla="*/ 52 w 601"/>
              <a:gd name="T29" fmla="*/ 601 h 605"/>
              <a:gd name="T30" fmla="*/ 4 w 601"/>
              <a:gd name="T31" fmla="*/ 552 h 605"/>
            </a:gdLst>
            <a:ahLst/>
            <a:cxnLst/>
            <a:rect l="0" t="0" r="r" b="b"/>
            <a:pathLst>
              <a:path w="601" h="605">
                <a:moveTo>
                  <a:pt x="4" y="552"/>
                </a:moveTo>
                <a:cubicBezTo>
                  <a:pt x="0" y="60"/>
                  <a:pt x="0" y="60"/>
                  <a:pt x="0" y="60"/>
                </a:cubicBezTo>
                <a:cubicBezTo>
                  <a:pt x="0" y="33"/>
                  <a:pt x="21" y="11"/>
                  <a:pt x="48" y="10"/>
                </a:cubicBezTo>
                <a:cubicBezTo>
                  <a:pt x="75" y="10"/>
                  <a:pt x="97" y="32"/>
                  <a:pt x="97" y="59"/>
                </a:cubicBezTo>
                <a:cubicBezTo>
                  <a:pt x="97" y="59"/>
                  <a:pt x="97" y="59"/>
                  <a:pt x="97" y="59"/>
                </a:cubicBezTo>
                <a:cubicBezTo>
                  <a:pt x="100" y="432"/>
                  <a:pt x="100" y="432"/>
                  <a:pt x="100" y="432"/>
                </a:cubicBezTo>
                <a:cubicBezTo>
                  <a:pt x="514" y="18"/>
                  <a:pt x="514" y="18"/>
                  <a:pt x="514" y="18"/>
                </a:cubicBezTo>
                <a:cubicBezTo>
                  <a:pt x="534" y="0"/>
                  <a:pt x="565" y="1"/>
                  <a:pt x="584" y="22"/>
                </a:cubicBezTo>
                <a:cubicBezTo>
                  <a:pt x="601" y="41"/>
                  <a:pt x="601" y="69"/>
                  <a:pt x="584" y="88"/>
                </a:cubicBezTo>
                <a:cubicBezTo>
                  <a:pt x="168" y="504"/>
                  <a:pt x="168" y="504"/>
                  <a:pt x="168" y="504"/>
                </a:cubicBezTo>
                <a:cubicBezTo>
                  <a:pt x="541" y="507"/>
                  <a:pt x="541" y="507"/>
                  <a:pt x="541" y="507"/>
                </a:cubicBezTo>
                <a:cubicBezTo>
                  <a:pt x="567" y="507"/>
                  <a:pt x="589" y="529"/>
                  <a:pt x="589" y="556"/>
                </a:cubicBezTo>
                <a:cubicBezTo>
                  <a:pt x="588" y="583"/>
                  <a:pt x="567" y="605"/>
                  <a:pt x="540" y="605"/>
                </a:cubicBezTo>
                <a:cubicBezTo>
                  <a:pt x="540" y="605"/>
                  <a:pt x="540" y="605"/>
                  <a:pt x="540" y="605"/>
                </a:cubicBezTo>
                <a:cubicBezTo>
                  <a:pt x="52" y="601"/>
                  <a:pt x="52" y="601"/>
                  <a:pt x="52" y="601"/>
                </a:cubicBezTo>
                <a:cubicBezTo>
                  <a:pt x="25" y="601"/>
                  <a:pt x="4" y="579"/>
                  <a:pt x="4" y="55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anchor="t"/>
          <a:lstStyle/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2800" b="0" i="0" u="none" strike="noStrike" kern="1200" cap="none" spc="0" baseline="0">
              <a:ln>
                <a:noFill/>
              </a:ln>
              <a:solidFill>
                <a:prstClr val="black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ns2:creationId id="{A17DE243-F9AF-5400-E7F7-7369947E8EC3}"/>
              </a:ext>
            </a:extLst>
          </p:cNvPr>
          <p:cNvSpPr>
            <a:spLocks noGrp="1"/>
          </p:cNvSpPr>
          <p:nvPr/>
        </p:nvSpPr>
        <p:spPr>
          <a:xfrm>
            <a:off x="11395087" y="6018960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2" name="椭圆 31">
            <a:extLst>
              <a:ext uri="{FF2B5EF4-FFF2-40B4-BE49-F238E27FC236}">
                <ns2:creationId id="{06E907F5-ED2A-FF37-575A-8FF5DED1631D}"/>
              </a:ext>
            </a:extLst>
          </p:cNvPr>
          <p:cNvSpPr>
            <a:spLocks noGrp="1"/>
          </p:cNvSpPr>
          <p:nvPr/>
        </p:nvSpPr>
        <p:spPr>
          <a:xfrm>
            <a:off x="11527938" y="6018960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3" name="椭圆 32">
            <a:extLst>
              <a:ext uri="{FF2B5EF4-FFF2-40B4-BE49-F238E27FC236}">
                <ns2:creationId id="{5779F462-CB5A-7F55-C815-67A0FC413D1C}"/>
              </a:ext>
            </a:extLst>
          </p:cNvPr>
          <p:cNvSpPr>
            <a:spLocks noGrp="1"/>
          </p:cNvSpPr>
          <p:nvPr/>
        </p:nvSpPr>
        <p:spPr>
          <a:xfrm>
            <a:off x="11660789" y="6018960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4" name="椭圆 33">
            <a:extLst>
              <a:ext uri="{FF2B5EF4-FFF2-40B4-BE49-F238E27FC236}">
                <ns2:creationId id="{4D291E69-09CE-86E0-0C0C-61248CC98BEA}"/>
              </a:ext>
            </a:extLst>
          </p:cNvPr>
          <p:cNvSpPr>
            <a:spLocks noGrp="1"/>
          </p:cNvSpPr>
          <p:nvPr/>
        </p:nvSpPr>
        <p:spPr>
          <a:xfrm>
            <a:off x="11793640" y="6018960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5" name="椭圆 34">
            <a:extLst>
              <a:ext uri="{FF2B5EF4-FFF2-40B4-BE49-F238E27FC236}">
                <ns2:creationId id="{2AAC0F25-FDAD-DBBD-FF3F-336592F7B479}"/>
              </a:ext>
            </a:extLst>
          </p:cNvPr>
          <p:cNvSpPr>
            <a:spLocks noGrp="1"/>
          </p:cNvSpPr>
          <p:nvPr/>
        </p:nvSpPr>
        <p:spPr>
          <a:xfrm>
            <a:off x="11395087" y="6140461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6" name="椭圆 35">
            <a:extLst>
              <a:ext uri="{FF2B5EF4-FFF2-40B4-BE49-F238E27FC236}">
                <ns2:creationId id="{6FF5EAD5-E428-78C1-2047-F6A45E404EAC}"/>
              </a:ext>
            </a:extLst>
          </p:cNvPr>
          <p:cNvSpPr>
            <a:spLocks noGrp="1"/>
          </p:cNvSpPr>
          <p:nvPr/>
        </p:nvSpPr>
        <p:spPr>
          <a:xfrm>
            <a:off x="11527938" y="6140461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7" name="椭圆 36">
            <a:extLst>
              <a:ext uri="{FF2B5EF4-FFF2-40B4-BE49-F238E27FC236}">
                <ns2:creationId id="{422AE7AB-3FE7-DAA9-0B2D-7A8CC76E178E}"/>
              </a:ext>
            </a:extLst>
          </p:cNvPr>
          <p:cNvSpPr>
            <a:spLocks noGrp="1"/>
          </p:cNvSpPr>
          <p:nvPr/>
        </p:nvSpPr>
        <p:spPr>
          <a:xfrm>
            <a:off x="11660789" y="6140461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8" name="椭圆 37">
            <a:extLst>
              <a:ext uri="{FF2B5EF4-FFF2-40B4-BE49-F238E27FC236}">
                <ns2:creationId id="{B7CE0DE5-26BC-DADD-095D-D549FB11DAE3}"/>
              </a:ext>
            </a:extLst>
          </p:cNvPr>
          <p:cNvSpPr>
            <a:spLocks noGrp="1"/>
          </p:cNvSpPr>
          <p:nvPr/>
        </p:nvSpPr>
        <p:spPr>
          <a:xfrm>
            <a:off x="11793640" y="6140461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9" name="椭圆 38">
            <a:extLst>
              <a:ext uri="{FF2B5EF4-FFF2-40B4-BE49-F238E27FC236}">
                <ns2:creationId id="{06615468-631B-84AB-D2BE-48F9105CFEA6}"/>
              </a:ext>
            </a:extLst>
          </p:cNvPr>
          <p:cNvSpPr>
            <a:spLocks noGrp="1"/>
          </p:cNvSpPr>
          <p:nvPr/>
        </p:nvSpPr>
        <p:spPr>
          <a:xfrm>
            <a:off x="11395087" y="6261961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0" name="椭圆 39">
            <a:extLst>
              <a:ext uri="{FF2B5EF4-FFF2-40B4-BE49-F238E27FC236}">
                <ns2:creationId id="{1BEE41F0-3784-B025-74A1-D990F0E37681}"/>
              </a:ext>
            </a:extLst>
          </p:cNvPr>
          <p:cNvSpPr>
            <a:spLocks noGrp="1"/>
          </p:cNvSpPr>
          <p:nvPr/>
        </p:nvSpPr>
        <p:spPr>
          <a:xfrm>
            <a:off x="11527938" y="6261961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1" name="椭圆 40">
            <a:extLst>
              <a:ext uri="{FF2B5EF4-FFF2-40B4-BE49-F238E27FC236}">
                <ns2:creationId id="{98FEAE93-9023-D506-107B-11B1626B62CD}"/>
              </a:ext>
            </a:extLst>
          </p:cNvPr>
          <p:cNvSpPr>
            <a:spLocks noGrp="1"/>
          </p:cNvSpPr>
          <p:nvPr/>
        </p:nvSpPr>
        <p:spPr>
          <a:xfrm>
            <a:off x="11660789" y="6261961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2" name="椭圆 41">
            <a:extLst>
              <a:ext uri="{FF2B5EF4-FFF2-40B4-BE49-F238E27FC236}">
                <ns2:creationId id="{FE7AD484-460F-1131-2334-6D040DAD2C93}"/>
              </a:ext>
            </a:extLst>
          </p:cNvPr>
          <p:cNvSpPr>
            <a:spLocks noGrp="1"/>
          </p:cNvSpPr>
          <p:nvPr/>
        </p:nvSpPr>
        <p:spPr>
          <a:xfrm>
            <a:off x="11793640" y="6261961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3" name="椭圆 42">
            <a:extLst>
              <a:ext uri="{FF2B5EF4-FFF2-40B4-BE49-F238E27FC236}">
                <ns2:creationId id="{0724D405-4143-4452-C16C-E6695380A2D0}"/>
              </a:ext>
            </a:extLst>
          </p:cNvPr>
          <p:cNvSpPr>
            <a:spLocks noGrp="1"/>
          </p:cNvSpPr>
          <p:nvPr/>
        </p:nvSpPr>
        <p:spPr>
          <a:xfrm>
            <a:off x="11395087" y="6383462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4" name="椭圆 43">
            <a:extLst>
              <a:ext uri="{FF2B5EF4-FFF2-40B4-BE49-F238E27FC236}">
                <ns2:creationId id="{BF7609BE-CAB1-5D3F-F78A-F4D22A8B3256}"/>
              </a:ext>
            </a:extLst>
          </p:cNvPr>
          <p:cNvSpPr>
            <a:spLocks noGrp="1"/>
          </p:cNvSpPr>
          <p:nvPr/>
        </p:nvSpPr>
        <p:spPr>
          <a:xfrm>
            <a:off x="11527938" y="6383462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5" name="椭圆 44">
            <a:extLst>
              <a:ext uri="{FF2B5EF4-FFF2-40B4-BE49-F238E27FC236}">
                <ns2:creationId id="{2F973C45-0B69-ECD8-C505-CCC7B605FEBB}"/>
              </a:ext>
            </a:extLst>
          </p:cNvPr>
          <p:cNvSpPr>
            <a:spLocks noGrp="1"/>
          </p:cNvSpPr>
          <p:nvPr/>
        </p:nvSpPr>
        <p:spPr>
          <a:xfrm>
            <a:off x="11660789" y="6383462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6" name="椭圆 45">
            <a:extLst>
              <a:ext uri="{FF2B5EF4-FFF2-40B4-BE49-F238E27FC236}">
                <ns2:creationId id="{37AC7B3D-28FE-7154-60F5-01C933CB10BF}"/>
              </a:ext>
            </a:extLst>
          </p:cNvPr>
          <p:cNvSpPr>
            <a:spLocks noGrp="1"/>
          </p:cNvSpPr>
          <p:nvPr/>
        </p:nvSpPr>
        <p:spPr>
          <a:xfrm>
            <a:off x="11793640" y="6383462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7" name="椭圆 46">
            <a:extLst>
              <a:ext uri="{FF2B5EF4-FFF2-40B4-BE49-F238E27FC236}">
                <ns2:creationId id="{F3C71924-8DE6-9028-E00E-2949BA7AF690}"/>
              </a:ext>
            </a:extLst>
          </p:cNvPr>
          <p:cNvSpPr>
            <a:spLocks noGrp="1"/>
          </p:cNvSpPr>
          <p:nvPr/>
        </p:nvSpPr>
        <p:spPr>
          <a:xfrm>
            <a:off x="11395087" y="6504962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8" name="椭圆 47">
            <a:extLst>
              <a:ext uri="{FF2B5EF4-FFF2-40B4-BE49-F238E27FC236}">
                <ns2:creationId id="{72500D70-4811-55C6-52AC-54DED23E96F8}"/>
              </a:ext>
            </a:extLst>
          </p:cNvPr>
          <p:cNvSpPr>
            <a:spLocks noGrp="1"/>
          </p:cNvSpPr>
          <p:nvPr/>
        </p:nvSpPr>
        <p:spPr>
          <a:xfrm>
            <a:off x="11527938" y="6504962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9" name="椭圆 48">
            <a:extLst>
              <a:ext uri="{FF2B5EF4-FFF2-40B4-BE49-F238E27FC236}">
                <ns2:creationId id="{822C7AAC-8DD5-2760-E026-AE5F561961A4}"/>
              </a:ext>
            </a:extLst>
          </p:cNvPr>
          <p:cNvSpPr>
            <a:spLocks noGrp="1"/>
          </p:cNvSpPr>
          <p:nvPr/>
        </p:nvSpPr>
        <p:spPr>
          <a:xfrm>
            <a:off x="11660789" y="6504962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0" name="椭圆 49">
            <a:extLst>
              <a:ext uri="{FF2B5EF4-FFF2-40B4-BE49-F238E27FC236}">
                <ns2:creationId id="{4C304EB8-B998-514A-374E-1FD7711C0FE2}"/>
              </a:ext>
            </a:extLst>
          </p:cNvPr>
          <p:cNvSpPr>
            <a:spLocks noGrp="1"/>
          </p:cNvSpPr>
          <p:nvPr/>
        </p:nvSpPr>
        <p:spPr>
          <a:xfrm>
            <a:off x="11793640" y="6504962"/>
            <a:ext cx="45719" cy="45719"/>
          </a:xfrm>
          <a:prstGeom prst="ellipse">
            <a:avLst/>
          </a:prstGeom>
          <a:gradFill>
            <a:gsLst>
              <a:gs pos="0">
                <a:srgbClr val="206DC5"/>
              </a:gs>
              <a:gs pos="100000">
                <a:srgbClr val="1755AC">
                  <a:alpha val="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2" name="椭圆 61">
            <a:extLst>
              <a:ext uri="{FF2B5EF4-FFF2-40B4-BE49-F238E27FC236}">
                <ns2:creationId id="{A492E138-1CD5-7DF4-FDD8-F0E5D232B33A}"/>
              </a:ext>
            </a:extLst>
          </p:cNvPr>
          <p:cNvSpPr>
            <a:spLocks noGrp="1"/>
          </p:cNvSpPr>
          <p:nvPr/>
        </p:nvSpPr>
        <p:spPr>
          <a:xfrm flipV="1">
            <a:off x="317325" y="948032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3" name="椭圆 62">
            <a:extLst>
              <a:ext uri="{FF2B5EF4-FFF2-40B4-BE49-F238E27FC236}">
                <ns2:creationId id="{65D901B5-658A-39C4-55F5-4BA41592A351}"/>
              </a:ext>
            </a:extLst>
          </p:cNvPr>
          <p:cNvSpPr>
            <a:spLocks noGrp="1"/>
          </p:cNvSpPr>
          <p:nvPr/>
        </p:nvSpPr>
        <p:spPr>
          <a:xfrm flipV="1">
            <a:off x="467202" y="948032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4" name="椭圆 63">
            <a:extLst>
              <a:ext uri="{FF2B5EF4-FFF2-40B4-BE49-F238E27FC236}">
                <ns2:creationId id="{220DB08C-04FA-D230-E45C-A236E9953B36}"/>
              </a:ext>
            </a:extLst>
          </p:cNvPr>
          <p:cNvSpPr>
            <a:spLocks noGrp="1"/>
          </p:cNvSpPr>
          <p:nvPr/>
        </p:nvSpPr>
        <p:spPr>
          <a:xfrm flipV="1">
            <a:off x="617079" y="948032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5" name="椭圆 64">
            <a:extLst>
              <a:ext uri="{FF2B5EF4-FFF2-40B4-BE49-F238E27FC236}">
                <ns2:creationId id="{2D32FDE9-62BA-BE16-1F90-2206511A87FB}"/>
              </a:ext>
            </a:extLst>
          </p:cNvPr>
          <p:cNvSpPr>
            <a:spLocks noGrp="1"/>
          </p:cNvSpPr>
          <p:nvPr/>
        </p:nvSpPr>
        <p:spPr>
          <a:xfrm flipV="1">
            <a:off x="766956" y="948032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6" name="椭圆 65">
            <a:extLst>
              <a:ext uri="{FF2B5EF4-FFF2-40B4-BE49-F238E27FC236}">
                <ns2:creationId id="{F0D28B07-C490-5421-F267-76EB58F9807E}"/>
              </a:ext>
            </a:extLst>
          </p:cNvPr>
          <p:cNvSpPr>
            <a:spLocks noGrp="1"/>
          </p:cNvSpPr>
          <p:nvPr/>
        </p:nvSpPr>
        <p:spPr>
          <a:xfrm flipV="1">
            <a:off x="317325" y="810960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7" name="椭圆 66">
            <a:extLst>
              <a:ext uri="{FF2B5EF4-FFF2-40B4-BE49-F238E27FC236}">
                <ns2:creationId id="{9270C405-DA3E-47C2-AE06-B0C2AC8A5721}"/>
              </a:ext>
            </a:extLst>
          </p:cNvPr>
          <p:cNvSpPr>
            <a:spLocks noGrp="1"/>
          </p:cNvSpPr>
          <p:nvPr/>
        </p:nvSpPr>
        <p:spPr>
          <a:xfrm flipV="1">
            <a:off x="467202" y="810960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8" name="椭圆 67">
            <a:extLst>
              <a:ext uri="{FF2B5EF4-FFF2-40B4-BE49-F238E27FC236}">
                <ns2:creationId id="{D6CD6CE1-2988-F8F1-B760-6308089F40F7}"/>
              </a:ext>
            </a:extLst>
          </p:cNvPr>
          <p:cNvSpPr>
            <a:spLocks noGrp="1"/>
          </p:cNvSpPr>
          <p:nvPr/>
        </p:nvSpPr>
        <p:spPr>
          <a:xfrm flipV="1">
            <a:off x="617079" y="810960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69" name="椭圆 68">
            <a:extLst>
              <a:ext uri="{FF2B5EF4-FFF2-40B4-BE49-F238E27FC236}">
                <ns2:creationId id="{0BA778A6-2BC6-F5C3-8907-352A69187FBD}"/>
              </a:ext>
            </a:extLst>
          </p:cNvPr>
          <p:cNvSpPr>
            <a:spLocks noGrp="1"/>
          </p:cNvSpPr>
          <p:nvPr/>
        </p:nvSpPr>
        <p:spPr>
          <a:xfrm flipV="1">
            <a:off x="766956" y="810960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0" name="椭圆 69">
            <a:extLst>
              <a:ext uri="{FF2B5EF4-FFF2-40B4-BE49-F238E27FC236}">
                <ns2:creationId id="{2784DB5F-AC17-1EC7-792D-8279205DF436}"/>
              </a:ext>
            </a:extLst>
          </p:cNvPr>
          <p:cNvSpPr>
            <a:spLocks noGrp="1"/>
          </p:cNvSpPr>
          <p:nvPr/>
        </p:nvSpPr>
        <p:spPr>
          <a:xfrm flipV="1">
            <a:off x="317325" y="673888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1" name="椭圆 70">
            <a:extLst>
              <a:ext uri="{FF2B5EF4-FFF2-40B4-BE49-F238E27FC236}">
                <ns2:creationId id="{720184B0-064C-BD9F-FEC8-96E4AA22C39E}"/>
              </a:ext>
            </a:extLst>
          </p:cNvPr>
          <p:cNvSpPr>
            <a:spLocks noGrp="1"/>
          </p:cNvSpPr>
          <p:nvPr/>
        </p:nvSpPr>
        <p:spPr>
          <a:xfrm flipV="1">
            <a:off x="467202" y="673888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2" name="椭圆 71">
            <a:extLst>
              <a:ext uri="{FF2B5EF4-FFF2-40B4-BE49-F238E27FC236}">
                <ns2:creationId id="{305FD798-F6A6-D2C4-FB05-37E8E64297EF}"/>
              </a:ext>
            </a:extLst>
          </p:cNvPr>
          <p:cNvSpPr>
            <a:spLocks noGrp="1"/>
          </p:cNvSpPr>
          <p:nvPr/>
        </p:nvSpPr>
        <p:spPr>
          <a:xfrm flipV="1">
            <a:off x="617079" y="673888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3" name="椭圆 72">
            <a:extLst>
              <a:ext uri="{FF2B5EF4-FFF2-40B4-BE49-F238E27FC236}">
                <ns2:creationId id="{D97300C8-A36E-7424-AD11-70D991B93B38}"/>
              </a:ext>
            </a:extLst>
          </p:cNvPr>
          <p:cNvSpPr>
            <a:spLocks noGrp="1"/>
          </p:cNvSpPr>
          <p:nvPr/>
        </p:nvSpPr>
        <p:spPr>
          <a:xfrm flipV="1">
            <a:off x="766956" y="673888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4" name="椭圆 73">
            <a:extLst>
              <a:ext uri="{FF2B5EF4-FFF2-40B4-BE49-F238E27FC236}">
                <ns2:creationId id="{5617327D-8631-A5A1-218B-47B1C5C6668B}"/>
              </a:ext>
            </a:extLst>
          </p:cNvPr>
          <p:cNvSpPr>
            <a:spLocks noGrp="1"/>
          </p:cNvSpPr>
          <p:nvPr/>
        </p:nvSpPr>
        <p:spPr>
          <a:xfrm flipV="1">
            <a:off x="317325" y="536816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5" name="椭圆 74">
            <a:extLst>
              <a:ext uri="{FF2B5EF4-FFF2-40B4-BE49-F238E27FC236}">
                <ns2:creationId id="{C6A15F9C-B52B-AFAD-7693-DA12160812AE}"/>
              </a:ext>
            </a:extLst>
          </p:cNvPr>
          <p:cNvSpPr>
            <a:spLocks noGrp="1"/>
          </p:cNvSpPr>
          <p:nvPr/>
        </p:nvSpPr>
        <p:spPr>
          <a:xfrm flipV="1">
            <a:off x="467202" y="536816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6" name="椭圆 75">
            <a:extLst>
              <a:ext uri="{FF2B5EF4-FFF2-40B4-BE49-F238E27FC236}">
                <ns2:creationId id="{72BD94BC-4F1D-F3F4-BA97-27FC1BC16853}"/>
              </a:ext>
            </a:extLst>
          </p:cNvPr>
          <p:cNvSpPr>
            <a:spLocks noGrp="1"/>
          </p:cNvSpPr>
          <p:nvPr/>
        </p:nvSpPr>
        <p:spPr>
          <a:xfrm flipV="1">
            <a:off x="617079" y="536816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7" name="椭圆 76">
            <a:extLst>
              <a:ext uri="{FF2B5EF4-FFF2-40B4-BE49-F238E27FC236}">
                <ns2:creationId id="{10B6FCD2-7E20-4486-4190-85C6FB83C2C9}"/>
              </a:ext>
            </a:extLst>
          </p:cNvPr>
          <p:cNvSpPr>
            <a:spLocks noGrp="1"/>
          </p:cNvSpPr>
          <p:nvPr/>
        </p:nvSpPr>
        <p:spPr>
          <a:xfrm flipV="1">
            <a:off x="766956" y="536816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8" name="椭圆 77">
            <a:extLst>
              <a:ext uri="{FF2B5EF4-FFF2-40B4-BE49-F238E27FC236}">
                <ns2:creationId id="{AC574729-13A3-9079-4156-613D7459E8E1}"/>
              </a:ext>
            </a:extLst>
          </p:cNvPr>
          <p:cNvSpPr>
            <a:spLocks noGrp="1"/>
          </p:cNvSpPr>
          <p:nvPr/>
        </p:nvSpPr>
        <p:spPr>
          <a:xfrm flipV="1">
            <a:off x="317325" y="399744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79" name="椭圆 78">
            <a:extLst>
              <a:ext uri="{FF2B5EF4-FFF2-40B4-BE49-F238E27FC236}">
                <ns2:creationId id="{AE8D1A68-BE58-3870-4567-FE804330FA7A}"/>
              </a:ext>
            </a:extLst>
          </p:cNvPr>
          <p:cNvSpPr>
            <a:spLocks noGrp="1"/>
          </p:cNvSpPr>
          <p:nvPr/>
        </p:nvSpPr>
        <p:spPr>
          <a:xfrm flipV="1">
            <a:off x="467202" y="399744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0" name="椭圆 79">
            <a:extLst>
              <a:ext uri="{FF2B5EF4-FFF2-40B4-BE49-F238E27FC236}">
                <ns2:creationId id="{8A7201A7-B54B-4291-A968-1F36CC477C4E}"/>
              </a:ext>
            </a:extLst>
          </p:cNvPr>
          <p:cNvSpPr>
            <a:spLocks noGrp="1"/>
          </p:cNvSpPr>
          <p:nvPr/>
        </p:nvSpPr>
        <p:spPr>
          <a:xfrm flipV="1">
            <a:off x="617079" y="399744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1" name="椭圆 80">
            <a:extLst>
              <a:ext uri="{FF2B5EF4-FFF2-40B4-BE49-F238E27FC236}">
                <ns2:creationId id="{0A6827B0-6E4D-C302-BC94-EEDFD999D13E}"/>
              </a:ext>
            </a:extLst>
          </p:cNvPr>
          <p:cNvSpPr>
            <a:spLocks noGrp="1"/>
          </p:cNvSpPr>
          <p:nvPr/>
        </p:nvSpPr>
        <p:spPr>
          <a:xfrm flipV="1">
            <a:off x="766956" y="399744"/>
            <a:ext cx="45719" cy="45719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100000">
                <a:srgbClr val="206DC5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3" name="cover-title"/>
          <p:cNvSpPr/>
          <p:nvPr/>
        </p:nvSpPr>
        <p:spPr>
          <a:xfrm>
            <a:off x="812673" y="1849564"/>
            <a:ext cx="10858500" cy="2352675"/>
          </a:xfrm>
          <a:prstGeom prst="rect">
            <a:avLst/>
          </a:prstGeom>
          <a:noFill/>
          <a:ln>
            <a:noFill/>
          </a:ln>
        </p:spPr>
        <p:txBody>
          <a:bodyPr wrap="none" lIns="0" tIns="604711" rIns="291846" bIns="0" anchor="t" anchorCtr="0">
            <a:noAutofit/>
          </a:bodyPr>
          <a:lstStyle/>
          <a:p>
            <a:pPr algn="ctr"/>
            <a:r>
              <a:rPr lang="zh-CN" sz="54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感谢聆听</a:t>
            </a:r>
          </a:p>
        </p:txBody>
      </p:sp>
      <p:pic>
        <p:nvPicPr>
          <p:cNvPr id="4" name="图片 5">
            <a:extLst>
              <a:ext uri="{FF2B5EF4-FFF2-40B4-BE49-F238E27FC236}">
                <ns2:creationId id="{A2F50BE5-D435-48F6-BD25-118BA8C3AD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9559925" y="125413"/>
            <a:ext cx="2266950" cy="61118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val="3677688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40g5uxb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b40g5uxb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0</ns0:TotalTime>
  <ns0:Words>6548</ns0:Words>
  <ns0:Application>Microsoft Office PowerPoint</ns0:Application>
  <ns0:DocSecurity>0</ns0:DocSecurity>
  <ns0:PresentationFormat>宽屏</ns0:PresentationFormat>
  <ns0:Paragraphs>386</ns0:Paragraphs>
  <ns0:Slides>19</ns0:Slides>
  <ns0:Notes>18</ns0:Notes>
  <ns0:HiddenSlides>0</ns0:HiddenSlides>
  <ns0:MMClips>0</ns0:MMClips>
  <ns0:ScaleCrop>false</ns0:ScaleCrop>
  <ns0:HeadingPairs>
    <ns1:vector size="6" baseType="variant">
      <ns1:variant>
        <ns1:lpstr>已用的字体</ns1:lpstr>
      </ns1:variant>
      <ns1:variant>
        <ns1:i4>2</ns1:i4>
      </ns1:variant>
      <ns1:variant>
        <ns1:lpstr>主题</ns1:lpstr>
      </ns1:variant>
      <ns1:variant>
        <ns1:i4>1</ns1:i4>
      </ns1:variant>
      <ns1:variant>
        <ns1:lpstr>幻灯片标题</ns1:lpstr>
      </ns1:variant>
      <ns1:variant>
        <ns1:i4>18</ns1:i4>
      </ns1:variant>
    </ns1:vector>
  </ns0:HeadingPairs>
  <ns0:TitlesOfParts>
    <ns1:vector size="21" baseType="lpstr">
      <ns1:lpstr>Arial</ns1:lpstr>
      <ns1:lpstr>微软雅黑</ns1:lpstr>
      <ns1:lpstr>Office 主题​​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  <ns1:lpstr>PowerPoint 演示文稿</ns1:lpstr>
    </ns1:vector>
  </ns0:TitlesOfParts>
  <ns0:LinksUpToDate>false</ns0:LinksUpToDate>
  <ns0:SharedDoc>false</ns0:SharedDoc>
  <ns0:HyperlinksChanged>false</ns0:HyperlinksChanged>
  <ns0:AppVersion>16.0000</ns0:AppVersion>
</ns0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刘昱泽 黄</cp:lastModifiedBy>
  <cp:revision>1</cp:revision>
  <dcterms:created xsi:type="dcterms:W3CDTF">2026-10-13T01:23:44Z</dcterms:created>
  <dcterms:modified xsi:type="dcterms:W3CDTF">2026-10-20T12:14:38Z</dcterms:modified>
</cp:coreProperties>
</file>